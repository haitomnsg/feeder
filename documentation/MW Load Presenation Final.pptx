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9" r:id="rId1"/>
  </p:sldMasterIdLst>
  <p:notesMasterIdLst>
    <p:notesMasterId r:id="rId29"/>
  </p:notesMasterIdLst>
  <p:sldIdLst>
    <p:sldId id="256" r:id="rId2"/>
    <p:sldId id="258" r:id="rId3"/>
    <p:sldId id="259" r:id="rId4"/>
    <p:sldId id="308" r:id="rId5"/>
    <p:sldId id="335" r:id="rId6"/>
    <p:sldId id="309" r:id="rId7"/>
    <p:sldId id="337" r:id="rId8"/>
    <p:sldId id="333" r:id="rId9"/>
    <p:sldId id="261" r:id="rId10"/>
    <p:sldId id="310" r:id="rId11"/>
    <p:sldId id="319" r:id="rId12"/>
    <p:sldId id="316" r:id="rId13"/>
    <p:sldId id="340" r:id="rId14"/>
    <p:sldId id="341" r:id="rId15"/>
    <p:sldId id="318" r:id="rId16"/>
    <p:sldId id="321" r:id="rId17"/>
    <p:sldId id="322" r:id="rId18"/>
    <p:sldId id="336" r:id="rId19"/>
    <p:sldId id="323" r:id="rId20"/>
    <p:sldId id="324" r:id="rId21"/>
    <p:sldId id="338" r:id="rId22"/>
    <p:sldId id="325" r:id="rId23"/>
    <p:sldId id="330" r:id="rId24"/>
    <p:sldId id="332" r:id="rId25"/>
    <p:sldId id="339" r:id="rId26"/>
    <p:sldId id="331" r:id="rId27"/>
    <p:sldId id="271" r:id="rId28"/>
  </p:sldIdLst>
  <p:sldSz cx="9144000" cy="5143500" type="screen16x9"/>
  <p:notesSz cx="6858000" cy="9144000"/>
  <p:embeddedFontLst>
    <p:embeddedFont>
      <p:font typeface="Cambria Math" panose="02040503050406030204" pitchFamily="18" charset="0"/>
      <p:regular r:id="rId30"/>
    </p:embeddedFont>
    <p:embeddedFont>
      <p:font typeface="Figtree Black" panose="020B0604020202020204" charset="0"/>
      <p:bold r:id="rId31"/>
      <p:boldItalic r:id="rId32"/>
    </p:embeddedFont>
    <p:embeddedFont>
      <p:font typeface="Hanken Grotesk" panose="020B0604020202020204" charset="0"/>
      <p:regular r:id="rId33"/>
      <p:bold r:id="rId34"/>
      <p:italic r:id="rId35"/>
      <p:boldItalic r:id="rId36"/>
    </p:embeddedFont>
    <p:embeddedFont>
      <p:font typeface="Lato" panose="020F0502020204030203" pitchFamily="34" charset="0"/>
      <p:regular r:id="rId37"/>
      <p:bold r:id="rId38"/>
      <p:italic r:id="rId39"/>
      <p:boldItalic r:id="rId40"/>
    </p:embeddedFont>
    <p:embeddedFont>
      <p:font typeface="Nunito Light" pitchFamily="2" charset="0"/>
      <p:regular r:id="rId41"/>
      <p: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67C124C-4383-4433-BF00-F876295D7A82}">
  <a:tblStyle styleId="{E67C124C-4383-4433-BF00-F876295D7A8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snapToGrid="0">
      <p:cViewPr>
        <p:scale>
          <a:sx n="50" d="100"/>
          <a:sy n="50" d="100"/>
        </p:scale>
        <p:origin x="2410" y="9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768ca7ef4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768ca7ef4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768bdccc6f_2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768bdccc6f_2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6443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17474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ed9256fe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ed9256fe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7948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ed9256fe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3043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42D4C-8EE3-A6AD-C65B-D0A5C91936EF}"/>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C90E6170-FDA2-E36B-152A-4C6382710C01}"/>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5A223DB-3045-E4BD-767C-44FB4FAA9BFA}"/>
              </a:ext>
            </a:extLst>
          </p:cNvPr>
          <p:cNvSpPr>
            <a:spLocks noGrp="1"/>
          </p:cNvSpPr>
          <p:nvPr>
            <p:ph type="dt" sz="half" idx="10"/>
          </p:nvPr>
        </p:nvSpPr>
        <p:spPr/>
        <p:txBody>
          <a:bodyPr/>
          <a:lstStyle/>
          <a:p>
            <a:fld id="{1A90A598-0175-4F4C-B315-95405EC9EDA1}" type="datetimeFigureOut">
              <a:rPr lang="en-US" smtClean="0"/>
              <a:t>12/18/2025</a:t>
            </a:fld>
            <a:endParaRPr lang="en-US"/>
          </a:p>
        </p:txBody>
      </p:sp>
      <p:sp>
        <p:nvSpPr>
          <p:cNvPr id="5" name="Footer Placeholder 4">
            <a:extLst>
              <a:ext uri="{FF2B5EF4-FFF2-40B4-BE49-F238E27FC236}">
                <a16:creationId xmlns:a16="http://schemas.microsoft.com/office/drawing/2014/main" id="{8B45DC75-E4B3-2082-BB2C-B7EE198F17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6D67A1-13C4-9CCC-6EB5-E57F712F890B}"/>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32451367"/>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3A5F3-DE4E-BA6C-5A8E-ADD556B69A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A38B5F-B404-F4DF-8D76-64E55E6F90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BE3024-D6E7-683B-7EBD-FFC670564E5F}"/>
              </a:ext>
            </a:extLst>
          </p:cNvPr>
          <p:cNvSpPr>
            <a:spLocks noGrp="1"/>
          </p:cNvSpPr>
          <p:nvPr>
            <p:ph type="dt" sz="half" idx="10"/>
          </p:nvPr>
        </p:nvSpPr>
        <p:spPr/>
        <p:txBody>
          <a:bodyPr/>
          <a:lstStyle/>
          <a:p>
            <a:fld id="{1A90A598-0175-4F4C-B315-95405EC9EDA1}" type="datetimeFigureOut">
              <a:rPr lang="en-US" smtClean="0"/>
              <a:t>12/18/2025</a:t>
            </a:fld>
            <a:endParaRPr lang="en-US"/>
          </a:p>
        </p:txBody>
      </p:sp>
      <p:sp>
        <p:nvSpPr>
          <p:cNvPr id="5" name="Footer Placeholder 4">
            <a:extLst>
              <a:ext uri="{FF2B5EF4-FFF2-40B4-BE49-F238E27FC236}">
                <a16:creationId xmlns:a16="http://schemas.microsoft.com/office/drawing/2014/main" id="{62A8526E-AAA7-B25C-8AA7-F55B705BB3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29D90A-0FEE-94CC-BA8D-0DD38ED0B5A7}"/>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1253692305"/>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D5512-999C-1C07-9FC3-4DC28B452135}"/>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0538F529-819A-B935-DC4D-1649C62F8EBD}"/>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599BF5-CC82-7875-285F-146DEBAD462C}"/>
              </a:ext>
            </a:extLst>
          </p:cNvPr>
          <p:cNvSpPr>
            <a:spLocks noGrp="1"/>
          </p:cNvSpPr>
          <p:nvPr>
            <p:ph type="dt" sz="half" idx="10"/>
          </p:nvPr>
        </p:nvSpPr>
        <p:spPr/>
        <p:txBody>
          <a:bodyPr/>
          <a:lstStyle/>
          <a:p>
            <a:fld id="{1A90A598-0175-4F4C-B315-95405EC9EDA1}" type="datetimeFigureOut">
              <a:rPr lang="en-US" smtClean="0"/>
              <a:t>12/18/2025</a:t>
            </a:fld>
            <a:endParaRPr lang="en-US"/>
          </a:p>
        </p:txBody>
      </p:sp>
      <p:sp>
        <p:nvSpPr>
          <p:cNvPr id="5" name="Footer Placeholder 4">
            <a:extLst>
              <a:ext uri="{FF2B5EF4-FFF2-40B4-BE49-F238E27FC236}">
                <a16:creationId xmlns:a16="http://schemas.microsoft.com/office/drawing/2014/main" id="{5752D0DF-4554-4457-12DE-B61FFA6DA7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BFD5EF-39F9-FE0D-6C6D-A46D98A4F49E}"/>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3547901571"/>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DF2B4-CAFF-AE39-BA0F-AA1739F1F1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59DF2E-B626-3F10-4AEC-9445221743F8}"/>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D31370-0CFE-A2FC-FB1E-47D8D3D4AD33}"/>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EF9FFD-19DF-1DB5-E39C-F67D0DEC7ED4}"/>
              </a:ext>
            </a:extLst>
          </p:cNvPr>
          <p:cNvSpPr>
            <a:spLocks noGrp="1"/>
          </p:cNvSpPr>
          <p:nvPr>
            <p:ph type="dt" sz="half" idx="10"/>
          </p:nvPr>
        </p:nvSpPr>
        <p:spPr/>
        <p:txBody>
          <a:bodyPr/>
          <a:lstStyle/>
          <a:p>
            <a:fld id="{1A90A598-0175-4F4C-B315-95405EC9EDA1}" type="datetimeFigureOut">
              <a:rPr lang="en-US" smtClean="0"/>
              <a:t>12/18/2025</a:t>
            </a:fld>
            <a:endParaRPr lang="en-US"/>
          </a:p>
        </p:txBody>
      </p:sp>
      <p:sp>
        <p:nvSpPr>
          <p:cNvPr id="6" name="Footer Placeholder 5">
            <a:extLst>
              <a:ext uri="{FF2B5EF4-FFF2-40B4-BE49-F238E27FC236}">
                <a16:creationId xmlns:a16="http://schemas.microsoft.com/office/drawing/2014/main" id="{29D3006B-FAC3-D0E5-E8B4-2EA128C0CE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CE07AE-24F8-D81F-7E71-44B4D6A3D231}"/>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394825758"/>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5AE63-D470-49A6-2F08-82E2EAFF1E66}"/>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0F0700-5E8D-4C58-D59C-0470A7DE580F}"/>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819F389-204E-F76C-1334-3E496D07C6B9}"/>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A30ACF-F07E-0391-93ED-2E4B836BD90A}"/>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114D5C9-8654-A4E6-026D-2CB64A940B02}"/>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9D903C-5275-1624-4F9A-42E8D201847D}"/>
              </a:ext>
            </a:extLst>
          </p:cNvPr>
          <p:cNvSpPr>
            <a:spLocks noGrp="1"/>
          </p:cNvSpPr>
          <p:nvPr>
            <p:ph type="dt" sz="half" idx="10"/>
          </p:nvPr>
        </p:nvSpPr>
        <p:spPr/>
        <p:txBody>
          <a:bodyPr/>
          <a:lstStyle/>
          <a:p>
            <a:fld id="{1A90A598-0175-4F4C-B315-95405EC9EDA1}" type="datetimeFigureOut">
              <a:rPr lang="en-US" smtClean="0"/>
              <a:t>12/18/2025</a:t>
            </a:fld>
            <a:endParaRPr lang="en-US"/>
          </a:p>
        </p:txBody>
      </p:sp>
      <p:sp>
        <p:nvSpPr>
          <p:cNvPr id="8" name="Footer Placeholder 7">
            <a:extLst>
              <a:ext uri="{FF2B5EF4-FFF2-40B4-BE49-F238E27FC236}">
                <a16:creationId xmlns:a16="http://schemas.microsoft.com/office/drawing/2014/main" id="{C5FD18CC-27E2-AA72-E42D-8EBA25278A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4EC9D5-6B47-43EB-DF86-3A52FF3C2146}"/>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3526599390"/>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81796-2814-6C47-5104-9809299593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C6620A-10B4-98FC-C3F6-1FEBF43B4444}"/>
              </a:ext>
            </a:extLst>
          </p:cNvPr>
          <p:cNvSpPr>
            <a:spLocks noGrp="1"/>
          </p:cNvSpPr>
          <p:nvPr>
            <p:ph type="dt" sz="half" idx="10"/>
          </p:nvPr>
        </p:nvSpPr>
        <p:spPr/>
        <p:txBody>
          <a:bodyPr/>
          <a:lstStyle/>
          <a:p>
            <a:fld id="{1A90A598-0175-4F4C-B315-95405EC9EDA1}" type="datetimeFigureOut">
              <a:rPr lang="en-US" smtClean="0"/>
              <a:t>12/18/2025</a:t>
            </a:fld>
            <a:endParaRPr lang="en-US"/>
          </a:p>
        </p:txBody>
      </p:sp>
      <p:sp>
        <p:nvSpPr>
          <p:cNvPr id="4" name="Footer Placeholder 3">
            <a:extLst>
              <a:ext uri="{FF2B5EF4-FFF2-40B4-BE49-F238E27FC236}">
                <a16:creationId xmlns:a16="http://schemas.microsoft.com/office/drawing/2014/main" id="{2E44CA1A-B67D-DCA1-D3B4-B32849F492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CF95B9-0BB5-B726-02DF-77B335445541}"/>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3329902304"/>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B7C6EB-A8AF-D16D-3CB8-74672C7334B9}"/>
              </a:ext>
            </a:extLst>
          </p:cNvPr>
          <p:cNvSpPr>
            <a:spLocks noGrp="1"/>
          </p:cNvSpPr>
          <p:nvPr>
            <p:ph type="dt" sz="half" idx="10"/>
          </p:nvPr>
        </p:nvSpPr>
        <p:spPr/>
        <p:txBody>
          <a:bodyPr/>
          <a:lstStyle/>
          <a:p>
            <a:fld id="{1A90A598-0175-4F4C-B315-95405EC9EDA1}" type="datetimeFigureOut">
              <a:rPr lang="en-US" smtClean="0"/>
              <a:t>12/18/2025</a:t>
            </a:fld>
            <a:endParaRPr lang="en-US"/>
          </a:p>
        </p:txBody>
      </p:sp>
      <p:sp>
        <p:nvSpPr>
          <p:cNvPr id="3" name="Footer Placeholder 2">
            <a:extLst>
              <a:ext uri="{FF2B5EF4-FFF2-40B4-BE49-F238E27FC236}">
                <a16:creationId xmlns:a16="http://schemas.microsoft.com/office/drawing/2014/main" id="{2ED1DC6D-7424-BB0C-C1E0-5AE16D571A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A00B01-E4B7-6A35-9BE1-D70D758EA647}"/>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2184705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1C76F-3534-1887-9759-C76DCFE0357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C01F0F21-B3D2-B467-E1F5-9EF430A596CC}"/>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5989D4-8885-B203-E942-5D9802AD777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CE943CD-B7CD-D1CB-27D0-55278A6E8BDB}"/>
              </a:ext>
            </a:extLst>
          </p:cNvPr>
          <p:cNvSpPr>
            <a:spLocks noGrp="1"/>
          </p:cNvSpPr>
          <p:nvPr>
            <p:ph type="dt" sz="half" idx="10"/>
          </p:nvPr>
        </p:nvSpPr>
        <p:spPr/>
        <p:txBody>
          <a:bodyPr/>
          <a:lstStyle/>
          <a:p>
            <a:fld id="{1A90A598-0175-4F4C-B315-95405EC9EDA1}" type="datetimeFigureOut">
              <a:rPr lang="en-US" smtClean="0"/>
              <a:t>12/18/2025</a:t>
            </a:fld>
            <a:endParaRPr lang="en-US"/>
          </a:p>
        </p:txBody>
      </p:sp>
      <p:sp>
        <p:nvSpPr>
          <p:cNvPr id="6" name="Footer Placeholder 5">
            <a:extLst>
              <a:ext uri="{FF2B5EF4-FFF2-40B4-BE49-F238E27FC236}">
                <a16:creationId xmlns:a16="http://schemas.microsoft.com/office/drawing/2014/main" id="{2C1DFCD3-EC09-F41B-E689-01AF331597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A84C7D-C741-5817-CED4-F1D556DE156E}"/>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2164557841"/>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733B7-DFB6-5C6E-E93C-1485B74AAA97}"/>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F1F494B0-8F93-A15F-FBA4-CC4A5707871D}"/>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3873FAB-565C-D2B9-9E6F-304391240FAA}"/>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17F11F2-EBC6-7634-AFEB-EFFF06C0E682}"/>
              </a:ext>
            </a:extLst>
          </p:cNvPr>
          <p:cNvSpPr>
            <a:spLocks noGrp="1"/>
          </p:cNvSpPr>
          <p:nvPr>
            <p:ph type="dt" sz="half" idx="10"/>
          </p:nvPr>
        </p:nvSpPr>
        <p:spPr/>
        <p:txBody>
          <a:bodyPr/>
          <a:lstStyle/>
          <a:p>
            <a:fld id="{1A90A598-0175-4F4C-B315-95405EC9EDA1}" type="datetimeFigureOut">
              <a:rPr lang="en-US" smtClean="0"/>
              <a:t>12/18/2025</a:t>
            </a:fld>
            <a:endParaRPr lang="en-US"/>
          </a:p>
        </p:txBody>
      </p:sp>
      <p:sp>
        <p:nvSpPr>
          <p:cNvPr id="6" name="Footer Placeholder 5">
            <a:extLst>
              <a:ext uri="{FF2B5EF4-FFF2-40B4-BE49-F238E27FC236}">
                <a16:creationId xmlns:a16="http://schemas.microsoft.com/office/drawing/2014/main" id="{74BC3A7B-0A27-A080-CEFA-85CAEF6751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17DAE9-6A7A-1A35-0E68-40747F279531}"/>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3220928044"/>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C03B3-18D8-F28B-AD9D-3BBA0F9C53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5B9052-630D-A4A9-CEA0-C8F1AF052D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970DAF-741A-7664-279A-331C15A4CC5F}"/>
              </a:ext>
            </a:extLst>
          </p:cNvPr>
          <p:cNvSpPr>
            <a:spLocks noGrp="1"/>
          </p:cNvSpPr>
          <p:nvPr>
            <p:ph type="dt" sz="half" idx="10"/>
          </p:nvPr>
        </p:nvSpPr>
        <p:spPr/>
        <p:txBody>
          <a:bodyPr/>
          <a:lstStyle/>
          <a:p>
            <a:fld id="{1A90A598-0175-4F4C-B315-95405EC9EDA1}" type="datetimeFigureOut">
              <a:rPr lang="en-US" smtClean="0"/>
              <a:t>12/18/2025</a:t>
            </a:fld>
            <a:endParaRPr lang="en-US"/>
          </a:p>
        </p:txBody>
      </p:sp>
      <p:sp>
        <p:nvSpPr>
          <p:cNvPr id="5" name="Footer Placeholder 4">
            <a:extLst>
              <a:ext uri="{FF2B5EF4-FFF2-40B4-BE49-F238E27FC236}">
                <a16:creationId xmlns:a16="http://schemas.microsoft.com/office/drawing/2014/main" id="{84EEB1CE-8201-DF79-1AF3-E532F9692C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1CBAB4-805A-906F-639E-396A6CBEC8EB}"/>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2546306365"/>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7B2EF3-016C-B681-1A3C-19DD50424914}"/>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67FB8B-52D3-7A34-0D4D-0C6EDE51390F}"/>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6182FE-1BF4-334F-54CC-996C2DF739CD}"/>
              </a:ext>
            </a:extLst>
          </p:cNvPr>
          <p:cNvSpPr>
            <a:spLocks noGrp="1"/>
          </p:cNvSpPr>
          <p:nvPr>
            <p:ph type="dt" sz="half" idx="10"/>
          </p:nvPr>
        </p:nvSpPr>
        <p:spPr/>
        <p:txBody>
          <a:bodyPr/>
          <a:lstStyle/>
          <a:p>
            <a:fld id="{1A90A598-0175-4F4C-B315-95405EC9EDA1}" type="datetimeFigureOut">
              <a:rPr lang="en-US" smtClean="0"/>
              <a:t>12/18/2025</a:t>
            </a:fld>
            <a:endParaRPr lang="en-US"/>
          </a:p>
        </p:txBody>
      </p:sp>
      <p:sp>
        <p:nvSpPr>
          <p:cNvPr id="5" name="Footer Placeholder 4">
            <a:extLst>
              <a:ext uri="{FF2B5EF4-FFF2-40B4-BE49-F238E27FC236}">
                <a16:creationId xmlns:a16="http://schemas.microsoft.com/office/drawing/2014/main" id="{B5AC9995-7F4A-B827-29B9-6406C2F6C7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7A8DB9-6BE0-4330-16A9-4F1BDD98C488}"/>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4222180054"/>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88"/>
        <p:cNvGrpSpPr/>
        <p:nvPr/>
      </p:nvGrpSpPr>
      <p:grpSpPr>
        <a:xfrm>
          <a:off x="0" y="0"/>
          <a:ext cx="0" cy="0"/>
          <a:chOff x="0" y="0"/>
          <a:chExt cx="0" cy="0"/>
        </a:xfrm>
      </p:grpSpPr>
      <p:sp>
        <p:nvSpPr>
          <p:cNvPr id="94" name="Google Shape;94;p13"/>
          <p:cNvSpPr txBox="1">
            <a:spLocks noGrp="1"/>
          </p:cNvSpPr>
          <p:nvPr>
            <p:ph type="title"/>
          </p:nvPr>
        </p:nvSpPr>
        <p:spPr>
          <a:xfrm>
            <a:off x="6632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5" name="Google Shape;95;p13"/>
          <p:cNvSpPr txBox="1">
            <a:spLocks noGrp="1"/>
          </p:cNvSpPr>
          <p:nvPr>
            <p:ph type="subTitle" idx="1"/>
          </p:nvPr>
        </p:nvSpPr>
        <p:spPr>
          <a:xfrm>
            <a:off x="788675"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6" name="Google Shape;96;p13"/>
          <p:cNvSpPr txBox="1">
            <a:spLocks noGrp="1"/>
          </p:cNvSpPr>
          <p:nvPr>
            <p:ph type="subTitle" idx="2"/>
          </p:nvPr>
        </p:nvSpPr>
        <p:spPr>
          <a:xfrm>
            <a:off x="788675"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7" name="Google Shape;97;p13"/>
          <p:cNvSpPr txBox="1">
            <a:spLocks noGrp="1"/>
          </p:cNvSpPr>
          <p:nvPr>
            <p:ph type="subTitle" idx="3"/>
          </p:nvPr>
        </p:nvSpPr>
        <p:spPr>
          <a:xfrm>
            <a:off x="3418500"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8" name="Google Shape;98;p13"/>
          <p:cNvSpPr txBox="1">
            <a:spLocks noGrp="1"/>
          </p:cNvSpPr>
          <p:nvPr>
            <p:ph type="subTitle" idx="4"/>
          </p:nvPr>
        </p:nvSpPr>
        <p:spPr>
          <a:xfrm>
            <a:off x="3418500"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9" name="Google Shape;99;p13"/>
          <p:cNvSpPr txBox="1">
            <a:spLocks noGrp="1"/>
          </p:cNvSpPr>
          <p:nvPr>
            <p:ph type="title" idx="5" hasCustomPrompt="1"/>
          </p:nvPr>
        </p:nvSpPr>
        <p:spPr>
          <a:xfrm>
            <a:off x="9195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0" name="Google Shape;100;p13"/>
          <p:cNvSpPr txBox="1">
            <a:spLocks noGrp="1"/>
          </p:cNvSpPr>
          <p:nvPr>
            <p:ph type="title" idx="6" hasCustomPrompt="1"/>
          </p:nvPr>
        </p:nvSpPr>
        <p:spPr>
          <a:xfrm>
            <a:off x="3509050"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1" name="Google Shape;101;p13"/>
          <p:cNvSpPr txBox="1">
            <a:spLocks noGrp="1"/>
          </p:cNvSpPr>
          <p:nvPr>
            <p:ph type="title" idx="7" hasCustomPrompt="1"/>
          </p:nvPr>
        </p:nvSpPr>
        <p:spPr>
          <a:xfrm>
            <a:off x="919575"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2" name="Google Shape;102;p13"/>
          <p:cNvSpPr txBox="1">
            <a:spLocks noGrp="1"/>
          </p:cNvSpPr>
          <p:nvPr>
            <p:ph type="title" idx="8" hasCustomPrompt="1"/>
          </p:nvPr>
        </p:nvSpPr>
        <p:spPr>
          <a:xfrm>
            <a:off x="35282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3"/>
          <p:cNvSpPr txBox="1">
            <a:spLocks noGrp="1"/>
          </p:cNvSpPr>
          <p:nvPr>
            <p:ph type="subTitle" idx="9"/>
          </p:nvPr>
        </p:nvSpPr>
        <p:spPr>
          <a:xfrm>
            <a:off x="6048325"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4" name="Google Shape;104;p13"/>
          <p:cNvSpPr txBox="1">
            <a:spLocks noGrp="1"/>
          </p:cNvSpPr>
          <p:nvPr>
            <p:ph type="subTitle" idx="13"/>
          </p:nvPr>
        </p:nvSpPr>
        <p:spPr>
          <a:xfrm>
            <a:off x="6048325"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5" name="Google Shape;105;p13"/>
          <p:cNvSpPr txBox="1">
            <a:spLocks noGrp="1"/>
          </p:cNvSpPr>
          <p:nvPr>
            <p:ph type="title" idx="14" hasCustomPrompt="1"/>
          </p:nvPr>
        </p:nvSpPr>
        <p:spPr>
          <a:xfrm>
            <a:off x="6136975"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a:spLocks noGrp="1"/>
          </p:cNvSpPr>
          <p:nvPr>
            <p:ph type="title" idx="15" hasCustomPrompt="1"/>
          </p:nvPr>
        </p:nvSpPr>
        <p:spPr>
          <a:xfrm>
            <a:off x="61369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a:spLocks noGrp="1"/>
          </p:cNvSpPr>
          <p:nvPr>
            <p:ph type="subTitle" idx="16"/>
          </p:nvPr>
        </p:nvSpPr>
        <p:spPr>
          <a:xfrm>
            <a:off x="788675"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08" name="Google Shape;108;p13"/>
          <p:cNvSpPr txBox="1">
            <a:spLocks noGrp="1"/>
          </p:cNvSpPr>
          <p:nvPr>
            <p:ph type="subTitle" idx="17"/>
          </p:nvPr>
        </p:nvSpPr>
        <p:spPr>
          <a:xfrm>
            <a:off x="788675"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09" name="Google Shape;109;p13"/>
          <p:cNvSpPr txBox="1">
            <a:spLocks noGrp="1"/>
          </p:cNvSpPr>
          <p:nvPr>
            <p:ph type="subTitle" idx="18"/>
          </p:nvPr>
        </p:nvSpPr>
        <p:spPr>
          <a:xfrm>
            <a:off x="3418500"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0" name="Google Shape;110;p13"/>
          <p:cNvSpPr txBox="1">
            <a:spLocks noGrp="1"/>
          </p:cNvSpPr>
          <p:nvPr>
            <p:ph type="subTitle" idx="19"/>
          </p:nvPr>
        </p:nvSpPr>
        <p:spPr>
          <a:xfrm>
            <a:off x="3418500"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1" name="Google Shape;111;p13"/>
          <p:cNvSpPr txBox="1">
            <a:spLocks noGrp="1"/>
          </p:cNvSpPr>
          <p:nvPr>
            <p:ph type="subTitle" idx="20"/>
          </p:nvPr>
        </p:nvSpPr>
        <p:spPr>
          <a:xfrm>
            <a:off x="6048325"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2" name="Google Shape;112;p13"/>
          <p:cNvSpPr txBox="1">
            <a:spLocks noGrp="1"/>
          </p:cNvSpPr>
          <p:nvPr>
            <p:ph type="subTitle" idx="21"/>
          </p:nvPr>
        </p:nvSpPr>
        <p:spPr>
          <a:xfrm>
            <a:off x="6048325"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extLst>
      <p:ext uri="{BB962C8B-B14F-4D97-AF65-F5344CB8AC3E}">
        <p14:creationId xmlns:p14="http://schemas.microsoft.com/office/powerpoint/2010/main" val="3209941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6"/>
        <p:cNvGrpSpPr/>
        <p:nvPr/>
      </p:nvGrpSpPr>
      <p:grpSpPr>
        <a:xfrm>
          <a:off x="0" y="0"/>
          <a:ext cx="0" cy="0"/>
          <a:chOff x="0" y="0"/>
          <a:chExt cx="0" cy="0"/>
        </a:xfrm>
      </p:grpSpPr>
      <p:sp>
        <p:nvSpPr>
          <p:cNvPr id="22" name="Google Shape;22;p3"/>
          <p:cNvSpPr txBox="1">
            <a:spLocks noGrp="1"/>
          </p:cNvSpPr>
          <p:nvPr>
            <p:ph type="title"/>
          </p:nvPr>
        </p:nvSpPr>
        <p:spPr>
          <a:xfrm>
            <a:off x="1216475" y="1977150"/>
            <a:ext cx="5067600" cy="8418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 name="Google Shape;23;p3"/>
          <p:cNvSpPr txBox="1">
            <a:spLocks noGrp="1"/>
          </p:cNvSpPr>
          <p:nvPr>
            <p:ph type="title" idx="2" hasCustomPrompt="1"/>
          </p:nvPr>
        </p:nvSpPr>
        <p:spPr>
          <a:xfrm>
            <a:off x="720000" y="533550"/>
            <a:ext cx="824400" cy="7050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6000"/>
              <a:buNone/>
              <a:defRPr sz="33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4" name="Google Shape;24;p3"/>
          <p:cNvSpPr txBox="1">
            <a:spLocks noGrp="1"/>
          </p:cNvSpPr>
          <p:nvPr>
            <p:ph type="subTitle" idx="1"/>
          </p:nvPr>
        </p:nvSpPr>
        <p:spPr>
          <a:xfrm>
            <a:off x="1216475" y="2730750"/>
            <a:ext cx="5067600" cy="43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latin typeface="Hanken Grotesk"/>
                <a:ea typeface="Hanken Grotesk"/>
                <a:cs typeface="Hanken Grotesk"/>
                <a:sym typeface="Hanken Grotesk"/>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Tree>
    <p:extLst>
      <p:ext uri="{BB962C8B-B14F-4D97-AF65-F5344CB8AC3E}">
        <p14:creationId xmlns:p14="http://schemas.microsoft.com/office/powerpoint/2010/main" val="26266465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13"/>
        <p:cNvGrpSpPr/>
        <p:nvPr/>
      </p:nvGrpSpPr>
      <p:grpSpPr>
        <a:xfrm>
          <a:off x="0" y="0"/>
          <a:ext cx="0" cy="0"/>
          <a:chOff x="0" y="0"/>
          <a:chExt cx="0" cy="0"/>
        </a:xfrm>
      </p:grpSpPr>
      <p:sp>
        <p:nvSpPr>
          <p:cNvPr id="119" name="Google Shape;119;p14"/>
          <p:cNvSpPr txBox="1">
            <a:spLocks noGrp="1"/>
          </p:cNvSpPr>
          <p:nvPr>
            <p:ph type="title"/>
          </p:nvPr>
        </p:nvSpPr>
        <p:spPr>
          <a:xfrm>
            <a:off x="2212125" y="2464650"/>
            <a:ext cx="5913900" cy="5319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sz="28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20" name="Google Shape;120;p14"/>
          <p:cNvSpPr txBox="1">
            <a:spLocks noGrp="1"/>
          </p:cNvSpPr>
          <p:nvPr>
            <p:ph type="subTitle" idx="1"/>
          </p:nvPr>
        </p:nvSpPr>
        <p:spPr>
          <a:xfrm>
            <a:off x="2212125" y="838350"/>
            <a:ext cx="5913900" cy="1626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2500">
                <a:latin typeface="Hanken Grotesk"/>
                <a:ea typeface="Hanken Grotesk"/>
                <a:cs typeface="Hanken Grotesk"/>
                <a:sym typeface="Hanken Grotesk"/>
              </a:defRPr>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extLst>
      <p:ext uri="{BB962C8B-B14F-4D97-AF65-F5344CB8AC3E}">
        <p14:creationId xmlns:p14="http://schemas.microsoft.com/office/powerpoint/2010/main" val="10837388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66"/>
        <p:cNvGrpSpPr/>
        <p:nvPr/>
      </p:nvGrpSpPr>
      <p:grpSpPr>
        <a:xfrm>
          <a:off x="0" y="0"/>
          <a:ext cx="0" cy="0"/>
          <a:chOff x="0" y="0"/>
          <a:chExt cx="0" cy="0"/>
        </a:xfrm>
      </p:grpSpPr>
      <p:sp>
        <p:nvSpPr>
          <p:cNvPr id="176" name="Google Shape;176;p20"/>
          <p:cNvSpPr txBox="1">
            <a:spLocks noGrp="1"/>
          </p:cNvSpPr>
          <p:nvPr>
            <p:ph type="title"/>
          </p:nvPr>
        </p:nvSpPr>
        <p:spPr>
          <a:xfrm>
            <a:off x="713225"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7" name="Google Shape;177;p20"/>
          <p:cNvSpPr txBox="1">
            <a:spLocks noGrp="1"/>
          </p:cNvSpPr>
          <p:nvPr>
            <p:ph type="subTitle" idx="1"/>
          </p:nvPr>
        </p:nvSpPr>
        <p:spPr>
          <a:xfrm>
            <a:off x="1731050" y="1640570"/>
            <a:ext cx="6613200" cy="530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78" name="Google Shape;178;p20"/>
          <p:cNvSpPr txBox="1">
            <a:spLocks noGrp="1"/>
          </p:cNvSpPr>
          <p:nvPr>
            <p:ph type="subTitle" idx="2"/>
          </p:nvPr>
        </p:nvSpPr>
        <p:spPr>
          <a:xfrm>
            <a:off x="1731050" y="2800360"/>
            <a:ext cx="66132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79" name="Google Shape;179;p20"/>
          <p:cNvSpPr txBox="1">
            <a:spLocks noGrp="1"/>
          </p:cNvSpPr>
          <p:nvPr>
            <p:ph type="subTitle" idx="3"/>
          </p:nvPr>
        </p:nvSpPr>
        <p:spPr>
          <a:xfrm>
            <a:off x="1731050" y="3957450"/>
            <a:ext cx="66132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80" name="Google Shape;180;p20"/>
          <p:cNvSpPr txBox="1">
            <a:spLocks noGrp="1"/>
          </p:cNvSpPr>
          <p:nvPr>
            <p:ph type="subTitle" idx="4"/>
          </p:nvPr>
        </p:nvSpPr>
        <p:spPr>
          <a:xfrm>
            <a:off x="1731050" y="1241275"/>
            <a:ext cx="6613200" cy="5304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81" name="Google Shape;181;p20"/>
          <p:cNvSpPr txBox="1">
            <a:spLocks noGrp="1"/>
          </p:cNvSpPr>
          <p:nvPr>
            <p:ph type="subTitle" idx="5"/>
          </p:nvPr>
        </p:nvSpPr>
        <p:spPr>
          <a:xfrm>
            <a:off x="1731050" y="2395400"/>
            <a:ext cx="6613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82" name="Google Shape;182;p20"/>
          <p:cNvSpPr txBox="1">
            <a:spLocks noGrp="1"/>
          </p:cNvSpPr>
          <p:nvPr>
            <p:ph type="subTitle" idx="6"/>
          </p:nvPr>
        </p:nvSpPr>
        <p:spPr>
          <a:xfrm>
            <a:off x="1731050" y="3546826"/>
            <a:ext cx="6613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extLst>
      <p:ext uri="{BB962C8B-B14F-4D97-AF65-F5344CB8AC3E}">
        <p14:creationId xmlns:p14="http://schemas.microsoft.com/office/powerpoint/2010/main" val="11732337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37"/>
        <p:cNvGrpSpPr/>
        <p:nvPr/>
      </p:nvGrpSpPr>
      <p:grpSpPr>
        <a:xfrm>
          <a:off x="0" y="0"/>
          <a:ext cx="0" cy="0"/>
          <a:chOff x="0" y="0"/>
          <a:chExt cx="0" cy="0"/>
        </a:xfrm>
      </p:grpSpPr>
      <p:sp>
        <p:nvSpPr>
          <p:cNvPr id="143" name="Google Shape;143;p17"/>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2800"/>
            </a:lvl1pPr>
            <a:lvl2pPr lvl="1">
              <a:spcBef>
                <a:spcPts val="0"/>
              </a:spcBef>
              <a:spcAft>
                <a:spcPts val="0"/>
              </a:spcAft>
              <a:buSzPts val="3000"/>
              <a:buNone/>
              <a:defRPr>
                <a:latin typeface="Lato"/>
                <a:ea typeface="Lato"/>
                <a:cs typeface="Lato"/>
                <a:sym typeface="Lato"/>
              </a:defRPr>
            </a:lvl2pPr>
            <a:lvl3pPr lvl="2">
              <a:spcBef>
                <a:spcPts val="0"/>
              </a:spcBef>
              <a:spcAft>
                <a:spcPts val="0"/>
              </a:spcAft>
              <a:buSzPts val="3000"/>
              <a:buNone/>
              <a:defRPr>
                <a:latin typeface="Lato"/>
                <a:ea typeface="Lato"/>
                <a:cs typeface="Lato"/>
                <a:sym typeface="Lato"/>
              </a:defRPr>
            </a:lvl3pPr>
            <a:lvl4pPr lvl="3">
              <a:spcBef>
                <a:spcPts val="0"/>
              </a:spcBef>
              <a:spcAft>
                <a:spcPts val="0"/>
              </a:spcAft>
              <a:buSzPts val="3000"/>
              <a:buNone/>
              <a:defRPr>
                <a:latin typeface="Lato"/>
                <a:ea typeface="Lato"/>
                <a:cs typeface="Lato"/>
                <a:sym typeface="Lato"/>
              </a:defRPr>
            </a:lvl4pPr>
            <a:lvl5pPr lvl="4">
              <a:spcBef>
                <a:spcPts val="0"/>
              </a:spcBef>
              <a:spcAft>
                <a:spcPts val="0"/>
              </a:spcAft>
              <a:buSzPts val="3000"/>
              <a:buNone/>
              <a:defRPr>
                <a:latin typeface="Lato"/>
                <a:ea typeface="Lato"/>
                <a:cs typeface="Lato"/>
                <a:sym typeface="Lato"/>
              </a:defRPr>
            </a:lvl5pPr>
            <a:lvl6pPr lvl="5">
              <a:spcBef>
                <a:spcPts val="0"/>
              </a:spcBef>
              <a:spcAft>
                <a:spcPts val="0"/>
              </a:spcAft>
              <a:buSzPts val="3000"/>
              <a:buNone/>
              <a:defRPr>
                <a:latin typeface="Lato"/>
                <a:ea typeface="Lato"/>
                <a:cs typeface="Lato"/>
                <a:sym typeface="Lato"/>
              </a:defRPr>
            </a:lvl6pPr>
            <a:lvl7pPr lvl="6">
              <a:spcBef>
                <a:spcPts val="0"/>
              </a:spcBef>
              <a:spcAft>
                <a:spcPts val="0"/>
              </a:spcAft>
              <a:buSzPts val="3000"/>
              <a:buNone/>
              <a:defRPr>
                <a:latin typeface="Lato"/>
                <a:ea typeface="Lato"/>
                <a:cs typeface="Lato"/>
                <a:sym typeface="Lato"/>
              </a:defRPr>
            </a:lvl7pPr>
            <a:lvl8pPr lvl="7">
              <a:spcBef>
                <a:spcPts val="0"/>
              </a:spcBef>
              <a:spcAft>
                <a:spcPts val="0"/>
              </a:spcAft>
              <a:buSzPts val="3000"/>
              <a:buNone/>
              <a:defRPr>
                <a:latin typeface="Lato"/>
                <a:ea typeface="Lato"/>
                <a:cs typeface="Lato"/>
                <a:sym typeface="Lato"/>
              </a:defRPr>
            </a:lvl8pPr>
            <a:lvl9pPr lvl="8">
              <a:spcBef>
                <a:spcPts val="0"/>
              </a:spcBef>
              <a:spcAft>
                <a:spcPts val="0"/>
              </a:spcAft>
              <a:buSzPts val="3000"/>
              <a:buNone/>
              <a:defRPr>
                <a:latin typeface="Lato"/>
                <a:ea typeface="Lato"/>
                <a:cs typeface="Lato"/>
                <a:sym typeface="Lato"/>
              </a:defRPr>
            </a:lvl9pPr>
          </a:lstStyle>
          <a:p>
            <a:endParaRPr/>
          </a:p>
        </p:txBody>
      </p:sp>
      <p:sp>
        <p:nvSpPr>
          <p:cNvPr id="144" name="Google Shape;144;p17"/>
          <p:cNvSpPr txBox="1">
            <a:spLocks noGrp="1"/>
          </p:cNvSpPr>
          <p:nvPr>
            <p:ph type="subTitle" idx="1"/>
          </p:nvPr>
        </p:nvSpPr>
        <p:spPr>
          <a:xfrm>
            <a:off x="713250" y="1017725"/>
            <a:ext cx="7717500" cy="889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Char char="●"/>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Tree>
    <p:extLst>
      <p:ext uri="{BB962C8B-B14F-4D97-AF65-F5344CB8AC3E}">
        <p14:creationId xmlns:p14="http://schemas.microsoft.com/office/powerpoint/2010/main" val="3637297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3"/>
        <p:cNvGrpSpPr/>
        <p:nvPr/>
      </p:nvGrpSpPr>
      <p:grpSpPr>
        <a:xfrm>
          <a:off x="0" y="0"/>
          <a:ext cx="0" cy="0"/>
          <a:chOff x="0" y="0"/>
          <a:chExt cx="0" cy="0"/>
        </a:xfrm>
      </p:grpSpPr>
      <p:sp>
        <p:nvSpPr>
          <p:cNvPr id="39" name="Google Shape;39;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0" name="Google Shape;40;p5"/>
          <p:cNvSpPr txBox="1">
            <a:spLocks noGrp="1"/>
          </p:cNvSpPr>
          <p:nvPr>
            <p:ph type="subTitle" idx="1"/>
          </p:nvPr>
        </p:nvSpPr>
        <p:spPr>
          <a:xfrm>
            <a:off x="4651268" y="1736553"/>
            <a:ext cx="3772800" cy="27363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200"/>
              <a:buChar char="●"/>
              <a:defRPr sz="1400">
                <a:latin typeface="Hanken Grotesk"/>
                <a:ea typeface="Hanken Grotesk"/>
                <a:cs typeface="Hanken Grotesk"/>
                <a:sym typeface="Hanken Grotesk"/>
              </a:defRPr>
            </a:lvl1pPr>
            <a:lvl2pPr lvl="1" algn="ctr" rtl="0">
              <a:lnSpc>
                <a:spcPct val="115000"/>
              </a:lnSpc>
              <a:spcBef>
                <a:spcPts val="0"/>
              </a:spcBef>
              <a:spcAft>
                <a:spcPts val="0"/>
              </a:spcAft>
              <a:buSzPts val="2800"/>
              <a:buChar char="○"/>
              <a:defRPr sz="2800"/>
            </a:lvl2pPr>
            <a:lvl3pPr lvl="2" algn="ctr" rtl="0">
              <a:lnSpc>
                <a:spcPct val="115000"/>
              </a:lnSpc>
              <a:spcBef>
                <a:spcPts val="0"/>
              </a:spcBef>
              <a:spcAft>
                <a:spcPts val="0"/>
              </a:spcAft>
              <a:buSzPts val="2800"/>
              <a:buChar char="■"/>
              <a:defRPr sz="2800"/>
            </a:lvl3pPr>
            <a:lvl4pPr lvl="3" algn="ctr" rtl="0">
              <a:lnSpc>
                <a:spcPct val="115000"/>
              </a:lnSpc>
              <a:spcBef>
                <a:spcPts val="0"/>
              </a:spcBef>
              <a:spcAft>
                <a:spcPts val="0"/>
              </a:spcAft>
              <a:buSzPts val="2800"/>
              <a:buChar char="●"/>
              <a:defRPr sz="2800"/>
            </a:lvl4pPr>
            <a:lvl5pPr lvl="4" algn="ctr" rtl="0">
              <a:lnSpc>
                <a:spcPct val="115000"/>
              </a:lnSpc>
              <a:spcBef>
                <a:spcPts val="0"/>
              </a:spcBef>
              <a:spcAft>
                <a:spcPts val="0"/>
              </a:spcAft>
              <a:buSzPts val="2800"/>
              <a:buChar char="○"/>
              <a:defRPr sz="2800"/>
            </a:lvl5pPr>
            <a:lvl6pPr lvl="5" algn="ctr" rtl="0">
              <a:lnSpc>
                <a:spcPct val="115000"/>
              </a:lnSpc>
              <a:spcBef>
                <a:spcPts val="0"/>
              </a:spcBef>
              <a:spcAft>
                <a:spcPts val="0"/>
              </a:spcAft>
              <a:buSzPts val="2800"/>
              <a:buChar char="■"/>
              <a:defRPr sz="2800"/>
            </a:lvl6pPr>
            <a:lvl7pPr lvl="6" algn="ctr" rtl="0">
              <a:lnSpc>
                <a:spcPct val="115000"/>
              </a:lnSpc>
              <a:spcBef>
                <a:spcPts val="0"/>
              </a:spcBef>
              <a:spcAft>
                <a:spcPts val="0"/>
              </a:spcAft>
              <a:buSzPts val="2800"/>
              <a:buChar char="●"/>
              <a:defRPr sz="2800"/>
            </a:lvl7pPr>
            <a:lvl8pPr lvl="7" algn="ctr" rtl="0">
              <a:lnSpc>
                <a:spcPct val="115000"/>
              </a:lnSpc>
              <a:spcBef>
                <a:spcPts val="0"/>
              </a:spcBef>
              <a:spcAft>
                <a:spcPts val="0"/>
              </a:spcAft>
              <a:buSzPts val="2800"/>
              <a:buChar char="○"/>
              <a:defRPr sz="2800"/>
            </a:lvl8pPr>
            <a:lvl9pPr lvl="8" algn="ctr" rtl="0">
              <a:lnSpc>
                <a:spcPct val="115000"/>
              </a:lnSpc>
              <a:spcBef>
                <a:spcPts val="0"/>
              </a:spcBef>
              <a:spcAft>
                <a:spcPts val="0"/>
              </a:spcAft>
              <a:buSzPts val="2800"/>
              <a:buChar char="■"/>
              <a:defRPr sz="2800"/>
            </a:lvl9pPr>
          </a:lstStyle>
          <a:p>
            <a:endParaRPr/>
          </a:p>
        </p:txBody>
      </p:sp>
      <p:sp>
        <p:nvSpPr>
          <p:cNvPr id="41" name="Google Shape;41;p5"/>
          <p:cNvSpPr txBox="1">
            <a:spLocks noGrp="1"/>
          </p:cNvSpPr>
          <p:nvPr>
            <p:ph type="subTitle" idx="2"/>
          </p:nvPr>
        </p:nvSpPr>
        <p:spPr>
          <a:xfrm>
            <a:off x="720000" y="1736553"/>
            <a:ext cx="3772800" cy="27363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200"/>
              <a:buChar char="●"/>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Char char="○"/>
              <a:defRPr sz="2800"/>
            </a:lvl2pPr>
            <a:lvl3pPr lvl="2" algn="ctr" rtl="0">
              <a:lnSpc>
                <a:spcPct val="115000"/>
              </a:lnSpc>
              <a:spcBef>
                <a:spcPts val="0"/>
              </a:spcBef>
              <a:spcAft>
                <a:spcPts val="0"/>
              </a:spcAft>
              <a:buSzPts val="1400"/>
              <a:buChar char="■"/>
              <a:defRPr sz="2800"/>
            </a:lvl3pPr>
            <a:lvl4pPr lvl="3" algn="ctr" rtl="0">
              <a:lnSpc>
                <a:spcPct val="115000"/>
              </a:lnSpc>
              <a:spcBef>
                <a:spcPts val="0"/>
              </a:spcBef>
              <a:spcAft>
                <a:spcPts val="0"/>
              </a:spcAft>
              <a:buSzPts val="1400"/>
              <a:buChar char="●"/>
              <a:defRPr sz="2800"/>
            </a:lvl4pPr>
            <a:lvl5pPr lvl="4" algn="ctr" rtl="0">
              <a:lnSpc>
                <a:spcPct val="115000"/>
              </a:lnSpc>
              <a:spcBef>
                <a:spcPts val="0"/>
              </a:spcBef>
              <a:spcAft>
                <a:spcPts val="0"/>
              </a:spcAft>
              <a:buSzPts val="1400"/>
              <a:buChar char="○"/>
              <a:defRPr sz="2800"/>
            </a:lvl5pPr>
            <a:lvl6pPr lvl="5" algn="ctr" rtl="0">
              <a:lnSpc>
                <a:spcPct val="115000"/>
              </a:lnSpc>
              <a:spcBef>
                <a:spcPts val="0"/>
              </a:spcBef>
              <a:spcAft>
                <a:spcPts val="0"/>
              </a:spcAft>
              <a:buSzPts val="1400"/>
              <a:buChar char="■"/>
              <a:defRPr sz="2800"/>
            </a:lvl6pPr>
            <a:lvl7pPr lvl="6" algn="ctr" rtl="0">
              <a:lnSpc>
                <a:spcPct val="115000"/>
              </a:lnSpc>
              <a:spcBef>
                <a:spcPts val="0"/>
              </a:spcBef>
              <a:spcAft>
                <a:spcPts val="0"/>
              </a:spcAft>
              <a:buSzPts val="1400"/>
              <a:buChar char="●"/>
              <a:defRPr sz="2800"/>
            </a:lvl7pPr>
            <a:lvl8pPr lvl="7" algn="ctr" rtl="0">
              <a:lnSpc>
                <a:spcPct val="115000"/>
              </a:lnSpc>
              <a:spcBef>
                <a:spcPts val="0"/>
              </a:spcBef>
              <a:spcAft>
                <a:spcPts val="0"/>
              </a:spcAft>
              <a:buSzPts val="1400"/>
              <a:buChar char="○"/>
              <a:defRPr sz="2800"/>
            </a:lvl8pPr>
            <a:lvl9pPr lvl="8" algn="ctr" rtl="0">
              <a:lnSpc>
                <a:spcPct val="115000"/>
              </a:lnSpc>
              <a:spcBef>
                <a:spcPts val="0"/>
              </a:spcBef>
              <a:spcAft>
                <a:spcPts val="0"/>
              </a:spcAft>
              <a:buSzPts val="1400"/>
              <a:buChar char="■"/>
              <a:defRPr sz="2800"/>
            </a:lvl9pPr>
          </a:lstStyle>
          <a:p>
            <a:endParaRPr/>
          </a:p>
        </p:txBody>
      </p:sp>
      <p:sp>
        <p:nvSpPr>
          <p:cNvPr id="42" name="Google Shape;42;p5"/>
          <p:cNvSpPr txBox="1">
            <a:spLocks noGrp="1"/>
          </p:cNvSpPr>
          <p:nvPr>
            <p:ph type="subTitle" idx="3"/>
          </p:nvPr>
        </p:nvSpPr>
        <p:spPr>
          <a:xfrm>
            <a:off x="720000" y="1451250"/>
            <a:ext cx="3772800" cy="361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nSpc>
                <a:spcPct val="115000"/>
              </a:lnSpc>
              <a:spcBef>
                <a:spcPts val="0"/>
              </a:spcBef>
              <a:spcAft>
                <a:spcPts val="0"/>
              </a:spcAft>
              <a:buSzPts val="1400"/>
              <a:buFont typeface="Figtree Black"/>
              <a:buNone/>
              <a:defRPr>
                <a:latin typeface="Figtree Black"/>
                <a:ea typeface="Figtree Black"/>
                <a:cs typeface="Figtree Black"/>
                <a:sym typeface="Figtree Black"/>
              </a:defRPr>
            </a:lvl2pPr>
            <a:lvl3pPr lvl="2">
              <a:lnSpc>
                <a:spcPct val="115000"/>
              </a:lnSpc>
              <a:spcBef>
                <a:spcPts val="0"/>
              </a:spcBef>
              <a:spcAft>
                <a:spcPts val="0"/>
              </a:spcAft>
              <a:buSzPts val="1400"/>
              <a:buFont typeface="Figtree Black"/>
              <a:buNone/>
              <a:defRPr>
                <a:latin typeface="Figtree Black"/>
                <a:ea typeface="Figtree Black"/>
                <a:cs typeface="Figtree Black"/>
                <a:sym typeface="Figtree Black"/>
              </a:defRPr>
            </a:lvl3pPr>
            <a:lvl4pPr lvl="3">
              <a:lnSpc>
                <a:spcPct val="115000"/>
              </a:lnSpc>
              <a:spcBef>
                <a:spcPts val="0"/>
              </a:spcBef>
              <a:spcAft>
                <a:spcPts val="0"/>
              </a:spcAft>
              <a:buSzPts val="1400"/>
              <a:buFont typeface="Figtree Black"/>
              <a:buNone/>
              <a:defRPr>
                <a:latin typeface="Figtree Black"/>
                <a:ea typeface="Figtree Black"/>
                <a:cs typeface="Figtree Black"/>
                <a:sym typeface="Figtree Black"/>
              </a:defRPr>
            </a:lvl4pPr>
            <a:lvl5pPr lvl="4">
              <a:lnSpc>
                <a:spcPct val="115000"/>
              </a:lnSpc>
              <a:spcBef>
                <a:spcPts val="0"/>
              </a:spcBef>
              <a:spcAft>
                <a:spcPts val="0"/>
              </a:spcAft>
              <a:buSzPts val="1400"/>
              <a:buFont typeface="Figtree Black"/>
              <a:buNone/>
              <a:defRPr>
                <a:latin typeface="Figtree Black"/>
                <a:ea typeface="Figtree Black"/>
                <a:cs typeface="Figtree Black"/>
                <a:sym typeface="Figtree Black"/>
              </a:defRPr>
            </a:lvl5pPr>
            <a:lvl6pPr lvl="5">
              <a:lnSpc>
                <a:spcPct val="115000"/>
              </a:lnSpc>
              <a:spcBef>
                <a:spcPts val="0"/>
              </a:spcBef>
              <a:spcAft>
                <a:spcPts val="0"/>
              </a:spcAft>
              <a:buSzPts val="1400"/>
              <a:buFont typeface="Figtree Black"/>
              <a:buNone/>
              <a:defRPr>
                <a:latin typeface="Figtree Black"/>
                <a:ea typeface="Figtree Black"/>
                <a:cs typeface="Figtree Black"/>
                <a:sym typeface="Figtree Black"/>
              </a:defRPr>
            </a:lvl6pPr>
            <a:lvl7pPr lvl="6">
              <a:lnSpc>
                <a:spcPct val="115000"/>
              </a:lnSpc>
              <a:spcBef>
                <a:spcPts val="0"/>
              </a:spcBef>
              <a:spcAft>
                <a:spcPts val="0"/>
              </a:spcAft>
              <a:buSzPts val="1400"/>
              <a:buFont typeface="Figtree Black"/>
              <a:buNone/>
              <a:defRPr>
                <a:latin typeface="Figtree Black"/>
                <a:ea typeface="Figtree Black"/>
                <a:cs typeface="Figtree Black"/>
                <a:sym typeface="Figtree Black"/>
              </a:defRPr>
            </a:lvl7pPr>
            <a:lvl8pPr lvl="7">
              <a:lnSpc>
                <a:spcPct val="115000"/>
              </a:lnSpc>
              <a:spcBef>
                <a:spcPts val="0"/>
              </a:spcBef>
              <a:spcAft>
                <a:spcPts val="0"/>
              </a:spcAft>
              <a:buSzPts val="1400"/>
              <a:buFont typeface="Figtree Black"/>
              <a:buNone/>
              <a:defRPr>
                <a:latin typeface="Figtree Black"/>
                <a:ea typeface="Figtree Black"/>
                <a:cs typeface="Figtree Black"/>
                <a:sym typeface="Figtree Black"/>
              </a:defRPr>
            </a:lvl8pPr>
            <a:lvl9pPr lvl="8">
              <a:lnSpc>
                <a:spcPct val="115000"/>
              </a:lnSpc>
              <a:spcBef>
                <a:spcPts val="0"/>
              </a:spcBef>
              <a:spcAft>
                <a:spcPts val="0"/>
              </a:spcAft>
              <a:buSzPts val="1400"/>
              <a:buFont typeface="Figtree Black"/>
              <a:buNone/>
              <a:defRPr>
                <a:latin typeface="Figtree Black"/>
                <a:ea typeface="Figtree Black"/>
                <a:cs typeface="Figtree Black"/>
                <a:sym typeface="Figtree Black"/>
              </a:defRPr>
            </a:lvl9pPr>
          </a:lstStyle>
          <a:p>
            <a:endParaRPr/>
          </a:p>
        </p:txBody>
      </p:sp>
      <p:sp>
        <p:nvSpPr>
          <p:cNvPr id="43" name="Google Shape;43;p5"/>
          <p:cNvSpPr txBox="1">
            <a:spLocks noGrp="1"/>
          </p:cNvSpPr>
          <p:nvPr>
            <p:ph type="subTitle" idx="4"/>
          </p:nvPr>
        </p:nvSpPr>
        <p:spPr>
          <a:xfrm>
            <a:off x="4651268" y="1451250"/>
            <a:ext cx="3772800" cy="3615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1400"/>
              <a:buFont typeface="Figtree Black"/>
              <a:buNone/>
              <a:defRPr>
                <a:latin typeface="Figtree Black"/>
                <a:ea typeface="Figtree Black"/>
                <a:cs typeface="Figtree Black"/>
                <a:sym typeface="Figtree Black"/>
              </a:defRPr>
            </a:lvl2pPr>
            <a:lvl3pPr lvl="2" rtl="0">
              <a:lnSpc>
                <a:spcPct val="115000"/>
              </a:lnSpc>
              <a:spcBef>
                <a:spcPts val="0"/>
              </a:spcBef>
              <a:spcAft>
                <a:spcPts val="0"/>
              </a:spcAft>
              <a:buSzPts val="1400"/>
              <a:buFont typeface="Figtree Black"/>
              <a:buNone/>
              <a:defRPr>
                <a:latin typeface="Figtree Black"/>
                <a:ea typeface="Figtree Black"/>
                <a:cs typeface="Figtree Black"/>
                <a:sym typeface="Figtree Black"/>
              </a:defRPr>
            </a:lvl3pPr>
            <a:lvl4pPr lvl="3" rtl="0">
              <a:lnSpc>
                <a:spcPct val="115000"/>
              </a:lnSpc>
              <a:spcBef>
                <a:spcPts val="0"/>
              </a:spcBef>
              <a:spcAft>
                <a:spcPts val="0"/>
              </a:spcAft>
              <a:buSzPts val="1400"/>
              <a:buFont typeface="Figtree Black"/>
              <a:buNone/>
              <a:defRPr>
                <a:latin typeface="Figtree Black"/>
                <a:ea typeface="Figtree Black"/>
                <a:cs typeface="Figtree Black"/>
                <a:sym typeface="Figtree Black"/>
              </a:defRPr>
            </a:lvl4pPr>
            <a:lvl5pPr lvl="4" rtl="0">
              <a:lnSpc>
                <a:spcPct val="115000"/>
              </a:lnSpc>
              <a:spcBef>
                <a:spcPts val="0"/>
              </a:spcBef>
              <a:spcAft>
                <a:spcPts val="0"/>
              </a:spcAft>
              <a:buSzPts val="1400"/>
              <a:buFont typeface="Figtree Black"/>
              <a:buNone/>
              <a:defRPr>
                <a:latin typeface="Figtree Black"/>
                <a:ea typeface="Figtree Black"/>
                <a:cs typeface="Figtree Black"/>
                <a:sym typeface="Figtree Black"/>
              </a:defRPr>
            </a:lvl5pPr>
            <a:lvl6pPr lvl="5" rtl="0">
              <a:lnSpc>
                <a:spcPct val="115000"/>
              </a:lnSpc>
              <a:spcBef>
                <a:spcPts val="0"/>
              </a:spcBef>
              <a:spcAft>
                <a:spcPts val="0"/>
              </a:spcAft>
              <a:buSzPts val="1400"/>
              <a:buFont typeface="Figtree Black"/>
              <a:buNone/>
              <a:defRPr>
                <a:latin typeface="Figtree Black"/>
                <a:ea typeface="Figtree Black"/>
                <a:cs typeface="Figtree Black"/>
                <a:sym typeface="Figtree Black"/>
              </a:defRPr>
            </a:lvl6pPr>
            <a:lvl7pPr lvl="6" rtl="0">
              <a:lnSpc>
                <a:spcPct val="115000"/>
              </a:lnSpc>
              <a:spcBef>
                <a:spcPts val="0"/>
              </a:spcBef>
              <a:spcAft>
                <a:spcPts val="0"/>
              </a:spcAft>
              <a:buSzPts val="1400"/>
              <a:buFont typeface="Figtree Black"/>
              <a:buNone/>
              <a:defRPr>
                <a:latin typeface="Figtree Black"/>
                <a:ea typeface="Figtree Black"/>
                <a:cs typeface="Figtree Black"/>
                <a:sym typeface="Figtree Black"/>
              </a:defRPr>
            </a:lvl7pPr>
            <a:lvl8pPr lvl="7" rtl="0">
              <a:lnSpc>
                <a:spcPct val="115000"/>
              </a:lnSpc>
              <a:spcBef>
                <a:spcPts val="0"/>
              </a:spcBef>
              <a:spcAft>
                <a:spcPts val="0"/>
              </a:spcAft>
              <a:buSzPts val="1400"/>
              <a:buFont typeface="Figtree Black"/>
              <a:buNone/>
              <a:defRPr>
                <a:latin typeface="Figtree Black"/>
                <a:ea typeface="Figtree Black"/>
                <a:cs typeface="Figtree Black"/>
                <a:sym typeface="Figtree Black"/>
              </a:defRPr>
            </a:lvl8pPr>
            <a:lvl9pPr lvl="8" rtl="0">
              <a:lnSpc>
                <a:spcPct val="115000"/>
              </a:lnSpc>
              <a:spcBef>
                <a:spcPts val="0"/>
              </a:spcBef>
              <a:spcAft>
                <a:spcPts val="0"/>
              </a:spcAft>
              <a:buSzPts val="1400"/>
              <a:buFont typeface="Figtree Black"/>
              <a:buNone/>
              <a:defRPr>
                <a:latin typeface="Figtree Black"/>
                <a:ea typeface="Figtree Black"/>
                <a:cs typeface="Figtree Black"/>
                <a:sym typeface="Figtree Black"/>
              </a:defRPr>
            </a:lvl9pPr>
          </a:lstStyle>
          <a:p>
            <a:endParaRPr/>
          </a:p>
        </p:txBody>
      </p:sp>
    </p:spTree>
    <p:extLst>
      <p:ext uri="{BB962C8B-B14F-4D97-AF65-F5344CB8AC3E}">
        <p14:creationId xmlns:p14="http://schemas.microsoft.com/office/powerpoint/2010/main" val="38950652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3"/>
        <p:cNvGrpSpPr/>
        <p:nvPr/>
      </p:nvGrpSpPr>
      <p:grpSpPr>
        <a:xfrm>
          <a:off x="0" y="0"/>
          <a:ext cx="0" cy="0"/>
          <a:chOff x="0" y="0"/>
          <a:chExt cx="0" cy="0"/>
        </a:xfrm>
      </p:grpSpPr>
      <p:sp>
        <p:nvSpPr>
          <p:cNvPr id="59" name="Google Shape;59;p7"/>
          <p:cNvSpPr txBox="1">
            <a:spLocks noGrp="1"/>
          </p:cNvSpPr>
          <p:nvPr>
            <p:ph type="title"/>
          </p:nvPr>
        </p:nvSpPr>
        <p:spPr>
          <a:xfrm>
            <a:off x="720000" y="448050"/>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0" name="Google Shape;60;p7"/>
          <p:cNvSpPr txBox="1">
            <a:spLocks noGrp="1"/>
          </p:cNvSpPr>
          <p:nvPr>
            <p:ph type="subTitle" idx="1"/>
          </p:nvPr>
        </p:nvSpPr>
        <p:spPr>
          <a:xfrm>
            <a:off x="1733625" y="1361025"/>
            <a:ext cx="6580200" cy="29061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1600">
                <a:latin typeface="Hanken Grotesk"/>
                <a:ea typeface="Hanken Grotesk"/>
                <a:cs typeface="Hanken Grotesk"/>
                <a:sym typeface="Hanken Grotesk"/>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extLst>
      <p:ext uri="{BB962C8B-B14F-4D97-AF65-F5344CB8AC3E}">
        <p14:creationId xmlns:p14="http://schemas.microsoft.com/office/powerpoint/2010/main" val="12259891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5"/>
        <p:cNvGrpSpPr/>
        <p:nvPr/>
      </p:nvGrpSpPr>
      <p:grpSpPr>
        <a:xfrm>
          <a:off x="0" y="0"/>
          <a:ext cx="0" cy="0"/>
          <a:chOff x="0" y="0"/>
          <a:chExt cx="0" cy="0"/>
        </a:xfrm>
      </p:grpSpPr>
      <p:sp>
        <p:nvSpPr>
          <p:cNvPr id="31" name="Google Shape;3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 name="Google Shape;32;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SzPts val="800"/>
              <a:buChar char="●"/>
              <a:defRPr>
                <a:latin typeface="Hanken Grotesk"/>
                <a:ea typeface="Hanken Grotesk"/>
                <a:cs typeface="Hanken Grotesk"/>
                <a:sym typeface="Hanken Grotesk"/>
              </a:defRPr>
            </a:lvl1pPr>
            <a:lvl2pPr marL="914400" lvl="1" indent="-304800" rtl="0">
              <a:spcBef>
                <a:spcPts val="0"/>
              </a:spcBef>
              <a:spcAft>
                <a:spcPts val="0"/>
              </a:spcAft>
              <a:buSzPts val="1200"/>
              <a:buChar char="○"/>
              <a:defRPr>
                <a:latin typeface="Hanken Grotesk"/>
                <a:ea typeface="Hanken Grotesk"/>
                <a:cs typeface="Hanken Grotesk"/>
                <a:sym typeface="Hanken Grotesk"/>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Tree>
    <p:extLst>
      <p:ext uri="{BB962C8B-B14F-4D97-AF65-F5344CB8AC3E}">
        <p14:creationId xmlns:p14="http://schemas.microsoft.com/office/powerpoint/2010/main" val="3764264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32FD9C-60FE-800C-DF4A-CB606F620ED4}"/>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851F58-320A-99CA-D67F-0A98558485F4}"/>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20A17D-47D3-B8EF-EBFB-CF4316A8CA66}"/>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1A90A598-0175-4F4C-B315-95405EC9EDA1}" type="datetimeFigureOut">
              <a:rPr lang="en-US" smtClean="0"/>
              <a:t>12/18/2025</a:t>
            </a:fld>
            <a:endParaRPr lang="en-US"/>
          </a:p>
        </p:txBody>
      </p:sp>
      <p:sp>
        <p:nvSpPr>
          <p:cNvPr id="5" name="Footer Placeholder 4">
            <a:extLst>
              <a:ext uri="{FF2B5EF4-FFF2-40B4-BE49-F238E27FC236}">
                <a16:creationId xmlns:a16="http://schemas.microsoft.com/office/drawing/2014/main" id="{865C5F51-D9B7-46CA-6A66-F6330B72B6F7}"/>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73596BA-118D-33B3-8CC4-CBC50B562EBA}"/>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72306B76-16F9-4795-AD14-3B8AE7C42EDF}" type="slidenum">
              <a:rPr lang="en-US" smtClean="0"/>
              <a:t>‹#›</a:t>
            </a:fld>
            <a:endParaRPr lang="en-US"/>
          </a:p>
        </p:txBody>
      </p:sp>
    </p:spTree>
    <p:extLst>
      <p:ext uri="{BB962C8B-B14F-4D97-AF65-F5344CB8AC3E}">
        <p14:creationId xmlns:p14="http://schemas.microsoft.com/office/powerpoint/2010/main" val="315300592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3"/>
          <p:cNvSpPr txBox="1">
            <a:spLocks noGrp="1"/>
          </p:cNvSpPr>
          <p:nvPr>
            <p:ph type="ctrTitle"/>
          </p:nvPr>
        </p:nvSpPr>
        <p:spPr>
          <a:xfrm>
            <a:off x="1087125" y="994060"/>
            <a:ext cx="5897400" cy="13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800" b="1" dirty="0"/>
              <a:t>SHORT-TERM ELECTRICAL LOAD FORECASTING FOR BANESHWOR FEEDER USING MACHINE AND DEEP LEARNING MODELS</a:t>
            </a:r>
            <a:endParaRPr sz="2800" b="1" dirty="0"/>
          </a:p>
        </p:txBody>
      </p:sp>
      <p:sp>
        <p:nvSpPr>
          <p:cNvPr id="290" name="Google Shape;290;p33"/>
          <p:cNvSpPr txBox="1">
            <a:spLocks noGrp="1"/>
          </p:cNvSpPr>
          <p:nvPr>
            <p:ph type="subTitle" idx="1"/>
          </p:nvPr>
        </p:nvSpPr>
        <p:spPr>
          <a:xfrm>
            <a:off x="1087125" y="2630927"/>
            <a:ext cx="5897400" cy="20650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Presenter,</a:t>
            </a:r>
          </a:p>
          <a:p>
            <a:pPr marL="0" lvl="0" indent="0" algn="l" rtl="0">
              <a:spcBef>
                <a:spcPts val="0"/>
              </a:spcBef>
              <a:spcAft>
                <a:spcPts val="0"/>
              </a:spcAft>
              <a:buNone/>
            </a:pPr>
            <a:r>
              <a:rPr lang="en-US" b="1" dirty="0"/>
              <a:t>Sujit Koirala </a:t>
            </a:r>
          </a:p>
          <a:p>
            <a:pPr marL="0" lvl="0" indent="0" algn="l" rtl="0">
              <a:spcBef>
                <a:spcPts val="0"/>
              </a:spcBef>
              <a:spcAft>
                <a:spcPts val="0"/>
              </a:spcAft>
              <a:buNone/>
            </a:pPr>
            <a:endParaRPr lang="en-US" dirty="0"/>
          </a:p>
          <a:p>
            <a:pPr marL="0" lvl="0" indent="0" algn="l" rtl="0">
              <a:spcBef>
                <a:spcPts val="0"/>
              </a:spcBef>
              <a:spcAft>
                <a:spcPts val="0"/>
              </a:spcAft>
              <a:buNone/>
            </a:pPr>
            <a:r>
              <a:rPr lang="en-US" sz="1100" dirty="0"/>
              <a:t>The Department Of Electrical Engineering </a:t>
            </a:r>
          </a:p>
          <a:p>
            <a:pPr marL="0" lvl="0" indent="0" algn="l" rtl="0">
              <a:spcBef>
                <a:spcPts val="0"/>
              </a:spcBef>
              <a:spcAft>
                <a:spcPts val="0"/>
              </a:spcAft>
              <a:buNone/>
            </a:pPr>
            <a:r>
              <a:rPr lang="en-US" sz="1100" b="1" dirty="0"/>
              <a:t>Masters Of Science In Power System Engineering</a:t>
            </a:r>
          </a:p>
          <a:p>
            <a:pPr marL="0" lvl="0" indent="0" algn="l" rtl="0">
              <a:spcBef>
                <a:spcPts val="0"/>
              </a:spcBef>
              <a:spcAft>
                <a:spcPts val="0"/>
              </a:spcAft>
              <a:buNone/>
            </a:pPr>
            <a:endParaRPr lang="en-US" sz="1100" dirty="0"/>
          </a:p>
          <a:p>
            <a:pPr marL="0" lvl="0" indent="0" algn="l" rtl="0">
              <a:spcBef>
                <a:spcPts val="0"/>
              </a:spcBef>
              <a:spcAft>
                <a:spcPts val="0"/>
              </a:spcAft>
              <a:buNone/>
            </a:pPr>
            <a:r>
              <a:rPr lang="en-US" sz="1100" b="1" dirty="0"/>
              <a:t>Tribhuvan University</a:t>
            </a:r>
          </a:p>
          <a:p>
            <a:pPr marL="0" lvl="0" indent="0" algn="l" rtl="0">
              <a:spcBef>
                <a:spcPts val="0"/>
              </a:spcBef>
              <a:spcAft>
                <a:spcPts val="0"/>
              </a:spcAft>
              <a:buNone/>
            </a:pPr>
            <a:r>
              <a:rPr lang="en-US" sz="1100" dirty="0"/>
              <a:t>Institute of Engineering</a:t>
            </a:r>
          </a:p>
          <a:p>
            <a:pPr marL="0" lvl="0" indent="0" algn="l" rtl="0">
              <a:spcBef>
                <a:spcPts val="0"/>
              </a:spcBef>
              <a:spcAft>
                <a:spcPts val="0"/>
              </a:spcAft>
              <a:buNone/>
            </a:pPr>
            <a:r>
              <a:rPr lang="en-US" sz="1100" dirty="0" err="1"/>
              <a:t>Pulchowk</a:t>
            </a:r>
            <a:r>
              <a:rPr lang="en-US" sz="1100" dirty="0"/>
              <a:t> Campus</a:t>
            </a:r>
            <a:endParaRPr lang="en-US" dirty="0">
              <a:latin typeface="Hanken Grotesk"/>
              <a:ea typeface="Hanken Grotesk"/>
              <a:cs typeface="Hanken Grotesk"/>
              <a:sym typeface="Hanken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cxnSp>
        <p:nvCxnSpPr>
          <p:cNvPr id="4" name="Google Shape;304;p35">
            <a:extLst>
              <a:ext uri="{FF2B5EF4-FFF2-40B4-BE49-F238E27FC236}">
                <a16:creationId xmlns:a16="http://schemas.microsoft.com/office/drawing/2014/main" id="{FB236A20-72CD-716F-3322-199C97C839AD}"/>
              </a:ext>
            </a:extLst>
          </p:cNvPr>
          <p:cNvCxnSpPr>
            <a:cxnSpLocks/>
          </p:cNvCxnSpPr>
          <p:nvPr/>
        </p:nvCxnSpPr>
        <p:spPr>
          <a:xfrm flipH="1">
            <a:off x="4209887" y="3157621"/>
            <a:ext cx="3676875" cy="0"/>
          </a:xfrm>
          <a:prstGeom prst="straightConnector1">
            <a:avLst/>
          </a:prstGeom>
          <a:noFill/>
          <a:ln w="19050" cap="flat" cmpd="sng">
            <a:solidFill>
              <a:schemeClr val="dk1"/>
            </a:solidFill>
            <a:prstDash val="solid"/>
            <a:round/>
            <a:headEnd type="none" w="med" len="med"/>
            <a:tailEnd type="none" w="med" len="med"/>
          </a:ln>
        </p:spPr>
      </p:cxnSp>
      <p:cxnSp>
        <p:nvCxnSpPr>
          <p:cNvPr id="5" name="Google Shape;304;p35">
            <a:extLst>
              <a:ext uri="{FF2B5EF4-FFF2-40B4-BE49-F238E27FC236}">
                <a16:creationId xmlns:a16="http://schemas.microsoft.com/office/drawing/2014/main" id="{AD133741-8685-921B-03C7-8388CCB81180}"/>
              </a:ext>
            </a:extLst>
          </p:cNvPr>
          <p:cNvCxnSpPr>
            <a:cxnSpLocks/>
            <a:stCxn id="7" idx="1"/>
          </p:cNvCxnSpPr>
          <p:nvPr/>
        </p:nvCxnSpPr>
        <p:spPr>
          <a:xfrm flipH="1">
            <a:off x="2073933" y="3160425"/>
            <a:ext cx="3676875" cy="0"/>
          </a:xfrm>
          <a:prstGeom prst="straightConnector1">
            <a:avLst/>
          </a:prstGeom>
          <a:noFill/>
          <a:ln w="19050" cap="flat" cmpd="sng">
            <a:solidFill>
              <a:schemeClr val="dk1"/>
            </a:solidFill>
            <a:prstDash val="solid"/>
            <a:round/>
            <a:headEnd type="none" w="med" len="med"/>
            <a:tailEnd type="none" w="med" len="med"/>
          </a:ln>
        </p:spPr>
      </p:cxnSp>
      <p:cxnSp>
        <p:nvCxnSpPr>
          <p:cNvPr id="304" name="Google Shape;304;p35"/>
          <p:cNvCxnSpPr>
            <a:cxnSpLocks/>
            <a:stCxn id="313" idx="1"/>
          </p:cNvCxnSpPr>
          <p:nvPr/>
        </p:nvCxnSpPr>
        <p:spPr>
          <a:xfrm flipH="1">
            <a:off x="-569267" y="3160425"/>
            <a:ext cx="3676875" cy="0"/>
          </a:xfrm>
          <a:prstGeom prst="straightConnector1">
            <a:avLst/>
          </a:prstGeom>
          <a:noFill/>
          <a:ln w="19050" cap="flat" cmpd="sng">
            <a:solidFill>
              <a:schemeClr val="dk1"/>
            </a:solidFill>
            <a:prstDash val="solid"/>
            <a:round/>
            <a:headEnd type="none" w="med" len="med"/>
            <a:tailEnd type="none" w="med" len="med"/>
          </a:ln>
        </p:spPr>
      </p:cxnSp>
      <p:cxnSp>
        <p:nvCxnSpPr>
          <p:cNvPr id="306" name="Google Shape;306;p35"/>
          <p:cNvCxnSpPr>
            <a:stCxn id="307" idx="3"/>
          </p:cNvCxnSpPr>
          <p:nvPr/>
        </p:nvCxnSpPr>
        <p:spPr>
          <a:xfrm>
            <a:off x="1285275" y="1502500"/>
            <a:ext cx="8009700" cy="0"/>
          </a:xfrm>
          <a:prstGeom prst="straightConnector1">
            <a:avLst/>
          </a:prstGeom>
          <a:noFill/>
          <a:ln w="19050" cap="flat" cmpd="sng">
            <a:solidFill>
              <a:schemeClr val="dk1"/>
            </a:solidFill>
            <a:prstDash val="solid"/>
            <a:round/>
            <a:headEnd type="none" w="med" len="med"/>
            <a:tailEnd type="none" w="med" len="med"/>
          </a:ln>
        </p:spPr>
      </p:cxnSp>
      <p:sp>
        <p:nvSpPr>
          <p:cNvPr id="308" name="Google Shape;308;p35"/>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319" name="Google Shape;319;p35"/>
          <p:cNvSpPr txBox="1">
            <a:spLocks noGrp="1"/>
          </p:cNvSpPr>
          <p:nvPr>
            <p:ph type="subTitle" idx="1"/>
          </p:nvPr>
        </p:nvSpPr>
        <p:spPr>
          <a:xfrm>
            <a:off x="788675" y="1749037"/>
            <a:ext cx="23055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dirty="0"/>
              <a:t>Introduction</a:t>
            </a:r>
            <a:endParaRPr sz="1800" dirty="0"/>
          </a:p>
        </p:txBody>
      </p:sp>
      <p:sp>
        <p:nvSpPr>
          <p:cNvPr id="320" name="Google Shape;320;p35"/>
          <p:cNvSpPr txBox="1">
            <a:spLocks noGrp="1"/>
          </p:cNvSpPr>
          <p:nvPr>
            <p:ph type="subTitle" idx="2"/>
          </p:nvPr>
        </p:nvSpPr>
        <p:spPr>
          <a:xfrm>
            <a:off x="387233" y="3363674"/>
            <a:ext cx="23055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dirty="0"/>
              <a:t>Literature Review	</a:t>
            </a:r>
            <a:endParaRPr sz="1800" dirty="0"/>
          </a:p>
        </p:txBody>
      </p:sp>
      <p:sp>
        <p:nvSpPr>
          <p:cNvPr id="321" name="Google Shape;321;p35"/>
          <p:cNvSpPr txBox="1">
            <a:spLocks noGrp="1"/>
          </p:cNvSpPr>
          <p:nvPr>
            <p:ph type="subTitle" idx="3"/>
          </p:nvPr>
        </p:nvSpPr>
        <p:spPr>
          <a:xfrm>
            <a:off x="3017058" y="3363674"/>
            <a:ext cx="23055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dirty="0"/>
              <a:t>Methodology</a:t>
            </a:r>
            <a:endParaRPr sz="1800" dirty="0"/>
          </a:p>
        </p:txBody>
      </p:sp>
      <p:sp>
        <p:nvSpPr>
          <p:cNvPr id="322" name="Google Shape;322;p35"/>
          <p:cNvSpPr txBox="1">
            <a:spLocks noGrp="1"/>
          </p:cNvSpPr>
          <p:nvPr>
            <p:ph type="subTitle" idx="4"/>
          </p:nvPr>
        </p:nvSpPr>
        <p:spPr>
          <a:xfrm>
            <a:off x="3418500" y="1749037"/>
            <a:ext cx="23055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dirty="0"/>
              <a:t>Problem Statement</a:t>
            </a:r>
            <a:endParaRPr sz="1800" dirty="0"/>
          </a:p>
        </p:txBody>
      </p:sp>
      <p:sp>
        <p:nvSpPr>
          <p:cNvPr id="307" name="Google Shape;307;p35"/>
          <p:cNvSpPr txBox="1">
            <a:spLocks noGrp="1"/>
          </p:cNvSpPr>
          <p:nvPr>
            <p:ph type="title" idx="5"/>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13" name="Google Shape;313;p35"/>
          <p:cNvSpPr txBox="1">
            <a:spLocks noGrp="1"/>
          </p:cNvSpPr>
          <p:nvPr>
            <p:ph type="title" idx="6"/>
          </p:nvPr>
        </p:nvSpPr>
        <p:spPr>
          <a:xfrm>
            <a:off x="3107608" y="2977575"/>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314" name="Google Shape;314;p35"/>
          <p:cNvSpPr txBox="1">
            <a:spLocks noGrp="1"/>
          </p:cNvSpPr>
          <p:nvPr>
            <p:ph type="title" idx="7"/>
          </p:nvPr>
        </p:nvSpPr>
        <p:spPr>
          <a:xfrm>
            <a:off x="518133" y="2977575"/>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315" name="Google Shape;315;p35"/>
          <p:cNvSpPr txBox="1">
            <a:spLocks noGrp="1"/>
          </p:cNvSpPr>
          <p:nvPr>
            <p:ph type="title" idx="8"/>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24" name="Google Shape;324;p35"/>
          <p:cNvSpPr txBox="1">
            <a:spLocks noGrp="1"/>
          </p:cNvSpPr>
          <p:nvPr>
            <p:ph type="subTitle" idx="13"/>
          </p:nvPr>
        </p:nvSpPr>
        <p:spPr>
          <a:xfrm>
            <a:off x="6048325" y="1749037"/>
            <a:ext cx="23055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a:t>Objectives</a:t>
            </a:r>
            <a:endParaRPr sz="1800"/>
          </a:p>
        </p:txBody>
      </p:sp>
      <p:sp>
        <p:nvSpPr>
          <p:cNvPr id="318" name="Google Shape;318;p35"/>
          <p:cNvSpPr txBox="1">
            <a:spLocks noGrp="1"/>
          </p:cNvSpPr>
          <p:nvPr>
            <p:ph type="title" idx="15"/>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6" name="Google Shape;321;p35">
            <a:extLst>
              <a:ext uri="{FF2B5EF4-FFF2-40B4-BE49-F238E27FC236}">
                <a16:creationId xmlns:a16="http://schemas.microsoft.com/office/drawing/2014/main" id="{2C2E3D1A-3D18-F789-54F2-5C772E213BE5}"/>
              </a:ext>
            </a:extLst>
          </p:cNvPr>
          <p:cNvSpPr txBox="1">
            <a:spLocks/>
          </p:cNvSpPr>
          <p:nvPr/>
        </p:nvSpPr>
        <p:spPr>
          <a:xfrm>
            <a:off x="5660258" y="3363674"/>
            <a:ext cx="2305500" cy="572700"/>
          </a:xfrm>
          <a:prstGeom prst="rect">
            <a:avLst/>
          </a:prstGeom>
        </p:spPr>
        <p:txBody>
          <a:bodyPr spcFirstLastPara="1" vert="horz" wrap="square" lIns="91425" tIns="91425" rIns="91425" bIns="91425" rtlCol="0" anchor="b" anchorCtr="0">
            <a:noAutofit/>
          </a:bodyPr>
          <a:lstStyle>
            <a:lvl1pPr marL="171450" lvl="0" indent="-171450" algn="l" defTabSz="685800" rtl="0" eaLnBrk="1" latinLnBrk="0" hangingPunct="1">
              <a:lnSpc>
                <a:spcPct val="115000"/>
              </a:lnSpc>
              <a:spcBef>
                <a:spcPts val="0"/>
              </a:spcBef>
              <a:spcAft>
                <a:spcPts val="0"/>
              </a:spcAft>
              <a:buSzPts val="1400"/>
              <a:buFont typeface="Arial" panose="020B0604020202020204" pitchFamily="34" charset="0"/>
              <a:buNone/>
              <a:defRPr sz="1400" kern="1200">
                <a:solidFill>
                  <a:schemeClr val="tx1"/>
                </a:solidFill>
                <a:latin typeface="Hanken Grotesk"/>
                <a:ea typeface="Hanken Grotesk"/>
                <a:cs typeface="Hanken Grotesk"/>
                <a:sym typeface="Hanken Grotesk"/>
              </a:defRPr>
            </a:lvl1pPr>
            <a:lvl2pPr marL="514350" lvl="1" indent="-171450" algn="ctr" defTabSz="685800" rtl="0" eaLnBrk="1" latinLnBrk="0" hangingPunct="1">
              <a:lnSpc>
                <a:spcPct val="115000"/>
              </a:lnSpc>
              <a:spcBef>
                <a:spcPts val="0"/>
              </a:spcBef>
              <a:spcAft>
                <a:spcPts val="0"/>
              </a:spcAft>
              <a:buSzPts val="1400"/>
              <a:buFont typeface="Arial" panose="020B0604020202020204" pitchFamily="34" charset="0"/>
              <a:buNone/>
              <a:defRPr sz="1800" kern="1200">
                <a:solidFill>
                  <a:schemeClr val="tx1"/>
                </a:solidFill>
                <a:latin typeface="+mn-lt"/>
                <a:ea typeface="+mn-ea"/>
                <a:cs typeface="+mn-cs"/>
              </a:defRPr>
            </a:lvl2pPr>
            <a:lvl3pPr marL="857250" lvl="2" indent="-171450" algn="ctr" defTabSz="685800" rtl="0" eaLnBrk="1" latinLnBrk="0" hangingPunct="1">
              <a:lnSpc>
                <a:spcPct val="115000"/>
              </a:lnSpc>
              <a:spcBef>
                <a:spcPts val="0"/>
              </a:spcBef>
              <a:spcAft>
                <a:spcPts val="0"/>
              </a:spcAft>
              <a:buSzPts val="1400"/>
              <a:buFont typeface="Arial" panose="020B0604020202020204" pitchFamily="34" charset="0"/>
              <a:buNone/>
              <a:defRPr sz="1500" kern="1200">
                <a:solidFill>
                  <a:schemeClr val="tx1"/>
                </a:solidFill>
                <a:latin typeface="+mn-lt"/>
                <a:ea typeface="+mn-ea"/>
                <a:cs typeface="+mn-cs"/>
              </a:defRPr>
            </a:lvl3pPr>
            <a:lvl4pPr marL="1200150" lvl="3"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4pPr>
            <a:lvl5pPr marL="1543050" lvl="4"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5pPr>
            <a:lvl6pPr marL="1885950" lvl="5"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6pPr>
            <a:lvl7pPr marL="2228850" lvl="6"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7pPr>
            <a:lvl8pPr marL="2571750" lvl="7"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8pPr>
            <a:lvl9pPr marL="2914650" lvl="8"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9pPr>
          </a:lstStyle>
          <a:p>
            <a:pPr marL="0" indent="0"/>
            <a:r>
              <a:rPr lang="en-US" sz="1800"/>
              <a:t>Conclusion</a:t>
            </a:r>
            <a:endParaRPr lang="en-US" sz="1800" dirty="0"/>
          </a:p>
        </p:txBody>
      </p:sp>
      <p:sp>
        <p:nvSpPr>
          <p:cNvPr id="7" name="Google Shape;313;p35">
            <a:extLst>
              <a:ext uri="{FF2B5EF4-FFF2-40B4-BE49-F238E27FC236}">
                <a16:creationId xmlns:a16="http://schemas.microsoft.com/office/drawing/2014/main" id="{11782073-4756-C81C-D0B0-561DBBB63C89}"/>
              </a:ext>
            </a:extLst>
          </p:cNvPr>
          <p:cNvSpPr txBox="1">
            <a:spLocks/>
          </p:cNvSpPr>
          <p:nvPr/>
        </p:nvSpPr>
        <p:spPr>
          <a:xfrm>
            <a:off x="5750808" y="2977575"/>
            <a:ext cx="365700" cy="365700"/>
          </a:xfrm>
          <a:prstGeom prst="rect">
            <a:avLst/>
          </a:prstGeom>
          <a:solidFill>
            <a:schemeClr val="dk1"/>
          </a:solidFill>
        </p:spPr>
        <p:txBody>
          <a:bodyPr spcFirstLastPara="1" vert="horz" wrap="square" lIns="91425" tIns="91425" rIns="91425" bIns="91425" rtlCol="0" anchor="ctr" anchorCtr="0">
            <a:noAutofit/>
          </a:bodyPr>
          <a:lstStyle>
            <a:lvl1pPr lvl="0" algn="ctr" defTabSz="685800" rtl="0" eaLnBrk="1" latinLnBrk="0" hangingPunct="1">
              <a:lnSpc>
                <a:spcPct val="115000"/>
              </a:lnSpc>
              <a:spcBef>
                <a:spcPts val="0"/>
              </a:spcBef>
              <a:spcAft>
                <a:spcPts val="0"/>
              </a:spcAft>
              <a:buSzPts val="3000"/>
              <a:buNone/>
              <a:defRPr sz="1100" kern="1200">
                <a:solidFill>
                  <a:schemeClr val="lt1"/>
                </a:solidFill>
                <a:latin typeface="+mj-lt"/>
                <a:ea typeface="+mj-ea"/>
                <a:cs typeface="+mj-c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lang="en" dirty="0"/>
              <a:t>06</a:t>
            </a:r>
          </a:p>
        </p:txBody>
      </p:sp>
      <p:sp>
        <p:nvSpPr>
          <p:cNvPr id="2" name="Google Shape;321;p35">
            <a:extLst>
              <a:ext uri="{FF2B5EF4-FFF2-40B4-BE49-F238E27FC236}">
                <a16:creationId xmlns:a16="http://schemas.microsoft.com/office/drawing/2014/main" id="{4D6F5D00-AF69-5E99-600E-6F3B07A1B830}"/>
              </a:ext>
            </a:extLst>
          </p:cNvPr>
          <p:cNvSpPr txBox="1">
            <a:spLocks/>
          </p:cNvSpPr>
          <p:nvPr/>
        </p:nvSpPr>
        <p:spPr>
          <a:xfrm>
            <a:off x="7545250" y="3363674"/>
            <a:ext cx="2305500" cy="572700"/>
          </a:xfrm>
          <a:prstGeom prst="rect">
            <a:avLst/>
          </a:prstGeom>
        </p:spPr>
        <p:txBody>
          <a:bodyPr spcFirstLastPara="1" vert="horz" wrap="square" lIns="91425" tIns="91425" rIns="91425" bIns="91425" rtlCol="0" anchor="b" anchorCtr="0">
            <a:noAutofit/>
          </a:bodyPr>
          <a:lstStyle>
            <a:lvl1pPr marL="171450" lvl="0" indent="-171450" algn="l" defTabSz="685800" rtl="0" eaLnBrk="1" latinLnBrk="0" hangingPunct="1">
              <a:lnSpc>
                <a:spcPct val="115000"/>
              </a:lnSpc>
              <a:spcBef>
                <a:spcPts val="0"/>
              </a:spcBef>
              <a:spcAft>
                <a:spcPts val="0"/>
              </a:spcAft>
              <a:buSzPts val="1400"/>
              <a:buFont typeface="Arial" panose="020B0604020202020204" pitchFamily="34" charset="0"/>
              <a:buNone/>
              <a:defRPr sz="1400" kern="1200">
                <a:solidFill>
                  <a:schemeClr val="tx1"/>
                </a:solidFill>
                <a:latin typeface="Hanken Grotesk"/>
                <a:ea typeface="Hanken Grotesk"/>
                <a:cs typeface="Hanken Grotesk"/>
                <a:sym typeface="Hanken Grotesk"/>
              </a:defRPr>
            </a:lvl1pPr>
            <a:lvl2pPr marL="514350" lvl="1" indent="-171450" algn="ctr" defTabSz="685800" rtl="0" eaLnBrk="1" latinLnBrk="0" hangingPunct="1">
              <a:lnSpc>
                <a:spcPct val="115000"/>
              </a:lnSpc>
              <a:spcBef>
                <a:spcPts val="0"/>
              </a:spcBef>
              <a:spcAft>
                <a:spcPts val="0"/>
              </a:spcAft>
              <a:buSzPts val="1400"/>
              <a:buFont typeface="Arial" panose="020B0604020202020204" pitchFamily="34" charset="0"/>
              <a:buNone/>
              <a:defRPr sz="1800" kern="1200">
                <a:solidFill>
                  <a:schemeClr val="tx1"/>
                </a:solidFill>
                <a:latin typeface="+mn-lt"/>
                <a:ea typeface="+mn-ea"/>
                <a:cs typeface="+mn-cs"/>
              </a:defRPr>
            </a:lvl2pPr>
            <a:lvl3pPr marL="857250" lvl="2" indent="-171450" algn="ctr" defTabSz="685800" rtl="0" eaLnBrk="1" latinLnBrk="0" hangingPunct="1">
              <a:lnSpc>
                <a:spcPct val="115000"/>
              </a:lnSpc>
              <a:spcBef>
                <a:spcPts val="0"/>
              </a:spcBef>
              <a:spcAft>
                <a:spcPts val="0"/>
              </a:spcAft>
              <a:buSzPts val="1400"/>
              <a:buFont typeface="Arial" panose="020B0604020202020204" pitchFamily="34" charset="0"/>
              <a:buNone/>
              <a:defRPr sz="1500" kern="1200">
                <a:solidFill>
                  <a:schemeClr val="tx1"/>
                </a:solidFill>
                <a:latin typeface="+mn-lt"/>
                <a:ea typeface="+mn-ea"/>
                <a:cs typeface="+mn-cs"/>
              </a:defRPr>
            </a:lvl3pPr>
            <a:lvl4pPr marL="1200150" lvl="3"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4pPr>
            <a:lvl5pPr marL="1543050" lvl="4"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5pPr>
            <a:lvl6pPr marL="1885950" lvl="5"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6pPr>
            <a:lvl7pPr marL="2228850" lvl="6"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7pPr>
            <a:lvl8pPr marL="2571750" lvl="7"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8pPr>
            <a:lvl9pPr marL="2914650" lvl="8"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9pPr>
          </a:lstStyle>
          <a:p>
            <a:pPr marL="0" indent="0"/>
            <a:r>
              <a:rPr lang="en-US" sz="1800" dirty="0"/>
              <a:t>Future Work</a:t>
            </a:r>
          </a:p>
        </p:txBody>
      </p:sp>
      <p:sp>
        <p:nvSpPr>
          <p:cNvPr id="3" name="Google Shape;313;p35">
            <a:extLst>
              <a:ext uri="{FF2B5EF4-FFF2-40B4-BE49-F238E27FC236}">
                <a16:creationId xmlns:a16="http://schemas.microsoft.com/office/drawing/2014/main" id="{DB8241FC-D2E7-CDAD-8FF5-F6FFA259EB38}"/>
              </a:ext>
            </a:extLst>
          </p:cNvPr>
          <p:cNvSpPr txBox="1">
            <a:spLocks/>
          </p:cNvSpPr>
          <p:nvPr/>
        </p:nvSpPr>
        <p:spPr>
          <a:xfrm>
            <a:off x="7635800" y="2977575"/>
            <a:ext cx="365700" cy="365700"/>
          </a:xfrm>
          <a:prstGeom prst="rect">
            <a:avLst/>
          </a:prstGeom>
          <a:solidFill>
            <a:schemeClr val="dk1"/>
          </a:solidFill>
        </p:spPr>
        <p:txBody>
          <a:bodyPr spcFirstLastPara="1" vert="horz" wrap="square" lIns="91425" tIns="91425" rIns="91425" bIns="91425" rtlCol="0" anchor="ctr" anchorCtr="0">
            <a:noAutofit/>
          </a:bodyPr>
          <a:lstStyle>
            <a:lvl1pPr lvl="0" algn="ctr" defTabSz="685800" rtl="0" eaLnBrk="1" latinLnBrk="0" hangingPunct="1">
              <a:lnSpc>
                <a:spcPct val="115000"/>
              </a:lnSpc>
              <a:spcBef>
                <a:spcPts val="0"/>
              </a:spcBef>
              <a:spcAft>
                <a:spcPts val="0"/>
              </a:spcAft>
              <a:buSzPts val="3000"/>
              <a:buNone/>
              <a:defRPr sz="1100" kern="1200">
                <a:solidFill>
                  <a:schemeClr val="lt1"/>
                </a:solidFill>
                <a:latin typeface="+mj-lt"/>
                <a:ea typeface="+mj-ea"/>
                <a:cs typeface="+mj-c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lang="en" dirty="0"/>
              <a:t>07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6"/>
          <p:cNvSpPr txBox="1">
            <a:spLocks noGrp="1"/>
          </p:cNvSpPr>
          <p:nvPr>
            <p:ph type="title"/>
          </p:nvPr>
        </p:nvSpPr>
        <p:spPr>
          <a:xfrm>
            <a:off x="1273718" y="301765"/>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Introduction</a:t>
            </a:r>
            <a:endParaRPr sz="2400" dirty="0"/>
          </a:p>
        </p:txBody>
      </p:sp>
      <p:sp>
        <p:nvSpPr>
          <p:cNvPr id="331" name="Google Shape;331;p36"/>
          <p:cNvSpPr txBox="1">
            <a:spLocks noGrp="1"/>
          </p:cNvSpPr>
          <p:nvPr>
            <p:ph type="title" idx="2"/>
          </p:nvPr>
        </p:nvSpPr>
        <p:spPr>
          <a:xfrm>
            <a:off x="272960" y="228750"/>
            <a:ext cx="824400" cy="70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30" name="Google Shape;330;p36"/>
          <p:cNvSpPr txBox="1">
            <a:spLocks noGrp="1"/>
          </p:cNvSpPr>
          <p:nvPr>
            <p:ph type="subTitle" idx="1"/>
          </p:nvPr>
        </p:nvSpPr>
        <p:spPr>
          <a:xfrm>
            <a:off x="272960" y="1361167"/>
            <a:ext cx="5487760" cy="2815123"/>
          </a:xfrm>
          <a:prstGeom prst="rect">
            <a:avLst/>
          </a:prstGeom>
        </p:spPr>
        <p:txBody>
          <a:bodyPr spcFirstLastPara="1" wrap="square" lIns="91425" tIns="91425" rIns="91425" bIns="91425" anchor="t" anchorCtr="0">
            <a:noAutofit/>
          </a:bodyPr>
          <a:lstStyle/>
          <a:p>
            <a:pPr marL="0" indent="0"/>
            <a:r>
              <a:rPr lang="en-US" sz="1800" dirty="0"/>
              <a:t>Short-term electrical load forecasting is essential for planning and operating a reliable power system. It helps utilities manage demand, reduce costs, and improve overall efficiency. The </a:t>
            </a:r>
            <a:r>
              <a:rPr lang="en-US" sz="1800" dirty="0" err="1"/>
              <a:t>Baneshwor</a:t>
            </a:r>
            <a:r>
              <a:rPr lang="en-US" sz="1800" dirty="0"/>
              <a:t> Feeder serves a mix of households, businesses, and small industries, and its load pattern shifts with time, weather, and community activities. This project explores how modern machine learning and deep learning models can forecast its hourly demand more accurately than traditional methods.</a:t>
            </a:r>
          </a:p>
          <a:p>
            <a:pPr marL="0" lvl="0" indent="0" algn="l" rtl="0">
              <a:spcBef>
                <a:spcPts val="0"/>
              </a:spcBef>
              <a:spcAft>
                <a:spcPts val="0"/>
              </a:spcAft>
              <a:buNone/>
            </a:pPr>
            <a:endParaRPr lang="en-US" sz="1800" dirty="0"/>
          </a:p>
        </p:txBody>
      </p:sp>
      <p:pic>
        <p:nvPicPr>
          <p:cNvPr id="2" name="Picture 1">
            <a:extLst>
              <a:ext uri="{FF2B5EF4-FFF2-40B4-BE49-F238E27FC236}">
                <a16:creationId xmlns:a16="http://schemas.microsoft.com/office/drawing/2014/main" id="{3F7F4FBC-54C5-B862-1125-E613B3F269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1595" y="1644097"/>
            <a:ext cx="2684565" cy="1997546"/>
          </a:xfrm>
          <a:prstGeom prst="rect">
            <a:avLst/>
          </a:prstGeom>
        </p:spPr>
      </p:pic>
      <p:sp>
        <p:nvSpPr>
          <p:cNvPr id="4" name="Google Shape;330;p36">
            <a:extLst>
              <a:ext uri="{FF2B5EF4-FFF2-40B4-BE49-F238E27FC236}">
                <a16:creationId xmlns:a16="http://schemas.microsoft.com/office/drawing/2014/main" id="{5FF01715-F226-464B-79D8-29CB630C06A4}"/>
              </a:ext>
            </a:extLst>
          </p:cNvPr>
          <p:cNvSpPr txBox="1">
            <a:spLocks/>
          </p:cNvSpPr>
          <p:nvPr/>
        </p:nvSpPr>
        <p:spPr>
          <a:xfrm>
            <a:off x="5961595" y="3723419"/>
            <a:ext cx="2700271"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1.1: </a:t>
            </a:r>
            <a:r>
              <a:rPr lang="en-US" sz="1100" i="1" dirty="0" err="1"/>
              <a:t>Baneshwor</a:t>
            </a:r>
            <a:r>
              <a:rPr lang="en-US" sz="1100" i="1" dirty="0"/>
              <a:t> Feeder View</a:t>
            </a:r>
          </a:p>
        </p:txBody>
      </p:sp>
      <p:sp>
        <p:nvSpPr>
          <p:cNvPr id="3" name="Google Shape;330;p36">
            <a:extLst>
              <a:ext uri="{FF2B5EF4-FFF2-40B4-BE49-F238E27FC236}">
                <a16:creationId xmlns:a16="http://schemas.microsoft.com/office/drawing/2014/main" id="{8AAFE696-816A-F0E9-43CD-4501DD434978}"/>
              </a:ext>
            </a:extLst>
          </p:cNvPr>
          <p:cNvSpPr txBox="1">
            <a:spLocks/>
          </p:cNvSpPr>
          <p:nvPr/>
        </p:nvSpPr>
        <p:spPr>
          <a:xfrm>
            <a:off x="272960" y="467672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1 - </a:t>
            </a:r>
            <a:fld id="{1612EBDF-BBCF-4455-9CA4-C9C775D5C22A}" type="datetime1">
              <a:rPr lang="en-US" sz="1000" smtClean="0"/>
              <a:t>12/18/2025</a:t>
            </a:fld>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up of a diagram&#10;&#10;AI-generated content may be incorrect.">
            <a:extLst>
              <a:ext uri="{FF2B5EF4-FFF2-40B4-BE49-F238E27FC236}">
                <a16:creationId xmlns:a16="http://schemas.microsoft.com/office/drawing/2014/main" id="{F207EF82-AA8F-422F-10B4-4195E1204B08}"/>
              </a:ext>
            </a:extLst>
          </p:cNvPr>
          <p:cNvPicPr>
            <a:picLocks noChangeAspect="1"/>
          </p:cNvPicPr>
          <p:nvPr/>
        </p:nvPicPr>
        <p:blipFill>
          <a:blip r:embed="rId2"/>
          <a:srcRect t="1689"/>
          <a:stretch/>
        </p:blipFill>
        <p:spPr>
          <a:xfrm>
            <a:off x="2318166" y="115039"/>
            <a:ext cx="4737532" cy="4733885"/>
          </a:xfrm>
          <a:prstGeom prst="rect">
            <a:avLst/>
          </a:prstGeom>
        </p:spPr>
      </p:pic>
      <p:sp>
        <p:nvSpPr>
          <p:cNvPr id="8" name="Google Shape;330;p36">
            <a:extLst>
              <a:ext uri="{FF2B5EF4-FFF2-40B4-BE49-F238E27FC236}">
                <a16:creationId xmlns:a16="http://schemas.microsoft.com/office/drawing/2014/main" id="{FBDCE3E4-7494-5519-A649-9C38002052DE}"/>
              </a:ext>
            </a:extLst>
          </p:cNvPr>
          <p:cNvSpPr txBox="1">
            <a:spLocks/>
          </p:cNvSpPr>
          <p:nvPr/>
        </p:nvSpPr>
        <p:spPr>
          <a:xfrm>
            <a:off x="2238572" y="4795584"/>
            <a:ext cx="4896720"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1.2: Substation &amp; Transmission Line Network </a:t>
            </a:r>
            <a:r>
              <a:rPr lang="en-US" sz="1100" i="1" dirty="0" err="1"/>
              <a:t>Baneshwor</a:t>
            </a:r>
            <a:r>
              <a:rPr lang="en-US" sz="1100" i="1" dirty="0"/>
              <a:t> </a:t>
            </a:r>
          </a:p>
        </p:txBody>
      </p:sp>
    </p:spTree>
    <p:extLst>
      <p:ext uri="{BB962C8B-B14F-4D97-AF65-F5344CB8AC3E}">
        <p14:creationId xmlns:p14="http://schemas.microsoft.com/office/powerpoint/2010/main" val="3231267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29;p36">
            <a:extLst>
              <a:ext uri="{FF2B5EF4-FFF2-40B4-BE49-F238E27FC236}">
                <a16:creationId xmlns:a16="http://schemas.microsoft.com/office/drawing/2014/main" id="{C2111AF8-C9AA-7F8C-B147-558D53F32554}"/>
              </a:ext>
            </a:extLst>
          </p:cNvPr>
          <p:cNvSpPr txBox="1">
            <a:spLocks noGrp="1"/>
          </p:cNvSpPr>
          <p:nvPr>
            <p:ph type="title"/>
          </p:nvPr>
        </p:nvSpPr>
        <p:spPr>
          <a:xfrm>
            <a:off x="1233078" y="403456"/>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Problem Statement</a:t>
            </a:r>
            <a:endParaRPr sz="2400" dirty="0"/>
          </a:p>
        </p:txBody>
      </p:sp>
      <p:sp>
        <p:nvSpPr>
          <p:cNvPr id="5" name="Google Shape;330;p36">
            <a:extLst>
              <a:ext uri="{FF2B5EF4-FFF2-40B4-BE49-F238E27FC236}">
                <a16:creationId xmlns:a16="http://schemas.microsoft.com/office/drawing/2014/main" id="{C1C0F850-0FD7-F69E-7945-BC62359D026F}"/>
              </a:ext>
            </a:extLst>
          </p:cNvPr>
          <p:cNvSpPr txBox="1">
            <a:spLocks noGrp="1"/>
          </p:cNvSpPr>
          <p:nvPr>
            <p:ph type="subTitle" idx="1"/>
          </p:nvPr>
        </p:nvSpPr>
        <p:spPr>
          <a:xfrm>
            <a:off x="283121" y="1310827"/>
            <a:ext cx="7976216" cy="2815123"/>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SzPts val="1200"/>
              <a:buFont typeface="Arial" panose="020B0604020202020204" pitchFamily="34" charset="0"/>
              <a:buChar char="•"/>
            </a:pPr>
            <a:r>
              <a:rPr lang="en-US" sz="1600" dirty="0"/>
              <a:t>Existing forecasting methods for the </a:t>
            </a:r>
            <a:r>
              <a:rPr lang="en-US" sz="1600" dirty="0" err="1"/>
              <a:t>Baneshwor</a:t>
            </a:r>
            <a:r>
              <a:rPr lang="en-US" sz="1600" dirty="0"/>
              <a:t> Feeder rely on manual estimates or traditional statistical models that struggle to capture nonlinear and rapidly changing load patterns.</a:t>
            </a:r>
          </a:p>
          <a:p>
            <a:pPr marL="171450" lvl="0" indent="-171450" algn="l" rtl="0">
              <a:spcBef>
                <a:spcPts val="0"/>
              </a:spcBef>
              <a:spcAft>
                <a:spcPts val="0"/>
              </a:spcAft>
              <a:buSzPts val="1200"/>
              <a:buFont typeface="Arial" panose="020B0604020202020204" pitchFamily="34" charset="0"/>
              <a:buChar char="•"/>
            </a:pPr>
            <a:endParaRPr lang="en-US" sz="1600" dirty="0"/>
          </a:p>
          <a:p>
            <a:pPr marL="171450" lvl="0" indent="-171450" algn="l" rtl="0">
              <a:spcBef>
                <a:spcPts val="0"/>
              </a:spcBef>
              <a:spcAft>
                <a:spcPts val="0"/>
              </a:spcAft>
              <a:buSzPts val="1200"/>
              <a:buFont typeface="Arial" panose="020B0604020202020204" pitchFamily="34" charset="0"/>
              <a:buChar char="•"/>
            </a:pPr>
            <a:r>
              <a:rPr lang="en-US" sz="1600" dirty="0"/>
              <a:t>Weather changes, calendar effects, and local demand variations make the load behavior more complex, reducing the accuracy of current forecasting practices.</a:t>
            </a:r>
          </a:p>
          <a:p>
            <a:pPr marL="171450" lvl="0" indent="-171450" algn="l" rtl="0">
              <a:spcBef>
                <a:spcPts val="0"/>
              </a:spcBef>
              <a:spcAft>
                <a:spcPts val="0"/>
              </a:spcAft>
              <a:buSzPts val="1200"/>
              <a:buFont typeface="Arial" panose="020B0604020202020204" pitchFamily="34" charset="0"/>
              <a:buChar char="•"/>
            </a:pPr>
            <a:endParaRPr lang="en-US" sz="1600" dirty="0"/>
          </a:p>
          <a:p>
            <a:pPr marL="171450" lvl="0" indent="-171450" algn="l" rtl="0">
              <a:spcBef>
                <a:spcPts val="0"/>
              </a:spcBef>
              <a:spcAft>
                <a:spcPts val="0"/>
              </a:spcAft>
              <a:buSzPts val="1200"/>
              <a:buFont typeface="Arial" panose="020B0604020202020204" pitchFamily="34" charset="0"/>
              <a:buChar char="•"/>
            </a:pPr>
            <a:r>
              <a:rPr lang="en-US" sz="1600" dirty="0"/>
              <a:t>Inaccurate forecasts lead to poor generation scheduling, higher operational costs, increased technical losses, and potential reliability issues in the distribution system.</a:t>
            </a:r>
          </a:p>
          <a:p>
            <a:pPr marL="171450" lvl="0" indent="-171450" algn="l" rtl="0">
              <a:spcBef>
                <a:spcPts val="0"/>
              </a:spcBef>
              <a:spcAft>
                <a:spcPts val="0"/>
              </a:spcAft>
              <a:buSzPts val="1200"/>
              <a:buFont typeface="Arial" panose="020B0604020202020204" pitchFamily="34" charset="0"/>
              <a:buChar char="•"/>
            </a:pPr>
            <a:endParaRPr lang="en-US" sz="1600" dirty="0"/>
          </a:p>
          <a:p>
            <a:pPr marL="171450" lvl="0" indent="-171450" algn="l" rtl="0">
              <a:spcBef>
                <a:spcPts val="0"/>
              </a:spcBef>
              <a:spcAft>
                <a:spcPts val="0"/>
              </a:spcAft>
              <a:buSzPts val="1200"/>
              <a:buFont typeface="Arial" panose="020B0604020202020204" pitchFamily="34" charset="0"/>
              <a:buChar char="•"/>
            </a:pPr>
            <a:r>
              <a:rPr lang="en-US" sz="1600" dirty="0"/>
              <a:t>There is no systematic study that applies and compares advanced machine learning and deep learning models for short-term forecasting of this specific feeder.</a:t>
            </a:r>
          </a:p>
          <a:p>
            <a:pPr marL="171450" lvl="0" indent="-171450" algn="l" rtl="0">
              <a:spcBef>
                <a:spcPts val="0"/>
              </a:spcBef>
              <a:spcAft>
                <a:spcPts val="0"/>
              </a:spcAft>
              <a:buSzPts val="1200"/>
              <a:buFont typeface="Arial" panose="020B0604020202020204" pitchFamily="34" charset="0"/>
              <a:buChar char="•"/>
            </a:pPr>
            <a:endParaRPr lang="en-US" sz="1600" dirty="0"/>
          </a:p>
        </p:txBody>
      </p:sp>
      <p:sp>
        <p:nvSpPr>
          <p:cNvPr id="6" name="Google Shape;331;p36">
            <a:extLst>
              <a:ext uri="{FF2B5EF4-FFF2-40B4-BE49-F238E27FC236}">
                <a16:creationId xmlns:a16="http://schemas.microsoft.com/office/drawing/2014/main" id="{7F3DC611-DEC2-152C-C0C8-0EAC33F35C51}"/>
              </a:ext>
            </a:extLst>
          </p:cNvPr>
          <p:cNvSpPr txBox="1">
            <a:spLocks/>
          </p:cNvSpPr>
          <p:nvPr/>
        </p:nvSpPr>
        <p:spPr>
          <a:xfrm>
            <a:off x="283120" y="257426"/>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02</a:t>
            </a:r>
            <a:endParaRPr lang="en" dirty="0"/>
          </a:p>
        </p:txBody>
      </p:sp>
      <p:sp>
        <p:nvSpPr>
          <p:cNvPr id="2" name="Google Shape;330;p36">
            <a:extLst>
              <a:ext uri="{FF2B5EF4-FFF2-40B4-BE49-F238E27FC236}">
                <a16:creationId xmlns:a16="http://schemas.microsoft.com/office/drawing/2014/main" id="{5CB62333-CA21-467C-199A-8FD628ED8659}"/>
              </a:ext>
            </a:extLst>
          </p:cNvPr>
          <p:cNvSpPr txBox="1">
            <a:spLocks/>
          </p:cNvSpPr>
          <p:nvPr/>
        </p:nvSpPr>
        <p:spPr>
          <a:xfrm>
            <a:off x="283120" y="4664223"/>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2 - </a:t>
            </a:r>
            <a:fld id="{1612EBDF-BBCF-4455-9CA4-C9C775D5C22A}" type="datetime1">
              <a:rPr lang="en-US" sz="1000" smtClean="0"/>
              <a:t>12/18/2025</a:t>
            </a:fld>
            <a:endParaRPr lang="en-US" sz="1000" dirty="0"/>
          </a:p>
        </p:txBody>
      </p:sp>
    </p:spTree>
    <p:extLst>
      <p:ext uri="{BB962C8B-B14F-4D97-AF65-F5344CB8AC3E}">
        <p14:creationId xmlns:p14="http://schemas.microsoft.com/office/powerpoint/2010/main" val="1104106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7"/>
          <p:cNvSpPr txBox="1">
            <a:spLocks noGrp="1"/>
          </p:cNvSpPr>
          <p:nvPr>
            <p:ph type="title"/>
          </p:nvPr>
        </p:nvSpPr>
        <p:spPr>
          <a:xfrm>
            <a:off x="1053898" y="296307"/>
            <a:ext cx="7710900" cy="622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Objectives</a:t>
            </a:r>
            <a:endParaRPr dirty="0"/>
          </a:p>
        </p:txBody>
      </p:sp>
      <p:sp>
        <p:nvSpPr>
          <p:cNvPr id="337" name="Google Shape;337;p37"/>
          <p:cNvSpPr txBox="1">
            <a:spLocks noGrp="1"/>
          </p:cNvSpPr>
          <p:nvPr>
            <p:ph type="subTitle" idx="1"/>
          </p:nvPr>
        </p:nvSpPr>
        <p:spPr>
          <a:xfrm>
            <a:off x="927211" y="1250819"/>
            <a:ext cx="7598060" cy="833259"/>
          </a:xfrm>
          <a:prstGeom prst="rect">
            <a:avLst/>
          </a:prstGeom>
        </p:spPr>
        <p:txBody>
          <a:bodyPr spcFirstLastPara="1" wrap="square" lIns="91425" tIns="91425" rIns="91425" bIns="91425" anchor="t" anchorCtr="0">
            <a:noAutofit/>
          </a:bodyPr>
          <a:lstStyle/>
          <a:p>
            <a:r>
              <a:rPr lang="en-US" dirty="0"/>
              <a:t>    To develop an accurate short-term electrical load forecasting model for the </a:t>
            </a:r>
            <a:r>
              <a:rPr lang="en-US" dirty="0" err="1"/>
              <a:t>Baneshwor</a:t>
            </a:r>
            <a:r>
              <a:rPr lang="en-US" dirty="0"/>
              <a:t> Feeder by integrating cleaned load data, weather variables, and advanced ML/DL techniques.</a:t>
            </a:r>
          </a:p>
        </p:txBody>
      </p:sp>
      <p:sp>
        <p:nvSpPr>
          <p:cNvPr id="340" name="Google Shape;340;p37"/>
          <p:cNvSpPr txBox="1">
            <a:spLocks noGrp="1"/>
          </p:cNvSpPr>
          <p:nvPr>
            <p:ph type="subTitle" idx="4"/>
          </p:nvPr>
        </p:nvSpPr>
        <p:spPr>
          <a:xfrm>
            <a:off x="1105630" y="790139"/>
            <a:ext cx="6613200" cy="53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dirty="0"/>
              <a:t>Main Objective</a:t>
            </a:r>
            <a:endParaRPr sz="1600" dirty="0"/>
          </a:p>
        </p:txBody>
      </p:sp>
      <p:sp>
        <p:nvSpPr>
          <p:cNvPr id="2" name="Google Shape;331;p36">
            <a:extLst>
              <a:ext uri="{FF2B5EF4-FFF2-40B4-BE49-F238E27FC236}">
                <a16:creationId xmlns:a16="http://schemas.microsoft.com/office/drawing/2014/main" id="{4ADBD699-4F2A-0DF1-3355-47A9E12D9797}"/>
              </a:ext>
            </a:extLst>
          </p:cNvPr>
          <p:cNvSpPr txBox="1">
            <a:spLocks/>
          </p:cNvSpPr>
          <p:nvPr/>
        </p:nvSpPr>
        <p:spPr>
          <a:xfrm>
            <a:off x="231235" y="23149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03</a:t>
            </a:r>
            <a:endParaRPr lang="en" dirty="0"/>
          </a:p>
        </p:txBody>
      </p:sp>
      <p:sp>
        <p:nvSpPr>
          <p:cNvPr id="3" name="Google Shape;330;p36">
            <a:extLst>
              <a:ext uri="{FF2B5EF4-FFF2-40B4-BE49-F238E27FC236}">
                <a16:creationId xmlns:a16="http://schemas.microsoft.com/office/drawing/2014/main" id="{95D11FBD-16EF-9E0E-89BB-48A085204F1B}"/>
              </a:ext>
            </a:extLst>
          </p:cNvPr>
          <p:cNvSpPr txBox="1">
            <a:spLocks/>
          </p:cNvSpPr>
          <p:nvPr/>
        </p:nvSpPr>
        <p:spPr>
          <a:xfrm>
            <a:off x="288820" y="4617639"/>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3 - </a:t>
            </a:r>
            <a:fld id="{1612EBDF-BBCF-4455-9CA4-C9C775D5C22A}" type="datetime1">
              <a:rPr lang="en-US" sz="1000" smtClean="0"/>
              <a:t>12/18/2025</a:t>
            </a:fld>
            <a:endParaRPr lang="en-US" sz="1000" dirty="0"/>
          </a:p>
        </p:txBody>
      </p:sp>
      <p:sp>
        <p:nvSpPr>
          <p:cNvPr id="12" name="Google Shape;337;p37">
            <a:extLst>
              <a:ext uri="{FF2B5EF4-FFF2-40B4-BE49-F238E27FC236}">
                <a16:creationId xmlns:a16="http://schemas.microsoft.com/office/drawing/2014/main" id="{8B759DFD-2696-0808-14AD-CE656FF7C080}"/>
              </a:ext>
            </a:extLst>
          </p:cNvPr>
          <p:cNvSpPr txBox="1">
            <a:spLocks/>
          </p:cNvSpPr>
          <p:nvPr/>
        </p:nvSpPr>
        <p:spPr>
          <a:xfrm>
            <a:off x="1210820" y="2557832"/>
            <a:ext cx="7598060" cy="1957135"/>
          </a:xfrm>
          <a:prstGeom prst="rect">
            <a:avLst/>
          </a:prstGeom>
        </p:spPr>
        <p:txBody>
          <a:bodyPr spcFirstLastPara="1" vert="horz" wrap="square" lIns="91425" tIns="91425" rIns="91425" bIns="91425" rtlCol="0" anchor="t" anchorCtr="0">
            <a:noAutofit/>
          </a:bodyPr>
          <a:lstStyle>
            <a:lvl1pPr marL="171450" lvl="0" indent="-171450" algn="l" defTabSz="685800" rtl="0" eaLnBrk="1" latinLnBrk="0" hangingPunct="1">
              <a:lnSpc>
                <a:spcPct val="115000"/>
              </a:lnSpc>
              <a:spcBef>
                <a:spcPts val="0"/>
              </a:spcBef>
              <a:spcAft>
                <a:spcPts val="0"/>
              </a:spcAft>
              <a:buSzPts val="1400"/>
              <a:buFont typeface="Arial" panose="020B0604020202020204" pitchFamily="34" charset="0"/>
              <a:buNone/>
              <a:defRPr sz="1400" kern="1200">
                <a:solidFill>
                  <a:schemeClr val="tx1"/>
                </a:solidFill>
                <a:latin typeface="Hanken Grotesk"/>
                <a:ea typeface="Hanken Grotesk"/>
                <a:cs typeface="Hanken Grotesk"/>
                <a:sym typeface="Hanken Grotesk"/>
              </a:defRPr>
            </a:lvl1pPr>
            <a:lvl2pPr marL="514350" lvl="1" indent="-171450" algn="l" defTabSz="685800" rtl="0" eaLnBrk="1" latinLnBrk="0" hangingPunct="1">
              <a:lnSpc>
                <a:spcPct val="115000"/>
              </a:lnSpc>
              <a:spcBef>
                <a:spcPts val="0"/>
              </a:spcBef>
              <a:spcAft>
                <a:spcPts val="0"/>
              </a:spcAft>
              <a:buSzPts val="1400"/>
              <a:buFont typeface="Arial" panose="020B0604020202020204" pitchFamily="34" charset="0"/>
              <a:buNone/>
              <a:defRPr sz="1800" kern="1200">
                <a:solidFill>
                  <a:schemeClr val="tx1"/>
                </a:solidFill>
                <a:latin typeface="+mn-lt"/>
                <a:ea typeface="+mn-ea"/>
                <a:cs typeface="+mn-cs"/>
              </a:defRPr>
            </a:lvl2pPr>
            <a:lvl3pPr marL="857250" lvl="2" indent="-171450" algn="l" defTabSz="685800" rtl="0" eaLnBrk="1" latinLnBrk="0" hangingPunct="1">
              <a:lnSpc>
                <a:spcPct val="115000"/>
              </a:lnSpc>
              <a:spcBef>
                <a:spcPts val="0"/>
              </a:spcBef>
              <a:spcAft>
                <a:spcPts val="0"/>
              </a:spcAft>
              <a:buSzPts val="1400"/>
              <a:buFont typeface="Arial" panose="020B0604020202020204" pitchFamily="34" charset="0"/>
              <a:buNone/>
              <a:defRPr sz="1500" kern="1200">
                <a:solidFill>
                  <a:schemeClr val="tx1"/>
                </a:solidFill>
                <a:latin typeface="+mn-lt"/>
                <a:ea typeface="+mn-ea"/>
                <a:cs typeface="+mn-cs"/>
              </a:defRPr>
            </a:lvl3pPr>
            <a:lvl4pPr marL="1200150" lvl="3" indent="-171450" algn="l"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4pPr>
            <a:lvl5pPr marL="1543050" lvl="4" indent="-171450" algn="l"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5pPr>
            <a:lvl6pPr marL="1885950" lvl="5" indent="-171450" algn="l"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6pPr>
            <a:lvl7pPr marL="2228850" lvl="6" indent="-171450" algn="l"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7pPr>
            <a:lvl8pPr marL="2571750" lvl="7" indent="-171450" algn="l"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8pPr>
            <a:lvl9pPr marL="2914650" lvl="8" indent="-171450" algn="l"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9pPr>
          </a:lstStyle>
          <a:p>
            <a:pPr marL="285750" indent="-285750">
              <a:buFont typeface="Arial" panose="020B0604020202020204" pitchFamily="34" charset="0"/>
              <a:buChar char="•"/>
            </a:pPr>
            <a:r>
              <a:rPr lang="en-US" dirty="0"/>
              <a:t>To collect, clean, and standardize multi-year feeder load and weather data</a:t>
            </a:r>
          </a:p>
          <a:p>
            <a:pPr marL="285750" indent="-285750">
              <a:buFont typeface="Arial" panose="020B0604020202020204" pitchFamily="34" charset="0"/>
              <a:buChar char="•"/>
            </a:pPr>
            <a:r>
              <a:rPr lang="en-US" dirty="0"/>
              <a:t>To engineer meaningful temporal and weather-based features for forecasting</a:t>
            </a:r>
          </a:p>
          <a:p>
            <a:pPr marL="285750" indent="-285750">
              <a:buFont typeface="Arial" panose="020B0604020202020204" pitchFamily="34" charset="0"/>
              <a:buChar char="•"/>
            </a:pPr>
            <a:r>
              <a:rPr lang="en-US" dirty="0"/>
              <a:t>To compare the performance of ML models (LR, Ridge, SVR, RF, GBR, </a:t>
            </a:r>
            <a:r>
              <a:rPr lang="en-US" dirty="0" err="1"/>
              <a:t>XGBoost</a:t>
            </a:r>
            <a:r>
              <a:rPr lang="en-US" dirty="0"/>
              <a:t>)</a:t>
            </a:r>
          </a:p>
          <a:p>
            <a:pPr marL="285750" indent="-285750">
              <a:buFont typeface="Arial" panose="020B0604020202020204" pitchFamily="34" charset="0"/>
              <a:buChar char="•"/>
            </a:pPr>
            <a:r>
              <a:rPr lang="en-US" dirty="0"/>
              <a:t>To evaluate deep learning models (MLP, LSTM, GRU) using sequential forecasting methods</a:t>
            </a:r>
          </a:p>
          <a:p>
            <a:pPr marL="285750" indent="-285750">
              <a:buFont typeface="Arial" panose="020B0604020202020204" pitchFamily="34" charset="0"/>
              <a:buChar char="•"/>
            </a:pPr>
            <a:r>
              <a:rPr lang="en-US" dirty="0"/>
              <a:t>To identify the best-performing model based on RMSE, MAE, MAPE, and R²</a:t>
            </a:r>
          </a:p>
          <a:p>
            <a:pPr marL="285750" indent="-285750">
              <a:buFont typeface="Arial" panose="020B0604020202020204" pitchFamily="34" charset="0"/>
              <a:buChar char="•"/>
            </a:pPr>
            <a:r>
              <a:rPr lang="en-US" dirty="0"/>
              <a:t>To visualize load behavior across daily, weekly, and seasonal patterns</a:t>
            </a:r>
          </a:p>
          <a:p>
            <a:pPr marL="285750" indent="-285750">
              <a:buFont typeface="Arial" panose="020B0604020202020204" pitchFamily="34" charset="0"/>
              <a:buChar char="•"/>
            </a:pPr>
            <a:r>
              <a:rPr lang="en-US" dirty="0"/>
              <a:t>To prepare a final forecasting framework suitable for real-world feeder operations</a:t>
            </a:r>
          </a:p>
        </p:txBody>
      </p:sp>
      <p:sp>
        <p:nvSpPr>
          <p:cNvPr id="13" name="Google Shape;340;p37">
            <a:extLst>
              <a:ext uri="{FF2B5EF4-FFF2-40B4-BE49-F238E27FC236}">
                <a16:creationId xmlns:a16="http://schemas.microsoft.com/office/drawing/2014/main" id="{F1E839DB-A992-7A12-61DD-ABFC5598D34C}"/>
              </a:ext>
            </a:extLst>
          </p:cNvPr>
          <p:cNvSpPr txBox="1">
            <a:spLocks/>
          </p:cNvSpPr>
          <p:nvPr/>
        </p:nvSpPr>
        <p:spPr>
          <a:xfrm>
            <a:off x="1105630" y="2084078"/>
            <a:ext cx="6613200" cy="530400"/>
          </a:xfrm>
          <a:prstGeom prst="rect">
            <a:avLst/>
          </a:prstGeom>
        </p:spPr>
        <p:txBody>
          <a:bodyPr spcFirstLastPara="1" vert="horz" wrap="square" lIns="91425" tIns="91425" rIns="91425" bIns="91425" rtlCol="0" anchor="b" anchorCtr="0">
            <a:noAutofit/>
          </a:bodyPr>
          <a:lstStyle>
            <a:lvl1pPr marL="171450" lvl="0" indent="-171450" algn="l" defTabSz="685800" rtl="0" eaLnBrk="1" latinLnBrk="0" hangingPunct="1">
              <a:lnSpc>
                <a:spcPct val="115000"/>
              </a:lnSpc>
              <a:spcBef>
                <a:spcPts val="0"/>
              </a:spcBef>
              <a:spcAft>
                <a:spcPts val="0"/>
              </a:spcAft>
              <a:buSzPts val="2400"/>
              <a:buFont typeface="Figtree Black"/>
              <a:buNone/>
              <a:defRPr sz="1900" kern="1200">
                <a:solidFill>
                  <a:schemeClr val="tx1"/>
                </a:solidFill>
                <a:latin typeface="Figtree Black"/>
                <a:ea typeface="Figtree Black"/>
                <a:cs typeface="Figtree Black"/>
                <a:sym typeface="Figtree Black"/>
              </a:defRPr>
            </a:lvl1pPr>
            <a:lvl2pPr marL="514350" lvl="1" indent="-171450" algn="l" defTabSz="685800" rtl="0" eaLnBrk="1" latinLnBrk="0" hangingPunct="1">
              <a:lnSpc>
                <a:spcPct val="115000"/>
              </a:lnSpc>
              <a:spcBef>
                <a:spcPts val="0"/>
              </a:spcBef>
              <a:spcAft>
                <a:spcPts val="0"/>
              </a:spcAft>
              <a:buSzPts val="2400"/>
              <a:buFont typeface="Figtree Black"/>
              <a:buNone/>
              <a:defRPr sz="2400" kern="1200">
                <a:solidFill>
                  <a:schemeClr val="tx1"/>
                </a:solidFill>
                <a:latin typeface="Figtree Black"/>
                <a:ea typeface="Figtree Black"/>
                <a:cs typeface="Figtree Black"/>
                <a:sym typeface="Figtree Black"/>
              </a:defRPr>
            </a:lvl2pPr>
            <a:lvl3pPr marL="857250" lvl="2" indent="-171450" algn="l" defTabSz="685800" rtl="0" eaLnBrk="1" latinLnBrk="0" hangingPunct="1">
              <a:lnSpc>
                <a:spcPct val="115000"/>
              </a:lnSpc>
              <a:spcBef>
                <a:spcPts val="0"/>
              </a:spcBef>
              <a:spcAft>
                <a:spcPts val="0"/>
              </a:spcAft>
              <a:buSzPts val="2400"/>
              <a:buFont typeface="Figtree Black"/>
              <a:buNone/>
              <a:defRPr sz="2400" kern="1200">
                <a:solidFill>
                  <a:schemeClr val="tx1"/>
                </a:solidFill>
                <a:latin typeface="Figtree Black"/>
                <a:ea typeface="Figtree Black"/>
                <a:cs typeface="Figtree Black"/>
                <a:sym typeface="Figtree Black"/>
              </a:defRPr>
            </a:lvl3pPr>
            <a:lvl4pPr marL="1200150" lvl="3" indent="-171450" algn="l" defTabSz="685800" rtl="0" eaLnBrk="1" latinLnBrk="0" hangingPunct="1">
              <a:lnSpc>
                <a:spcPct val="115000"/>
              </a:lnSpc>
              <a:spcBef>
                <a:spcPts val="0"/>
              </a:spcBef>
              <a:spcAft>
                <a:spcPts val="0"/>
              </a:spcAft>
              <a:buSzPts val="2400"/>
              <a:buFont typeface="Figtree Black"/>
              <a:buNone/>
              <a:defRPr sz="2400" kern="1200">
                <a:solidFill>
                  <a:schemeClr val="tx1"/>
                </a:solidFill>
                <a:latin typeface="Figtree Black"/>
                <a:ea typeface="Figtree Black"/>
                <a:cs typeface="Figtree Black"/>
                <a:sym typeface="Figtree Black"/>
              </a:defRPr>
            </a:lvl4pPr>
            <a:lvl5pPr marL="1543050" lvl="4" indent="-171450" algn="l" defTabSz="685800" rtl="0" eaLnBrk="1" latinLnBrk="0" hangingPunct="1">
              <a:lnSpc>
                <a:spcPct val="115000"/>
              </a:lnSpc>
              <a:spcBef>
                <a:spcPts val="0"/>
              </a:spcBef>
              <a:spcAft>
                <a:spcPts val="0"/>
              </a:spcAft>
              <a:buSzPts val="2400"/>
              <a:buFont typeface="Figtree Black"/>
              <a:buNone/>
              <a:defRPr sz="2400" kern="1200">
                <a:solidFill>
                  <a:schemeClr val="tx1"/>
                </a:solidFill>
                <a:latin typeface="Figtree Black"/>
                <a:ea typeface="Figtree Black"/>
                <a:cs typeface="Figtree Black"/>
                <a:sym typeface="Figtree Black"/>
              </a:defRPr>
            </a:lvl5pPr>
            <a:lvl6pPr marL="1885950" lvl="5" indent="-171450" algn="l" defTabSz="685800" rtl="0" eaLnBrk="1" latinLnBrk="0" hangingPunct="1">
              <a:lnSpc>
                <a:spcPct val="115000"/>
              </a:lnSpc>
              <a:spcBef>
                <a:spcPts val="0"/>
              </a:spcBef>
              <a:spcAft>
                <a:spcPts val="0"/>
              </a:spcAft>
              <a:buSzPts val="2400"/>
              <a:buFont typeface="Figtree Black"/>
              <a:buNone/>
              <a:defRPr sz="2400" kern="1200">
                <a:solidFill>
                  <a:schemeClr val="tx1"/>
                </a:solidFill>
                <a:latin typeface="Figtree Black"/>
                <a:ea typeface="Figtree Black"/>
                <a:cs typeface="Figtree Black"/>
                <a:sym typeface="Figtree Black"/>
              </a:defRPr>
            </a:lvl6pPr>
            <a:lvl7pPr marL="2228850" lvl="6" indent="-171450" algn="l" defTabSz="685800" rtl="0" eaLnBrk="1" latinLnBrk="0" hangingPunct="1">
              <a:lnSpc>
                <a:spcPct val="115000"/>
              </a:lnSpc>
              <a:spcBef>
                <a:spcPts val="0"/>
              </a:spcBef>
              <a:spcAft>
                <a:spcPts val="0"/>
              </a:spcAft>
              <a:buSzPts val="2400"/>
              <a:buFont typeface="Figtree Black"/>
              <a:buNone/>
              <a:defRPr sz="2400" kern="1200">
                <a:solidFill>
                  <a:schemeClr val="tx1"/>
                </a:solidFill>
                <a:latin typeface="Figtree Black"/>
                <a:ea typeface="Figtree Black"/>
                <a:cs typeface="Figtree Black"/>
                <a:sym typeface="Figtree Black"/>
              </a:defRPr>
            </a:lvl7pPr>
            <a:lvl8pPr marL="2571750" lvl="7" indent="-171450" algn="l" defTabSz="685800" rtl="0" eaLnBrk="1" latinLnBrk="0" hangingPunct="1">
              <a:lnSpc>
                <a:spcPct val="115000"/>
              </a:lnSpc>
              <a:spcBef>
                <a:spcPts val="0"/>
              </a:spcBef>
              <a:spcAft>
                <a:spcPts val="0"/>
              </a:spcAft>
              <a:buSzPts val="2400"/>
              <a:buFont typeface="Figtree Black"/>
              <a:buNone/>
              <a:defRPr sz="2400" kern="1200">
                <a:solidFill>
                  <a:schemeClr val="tx1"/>
                </a:solidFill>
                <a:latin typeface="Figtree Black"/>
                <a:ea typeface="Figtree Black"/>
                <a:cs typeface="Figtree Black"/>
                <a:sym typeface="Figtree Black"/>
              </a:defRPr>
            </a:lvl8pPr>
            <a:lvl9pPr marL="2914650" lvl="8" indent="-171450" algn="l" defTabSz="685800" rtl="0" eaLnBrk="1" latinLnBrk="0" hangingPunct="1">
              <a:lnSpc>
                <a:spcPct val="115000"/>
              </a:lnSpc>
              <a:spcBef>
                <a:spcPts val="0"/>
              </a:spcBef>
              <a:spcAft>
                <a:spcPts val="0"/>
              </a:spcAft>
              <a:buSzPts val="2400"/>
              <a:buFont typeface="Figtree Black"/>
              <a:buNone/>
              <a:defRPr sz="2400" kern="1200">
                <a:solidFill>
                  <a:schemeClr val="tx1"/>
                </a:solidFill>
                <a:latin typeface="Figtree Black"/>
                <a:ea typeface="Figtree Black"/>
                <a:cs typeface="Figtree Black"/>
                <a:sym typeface="Figtree Black"/>
              </a:defRPr>
            </a:lvl9pPr>
          </a:lstStyle>
          <a:p>
            <a:pPr marL="0" indent="0"/>
            <a:r>
              <a:rPr lang="en-US" sz="1600" dirty="0"/>
              <a:t>Specific Objective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7"/>
          <p:cNvSpPr txBox="1">
            <a:spLocks noGrp="1"/>
          </p:cNvSpPr>
          <p:nvPr>
            <p:ph type="title"/>
          </p:nvPr>
        </p:nvSpPr>
        <p:spPr>
          <a:xfrm>
            <a:off x="1053898" y="296307"/>
            <a:ext cx="7710900" cy="622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Literature Review</a:t>
            </a:r>
            <a:endParaRPr dirty="0"/>
          </a:p>
        </p:txBody>
      </p:sp>
      <p:sp>
        <p:nvSpPr>
          <p:cNvPr id="2" name="Google Shape;331;p36">
            <a:extLst>
              <a:ext uri="{FF2B5EF4-FFF2-40B4-BE49-F238E27FC236}">
                <a16:creationId xmlns:a16="http://schemas.microsoft.com/office/drawing/2014/main" id="{4ADBD699-4F2A-0DF1-3355-47A9E12D9797}"/>
              </a:ext>
            </a:extLst>
          </p:cNvPr>
          <p:cNvSpPr txBox="1">
            <a:spLocks/>
          </p:cNvSpPr>
          <p:nvPr/>
        </p:nvSpPr>
        <p:spPr>
          <a:xfrm>
            <a:off x="231235" y="23149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04</a:t>
            </a:r>
            <a:endParaRPr lang="en" dirty="0"/>
          </a:p>
        </p:txBody>
      </p:sp>
      <p:sp>
        <p:nvSpPr>
          <p:cNvPr id="3" name="Google Shape;330;p36">
            <a:extLst>
              <a:ext uri="{FF2B5EF4-FFF2-40B4-BE49-F238E27FC236}">
                <a16:creationId xmlns:a16="http://schemas.microsoft.com/office/drawing/2014/main" id="{95D11FBD-16EF-9E0E-89BB-48A085204F1B}"/>
              </a:ext>
            </a:extLst>
          </p:cNvPr>
          <p:cNvSpPr txBox="1">
            <a:spLocks/>
          </p:cNvSpPr>
          <p:nvPr/>
        </p:nvSpPr>
        <p:spPr>
          <a:xfrm>
            <a:off x="288820" y="4617639"/>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5 - </a:t>
            </a:r>
            <a:fld id="{1612EBDF-BBCF-4455-9CA4-C9C775D5C22A}" type="datetime1">
              <a:rPr lang="en-US" sz="1000" smtClean="0"/>
              <a:t>12/18/2025</a:t>
            </a:fld>
            <a:endParaRPr lang="en-US" sz="1000" dirty="0"/>
          </a:p>
        </p:txBody>
      </p:sp>
      <p:graphicFrame>
        <p:nvGraphicFramePr>
          <p:cNvPr id="7" name="Table 6">
            <a:extLst>
              <a:ext uri="{FF2B5EF4-FFF2-40B4-BE49-F238E27FC236}">
                <a16:creationId xmlns:a16="http://schemas.microsoft.com/office/drawing/2014/main" id="{E12A951F-F208-D7BE-8893-D86C756CBC5A}"/>
              </a:ext>
            </a:extLst>
          </p:cNvPr>
          <p:cNvGraphicFramePr>
            <a:graphicFrameLocks noGrp="1"/>
          </p:cNvGraphicFramePr>
          <p:nvPr>
            <p:extLst>
              <p:ext uri="{D42A27DB-BD31-4B8C-83A1-F6EECF244321}">
                <p14:modId xmlns:p14="http://schemas.microsoft.com/office/powerpoint/2010/main" val="513868440"/>
              </p:ext>
            </p:extLst>
          </p:nvPr>
        </p:nvGraphicFramePr>
        <p:xfrm>
          <a:off x="236782" y="1001307"/>
          <a:ext cx="8676761" cy="3598820"/>
        </p:xfrm>
        <a:graphic>
          <a:graphicData uri="http://schemas.openxmlformats.org/drawingml/2006/table">
            <a:tbl>
              <a:tblPr>
                <a:tableStyleId>{E67C124C-4383-4433-BF00-F876295D7A82}</a:tableStyleId>
              </a:tblPr>
              <a:tblGrid>
                <a:gridCol w="432485">
                  <a:extLst>
                    <a:ext uri="{9D8B030D-6E8A-4147-A177-3AD203B41FA5}">
                      <a16:colId xmlns:a16="http://schemas.microsoft.com/office/drawing/2014/main" val="3584260832"/>
                    </a:ext>
                  </a:extLst>
                </a:gridCol>
                <a:gridCol w="1427163">
                  <a:extLst>
                    <a:ext uri="{9D8B030D-6E8A-4147-A177-3AD203B41FA5}">
                      <a16:colId xmlns:a16="http://schemas.microsoft.com/office/drawing/2014/main" val="3374230467"/>
                    </a:ext>
                  </a:extLst>
                </a:gridCol>
                <a:gridCol w="988742">
                  <a:extLst>
                    <a:ext uri="{9D8B030D-6E8A-4147-A177-3AD203B41FA5}">
                      <a16:colId xmlns:a16="http://schemas.microsoft.com/office/drawing/2014/main" val="299431323"/>
                    </a:ext>
                  </a:extLst>
                </a:gridCol>
                <a:gridCol w="1367883">
                  <a:extLst>
                    <a:ext uri="{9D8B030D-6E8A-4147-A177-3AD203B41FA5}">
                      <a16:colId xmlns:a16="http://schemas.microsoft.com/office/drawing/2014/main" val="1406253806"/>
                    </a:ext>
                  </a:extLst>
                </a:gridCol>
                <a:gridCol w="1308409">
                  <a:extLst>
                    <a:ext uri="{9D8B030D-6E8A-4147-A177-3AD203B41FA5}">
                      <a16:colId xmlns:a16="http://schemas.microsoft.com/office/drawing/2014/main" val="857229933"/>
                    </a:ext>
                  </a:extLst>
                </a:gridCol>
                <a:gridCol w="1539265">
                  <a:extLst>
                    <a:ext uri="{9D8B030D-6E8A-4147-A177-3AD203B41FA5}">
                      <a16:colId xmlns:a16="http://schemas.microsoft.com/office/drawing/2014/main" val="2429128117"/>
                    </a:ext>
                  </a:extLst>
                </a:gridCol>
                <a:gridCol w="1612814">
                  <a:extLst>
                    <a:ext uri="{9D8B030D-6E8A-4147-A177-3AD203B41FA5}">
                      <a16:colId xmlns:a16="http://schemas.microsoft.com/office/drawing/2014/main" val="1763966613"/>
                    </a:ext>
                  </a:extLst>
                </a:gridCol>
              </a:tblGrid>
              <a:tr h="289339">
                <a:tc>
                  <a:txBody>
                    <a:bodyPr/>
                    <a:lstStyle/>
                    <a:p>
                      <a:pPr algn="ctr" fontAlgn="ctr"/>
                      <a:r>
                        <a:rPr lang="en-US" sz="1100" u="none" strike="noStrike">
                          <a:effectLst/>
                        </a:rPr>
                        <a:t>S.N.</a:t>
                      </a:r>
                      <a:endParaRPr lang="en-US" sz="1100" b="1"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Author(s) &amp; Year</a:t>
                      </a:r>
                      <a:endParaRPr lang="en-US" sz="1100" b="1"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Models Used</a:t>
                      </a:r>
                      <a:endParaRPr lang="en-US" sz="1100" b="1"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Input Features</a:t>
                      </a:r>
                      <a:endParaRPr lang="en-US" sz="1100" b="1"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Dataset / Study Area</a:t>
                      </a:r>
                      <a:endParaRPr lang="en-US" sz="1100" b="1"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dirty="0">
                          <a:effectLst/>
                        </a:rPr>
                        <a:t>Key Findings</a:t>
                      </a:r>
                      <a:endParaRPr lang="en-US" sz="1100" b="1" i="0" u="none" strike="noStrike" dirty="0">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Research Contribution</a:t>
                      </a:r>
                      <a:endParaRPr lang="en-US" sz="1100" b="1" i="0" u="none" strike="noStrike">
                        <a:solidFill>
                          <a:srgbClr val="000000"/>
                        </a:solidFill>
                        <a:effectLst/>
                        <a:latin typeface="Aptos" panose="020B0004020202020204" pitchFamily="34" charset="0"/>
                      </a:endParaRPr>
                    </a:p>
                  </a:txBody>
                  <a:tcPr marL="2498" marR="2498" marT="2498" marB="0" anchor="ctr"/>
                </a:tc>
                <a:extLst>
                  <a:ext uri="{0D108BD9-81ED-4DB2-BD59-A6C34878D82A}">
                    <a16:rowId xmlns:a16="http://schemas.microsoft.com/office/drawing/2014/main" val="427265425"/>
                  </a:ext>
                </a:extLst>
              </a:tr>
              <a:tr h="934150">
                <a:tc>
                  <a:txBody>
                    <a:bodyPr/>
                    <a:lstStyle/>
                    <a:p>
                      <a:pPr algn="ctr" fontAlgn="ctr"/>
                      <a:r>
                        <a:rPr lang="en-US" sz="1100" u="none" strike="noStrike">
                          <a:effectLst/>
                        </a:rPr>
                        <a:t>1</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dirty="0">
                          <a:effectLst/>
                        </a:rPr>
                        <a:t>Singla et al. (2019)</a:t>
                      </a:r>
                      <a:endParaRPr lang="en-US" sz="1100" b="0" i="0" u="none" strike="noStrike" dirty="0">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ANN</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Dew point, dry bulb temperature, humidity</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Power system dataset</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dirty="0">
                          <a:effectLst/>
                        </a:rPr>
                        <a:t>ANN effectively captured nonlinear relation between weather and load</a:t>
                      </a:r>
                      <a:endParaRPr lang="en-US" sz="1100" b="0" i="0" u="none" strike="noStrike" dirty="0">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Demonstrated ANN suitability for STLF</a:t>
                      </a:r>
                      <a:endParaRPr lang="en-US" sz="1100" b="0" i="0" u="none" strike="noStrike">
                        <a:solidFill>
                          <a:srgbClr val="000000"/>
                        </a:solidFill>
                        <a:effectLst/>
                        <a:latin typeface="Aptos" panose="020B0004020202020204" pitchFamily="34" charset="0"/>
                      </a:endParaRPr>
                    </a:p>
                  </a:txBody>
                  <a:tcPr marL="2498" marR="2498" marT="2498" marB="0" anchor="ctr"/>
                </a:tc>
                <a:extLst>
                  <a:ext uri="{0D108BD9-81ED-4DB2-BD59-A6C34878D82A}">
                    <a16:rowId xmlns:a16="http://schemas.microsoft.com/office/drawing/2014/main" val="444864778"/>
                  </a:ext>
                </a:extLst>
              </a:tr>
              <a:tr h="647567">
                <a:tc>
                  <a:txBody>
                    <a:bodyPr/>
                    <a:lstStyle/>
                    <a:p>
                      <a:pPr algn="ctr" fontAlgn="ctr"/>
                      <a:r>
                        <a:rPr lang="en-US" sz="1100" u="none" strike="noStrike">
                          <a:effectLst/>
                        </a:rPr>
                        <a:t>2</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Desai et al. (2021)</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Prophet (Meta)</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Time, temperature, humidity, weather forecast</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Electrical load data</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Prophet handled seasonality and missing data efficiently</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Introduced statistical ML hybrid for STLF</a:t>
                      </a:r>
                      <a:endParaRPr lang="en-US" sz="1100" b="0" i="0" u="none" strike="noStrike">
                        <a:solidFill>
                          <a:srgbClr val="000000"/>
                        </a:solidFill>
                        <a:effectLst/>
                        <a:latin typeface="Aptos" panose="020B0004020202020204" pitchFamily="34" charset="0"/>
                      </a:endParaRPr>
                    </a:p>
                  </a:txBody>
                  <a:tcPr marL="2498" marR="2498" marT="2498" marB="0" anchor="ctr"/>
                </a:tc>
                <a:extLst>
                  <a:ext uri="{0D108BD9-81ED-4DB2-BD59-A6C34878D82A}">
                    <a16:rowId xmlns:a16="http://schemas.microsoft.com/office/drawing/2014/main" val="2167519520"/>
                  </a:ext>
                </a:extLst>
              </a:tr>
              <a:tr h="647567">
                <a:tc>
                  <a:txBody>
                    <a:bodyPr/>
                    <a:lstStyle/>
                    <a:p>
                      <a:pPr algn="ctr" fontAlgn="ctr"/>
                      <a:r>
                        <a:rPr lang="en-US" sz="1100" u="none" strike="noStrike">
                          <a:effectLst/>
                        </a:rPr>
                        <a:t>3</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Matrenin et al. (2022)</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XGBoost, AdaBoost, RF, SVR, DT</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Historical load data</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Isolated power systems</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Gradient boosting models outperformed traditional ML</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Highlighted superiority of ensemble boosting</a:t>
                      </a:r>
                      <a:endParaRPr lang="en-US" sz="1100" b="0" i="0" u="none" strike="noStrike">
                        <a:solidFill>
                          <a:srgbClr val="000000"/>
                        </a:solidFill>
                        <a:effectLst/>
                        <a:latin typeface="Aptos" panose="020B0004020202020204" pitchFamily="34" charset="0"/>
                      </a:endParaRPr>
                    </a:p>
                  </a:txBody>
                  <a:tcPr marL="2498" marR="2498" marT="2498" marB="0" anchor="ctr"/>
                </a:tc>
                <a:extLst>
                  <a:ext uri="{0D108BD9-81ED-4DB2-BD59-A6C34878D82A}">
                    <a16:rowId xmlns:a16="http://schemas.microsoft.com/office/drawing/2014/main" val="1595448507"/>
                  </a:ext>
                </a:extLst>
              </a:tr>
              <a:tr h="504275">
                <a:tc>
                  <a:txBody>
                    <a:bodyPr/>
                    <a:lstStyle/>
                    <a:p>
                      <a:pPr algn="ctr" fontAlgn="ctr"/>
                      <a:r>
                        <a:rPr lang="en-US" sz="1100" u="none" strike="noStrike">
                          <a:effectLst/>
                        </a:rPr>
                        <a:t>4</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Aguilar Madrid &amp; Antonio (2021)</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RF, SVR, XGBoost</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Load history, weather, holidays</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Regional power system</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XGBoost achieved highest accuracy</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Justified tree-based ensemble models</a:t>
                      </a:r>
                      <a:endParaRPr lang="en-US" sz="1100" b="0" i="0" u="none" strike="noStrike">
                        <a:solidFill>
                          <a:srgbClr val="000000"/>
                        </a:solidFill>
                        <a:effectLst/>
                        <a:latin typeface="Aptos" panose="020B0004020202020204" pitchFamily="34" charset="0"/>
                      </a:endParaRPr>
                    </a:p>
                  </a:txBody>
                  <a:tcPr marL="2498" marR="2498" marT="2498" marB="0" anchor="ctr"/>
                </a:tc>
                <a:extLst>
                  <a:ext uri="{0D108BD9-81ED-4DB2-BD59-A6C34878D82A}">
                    <a16:rowId xmlns:a16="http://schemas.microsoft.com/office/drawing/2014/main" val="878930790"/>
                  </a:ext>
                </a:extLst>
              </a:tr>
              <a:tr h="575922">
                <a:tc>
                  <a:txBody>
                    <a:bodyPr/>
                    <a:lstStyle/>
                    <a:p>
                      <a:pPr algn="ctr" fontAlgn="ctr"/>
                      <a:r>
                        <a:rPr lang="en-US" sz="1100" u="none" strike="noStrike">
                          <a:effectLst/>
                        </a:rPr>
                        <a:t>5</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Guo et al. (2021)</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SVM, RF, LSTM, Ensemble</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Load and weather features</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Large-scale power system</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Fusion of ML and DL improved accuracy</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dirty="0">
                          <a:effectLst/>
                        </a:rPr>
                        <a:t>Motivated ensemble forecasting strategies</a:t>
                      </a:r>
                      <a:endParaRPr lang="en-US" sz="1100" b="0" i="0" u="none" strike="noStrike" dirty="0">
                        <a:solidFill>
                          <a:srgbClr val="000000"/>
                        </a:solidFill>
                        <a:effectLst/>
                        <a:latin typeface="Aptos" panose="020B0004020202020204" pitchFamily="34" charset="0"/>
                      </a:endParaRPr>
                    </a:p>
                  </a:txBody>
                  <a:tcPr marL="2498" marR="2498" marT="2498" marB="0" anchor="ctr"/>
                </a:tc>
                <a:extLst>
                  <a:ext uri="{0D108BD9-81ED-4DB2-BD59-A6C34878D82A}">
                    <a16:rowId xmlns:a16="http://schemas.microsoft.com/office/drawing/2014/main" val="158239178"/>
                  </a:ext>
                </a:extLst>
              </a:tr>
            </a:tbl>
          </a:graphicData>
        </a:graphic>
      </p:graphicFrame>
    </p:spTree>
    <p:extLst>
      <p:ext uri="{BB962C8B-B14F-4D97-AF65-F5344CB8AC3E}">
        <p14:creationId xmlns:p14="http://schemas.microsoft.com/office/powerpoint/2010/main" val="2366881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7"/>
          <p:cNvSpPr txBox="1">
            <a:spLocks noGrp="1"/>
          </p:cNvSpPr>
          <p:nvPr>
            <p:ph type="title"/>
          </p:nvPr>
        </p:nvSpPr>
        <p:spPr>
          <a:xfrm>
            <a:off x="1053898" y="296307"/>
            <a:ext cx="7710900" cy="622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Literature Review</a:t>
            </a:r>
            <a:endParaRPr dirty="0"/>
          </a:p>
        </p:txBody>
      </p:sp>
      <p:sp>
        <p:nvSpPr>
          <p:cNvPr id="2" name="Google Shape;331;p36">
            <a:extLst>
              <a:ext uri="{FF2B5EF4-FFF2-40B4-BE49-F238E27FC236}">
                <a16:creationId xmlns:a16="http://schemas.microsoft.com/office/drawing/2014/main" id="{4ADBD699-4F2A-0DF1-3355-47A9E12D9797}"/>
              </a:ext>
            </a:extLst>
          </p:cNvPr>
          <p:cNvSpPr txBox="1">
            <a:spLocks/>
          </p:cNvSpPr>
          <p:nvPr/>
        </p:nvSpPr>
        <p:spPr>
          <a:xfrm>
            <a:off x="231235" y="23149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04</a:t>
            </a:r>
            <a:endParaRPr lang="en" dirty="0"/>
          </a:p>
        </p:txBody>
      </p:sp>
      <p:sp>
        <p:nvSpPr>
          <p:cNvPr id="3" name="Google Shape;330;p36">
            <a:extLst>
              <a:ext uri="{FF2B5EF4-FFF2-40B4-BE49-F238E27FC236}">
                <a16:creationId xmlns:a16="http://schemas.microsoft.com/office/drawing/2014/main" id="{95D11FBD-16EF-9E0E-89BB-48A085204F1B}"/>
              </a:ext>
            </a:extLst>
          </p:cNvPr>
          <p:cNvSpPr txBox="1">
            <a:spLocks/>
          </p:cNvSpPr>
          <p:nvPr/>
        </p:nvSpPr>
        <p:spPr>
          <a:xfrm>
            <a:off x="231235" y="4737946"/>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4 - </a:t>
            </a:r>
            <a:fld id="{1612EBDF-BBCF-4455-9CA4-C9C775D5C22A}" type="datetime1">
              <a:rPr lang="en-US" sz="1000" smtClean="0"/>
              <a:t>12/18/2025</a:t>
            </a:fld>
            <a:endParaRPr lang="en-US" sz="1000" dirty="0"/>
          </a:p>
        </p:txBody>
      </p:sp>
      <p:graphicFrame>
        <p:nvGraphicFramePr>
          <p:cNvPr id="4" name="Table 3">
            <a:extLst>
              <a:ext uri="{FF2B5EF4-FFF2-40B4-BE49-F238E27FC236}">
                <a16:creationId xmlns:a16="http://schemas.microsoft.com/office/drawing/2014/main" id="{B150890C-1455-D2DB-78EF-913FE82E2278}"/>
              </a:ext>
            </a:extLst>
          </p:cNvPr>
          <p:cNvGraphicFramePr>
            <a:graphicFrameLocks noGrp="1"/>
          </p:cNvGraphicFramePr>
          <p:nvPr>
            <p:extLst>
              <p:ext uri="{D42A27DB-BD31-4B8C-83A1-F6EECF244321}">
                <p14:modId xmlns:p14="http://schemas.microsoft.com/office/powerpoint/2010/main" val="4211857429"/>
              </p:ext>
            </p:extLst>
          </p:nvPr>
        </p:nvGraphicFramePr>
        <p:xfrm>
          <a:off x="231234" y="993873"/>
          <a:ext cx="8622832" cy="3730966"/>
        </p:xfrm>
        <a:graphic>
          <a:graphicData uri="http://schemas.openxmlformats.org/drawingml/2006/table">
            <a:tbl>
              <a:tblPr>
                <a:tableStyleId>{E67C124C-4383-4433-BF00-F876295D7A82}</a:tableStyleId>
              </a:tblPr>
              <a:tblGrid>
                <a:gridCol w="429799">
                  <a:extLst>
                    <a:ext uri="{9D8B030D-6E8A-4147-A177-3AD203B41FA5}">
                      <a16:colId xmlns:a16="http://schemas.microsoft.com/office/drawing/2014/main" val="4176203871"/>
                    </a:ext>
                  </a:extLst>
                </a:gridCol>
                <a:gridCol w="1495340">
                  <a:extLst>
                    <a:ext uri="{9D8B030D-6E8A-4147-A177-3AD203B41FA5}">
                      <a16:colId xmlns:a16="http://schemas.microsoft.com/office/drawing/2014/main" val="566061467"/>
                    </a:ext>
                  </a:extLst>
                </a:gridCol>
                <a:gridCol w="1110313">
                  <a:extLst>
                    <a:ext uri="{9D8B030D-6E8A-4147-A177-3AD203B41FA5}">
                      <a16:colId xmlns:a16="http://schemas.microsoft.com/office/drawing/2014/main" val="3626344205"/>
                    </a:ext>
                  </a:extLst>
                </a:gridCol>
                <a:gridCol w="1513249">
                  <a:extLst>
                    <a:ext uri="{9D8B030D-6E8A-4147-A177-3AD203B41FA5}">
                      <a16:colId xmlns:a16="http://schemas.microsoft.com/office/drawing/2014/main" val="4280680924"/>
                    </a:ext>
                  </a:extLst>
                </a:gridCol>
                <a:gridCol w="1065541">
                  <a:extLst>
                    <a:ext uri="{9D8B030D-6E8A-4147-A177-3AD203B41FA5}">
                      <a16:colId xmlns:a16="http://schemas.microsoft.com/office/drawing/2014/main" val="980191676"/>
                    </a:ext>
                  </a:extLst>
                </a:gridCol>
                <a:gridCol w="1405799">
                  <a:extLst>
                    <a:ext uri="{9D8B030D-6E8A-4147-A177-3AD203B41FA5}">
                      <a16:colId xmlns:a16="http://schemas.microsoft.com/office/drawing/2014/main" val="4119895542"/>
                    </a:ext>
                  </a:extLst>
                </a:gridCol>
                <a:gridCol w="1602791">
                  <a:extLst>
                    <a:ext uri="{9D8B030D-6E8A-4147-A177-3AD203B41FA5}">
                      <a16:colId xmlns:a16="http://schemas.microsoft.com/office/drawing/2014/main" val="4172412162"/>
                    </a:ext>
                  </a:extLst>
                </a:gridCol>
              </a:tblGrid>
              <a:tr h="306417">
                <a:tc>
                  <a:txBody>
                    <a:bodyPr/>
                    <a:lstStyle/>
                    <a:p>
                      <a:pPr algn="ctr" fontAlgn="ctr"/>
                      <a:r>
                        <a:rPr lang="en-US" sz="1100" u="none" strike="noStrike" dirty="0">
                          <a:effectLst/>
                        </a:rPr>
                        <a:t>S.N.</a:t>
                      </a:r>
                      <a:endParaRPr lang="en-US" sz="1100" b="1" i="0" u="none" strike="noStrike" dirty="0">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Author(s) &amp; Year</a:t>
                      </a:r>
                      <a:endParaRPr lang="en-US" sz="1100" b="1"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Models Used</a:t>
                      </a:r>
                      <a:endParaRPr lang="en-US" sz="1100" b="1"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Input Features</a:t>
                      </a:r>
                      <a:endParaRPr lang="en-US" sz="1100" b="1"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Dataset / Study Area</a:t>
                      </a:r>
                      <a:endParaRPr lang="en-US" sz="1100" b="1"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Key Findings</a:t>
                      </a:r>
                      <a:endParaRPr lang="en-US" sz="1100" b="1"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Research Contribution</a:t>
                      </a:r>
                      <a:endParaRPr lang="en-US" sz="1100" b="1" i="0" u="none" strike="noStrike">
                        <a:solidFill>
                          <a:srgbClr val="000000"/>
                        </a:solidFill>
                        <a:effectLst/>
                        <a:latin typeface="Aptos" panose="020B0004020202020204" pitchFamily="34" charset="0"/>
                      </a:endParaRPr>
                    </a:p>
                  </a:txBody>
                  <a:tcPr marL="3561" marR="3561" marT="3561" marB="0" anchor="ctr"/>
                </a:tc>
                <a:extLst>
                  <a:ext uri="{0D108BD9-81ED-4DB2-BD59-A6C34878D82A}">
                    <a16:rowId xmlns:a16="http://schemas.microsoft.com/office/drawing/2014/main" val="736051422"/>
                  </a:ext>
                </a:extLst>
              </a:tr>
              <a:tr h="458015">
                <a:tc>
                  <a:txBody>
                    <a:bodyPr/>
                    <a:lstStyle/>
                    <a:p>
                      <a:pPr algn="ctr" fontAlgn="ctr"/>
                      <a:r>
                        <a:rPr lang="en-US" sz="1100" u="none" strike="noStrike">
                          <a:effectLst/>
                        </a:rPr>
                        <a:t>6</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Saglam et al. (2024)</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ANN, SVR + PSO, DO, GRO</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Load, GDP indicators</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Power system dataset</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ANN + Growth Optimizer performed best</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Linked optimization techniques with ML</a:t>
                      </a:r>
                      <a:endParaRPr lang="en-US" sz="1100" b="0" i="0" u="none" strike="noStrike">
                        <a:solidFill>
                          <a:srgbClr val="000000"/>
                        </a:solidFill>
                        <a:effectLst/>
                        <a:latin typeface="Aptos" panose="020B0004020202020204" pitchFamily="34" charset="0"/>
                      </a:endParaRPr>
                    </a:p>
                  </a:txBody>
                  <a:tcPr marL="3561" marR="3561" marT="3561" marB="0" anchor="ctr"/>
                </a:tc>
                <a:extLst>
                  <a:ext uri="{0D108BD9-81ED-4DB2-BD59-A6C34878D82A}">
                    <a16:rowId xmlns:a16="http://schemas.microsoft.com/office/drawing/2014/main" val="2876625568"/>
                  </a:ext>
                </a:extLst>
              </a:tr>
              <a:tr h="900900">
                <a:tc>
                  <a:txBody>
                    <a:bodyPr/>
                    <a:lstStyle/>
                    <a:p>
                      <a:pPr algn="ctr" fontAlgn="ctr"/>
                      <a:r>
                        <a:rPr lang="en-US" sz="1100" u="none" strike="noStrike" dirty="0">
                          <a:effectLst/>
                        </a:rPr>
                        <a:t>7</a:t>
                      </a:r>
                      <a:endParaRPr lang="en-US" sz="1100" b="0" i="0" u="none" strike="noStrike" dirty="0">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Jain &amp; Gupta (2024)</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dirty="0">
                          <a:effectLst/>
                        </a:rPr>
                        <a:t>SVM, LSTM, RNN, Ensembles</a:t>
                      </a:r>
                      <a:endParaRPr lang="en-US" sz="1100" b="0" i="0" u="none" strike="noStrike" dirty="0">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dirty="0">
                          <a:effectLst/>
                        </a:rPr>
                        <a:t>Preprocessed load data</a:t>
                      </a:r>
                      <a:endParaRPr lang="en-US" sz="1100" b="0" i="0" u="none" strike="noStrike" dirty="0">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dirty="0">
                          <a:effectLst/>
                        </a:rPr>
                        <a:t>Electrical grid dataset</a:t>
                      </a:r>
                      <a:endParaRPr lang="en-US" sz="1100" b="0" i="0" u="none" strike="noStrike" dirty="0">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Ensemble and DL models outperformed statistical methods</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Emphasized preprocessing and feature selection</a:t>
                      </a:r>
                      <a:endParaRPr lang="en-US" sz="1100" b="0" i="0" u="none" strike="noStrike">
                        <a:solidFill>
                          <a:srgbClr val="000000"/>
                        </a:solidFill>
                        <a:effectLst/>
                        <a:latin typeface="Aptos" panose="020B0004020202020204" pitchFamily="34" charset="0"/>
                      </a:endParaRPr>
                    </a:p>
                  </a:txBody>
                  <a:tcPr marL="3561" marR="3561" marT="3561" marB="0" anchor="ctr"/>
                </a:tc>
                <a:extLst>
                  <a:ext uri="{0D108BD9-81ED-4DB2-BD59-A6C34878D82A}">
                    <a16:rowId xmlns:a16="http://schemas.microsoft.com/office/drawing/2014/main" val="3364750279"/>
                  </a:ext>
                </a:extLst>
              </a:tr>
              <a:tr h="541922">
                <a:tc>
                  <a:txBody>
                    <a:bodyPr/>
                    <a:lstStyle/>
                    <a:p>
                      <a:pPr algn="ctr" fontAlgn="ctr"/>
                      <a:r>
                        <a:rPr lang="en-US" sz="1100" u="none" strike="noStrike">
                          <a:effectLst/>
                        </a:rPr>
                        <a:t>8</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dirty="0" err="1">
                          <a:effectLst/>
                        </a:rPr>
                        <a:t>Chapagain</a:t>
                      </a:r>
                      <a:r>
                        <a:rPr lang="en-US" sz="1100" u="none" strike="noStrike" dirty="0">
                          <a:effectLst/>
                        </a:rPr>
                        <a:t> et al. (2021)</a:t>
                      </a:r>
                      <a:endParaRPr lang="en-US" sz="1100" b="0" i="0" u="none" strike="noStrike" dirty="0">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ML, DL (LSTM)</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Load history, temperature, day type</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Kathmandu Valley, Nepal</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LSTM showed lowest MAPE and RMSE</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Nepal-based validation of DL models</a:t>
                      </a:r>
                      <a:endParaRPr lang="en-US" sz="1100" b="0" i="0" u="none" strike="noStrike">
                        <a:solidFill>
                          <a:srgbClr val="000000"/>
                        </a:solidFill>
                        <a:effectLst/>
                        <a:latin typeface="Aptos" panose="020B0004020202020204" pitchFamily="34" charset="0"/>
                      </a:endParaRPr>
                    </a:p>
                  </a:txBody>
                  <a:tcPr marL="3561" marR="3561" marT="3561" marB="0" anchor="ctr"/>
                </a:tc>
                <a:extLst>
                  <a:ext uri="{0D108BD9-81ED-4DB2-BD59-A6C34878D82A}">
                    <a16:rowId xmlns:a16="http://schemas.microsoft.com/office/drawing/2014/main" val="1558919021"/>
                  </a:ext>
                </a:extLst>
              </a:tr>
              <a:tr h="811156">
                <a:tc>
                  <a:txBody>
                    <a:bodyPr/>
                    <a:lstStyle/>
                    <a:p>
                      <a:pPr algn="ctr" fontAlgn="ctr"/>
                      <a:r>
                        <a:rPr lang="en-US" sz="1100" u="none" strike="noStrike">
                          <a:effectLst/>
                        </a:rPr>
                        <a:t>9</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fr-FR" sz="1100" u="none" strike="noStrike">
                          <a:effectLst/>
                        </a:rPr>
                        <a:t>Acharya et al. (n.d.)</a:t>
                      </a:r>
                      <a:endParaRPr lang="fr-FR"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RNN</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Historical load features</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Gothatar Feeder, Nepal</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RNN outperformed exponential smoothing methods</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Feeder-level DL forecasting in Nepal</a:t>
                      </a:r>
                      <a:endParaRPr lang="en-US" sz="1100" b="0" i="0" u="none" strike="noStrike">
                        <a:solidFill>
                          <a:srgbClr val="000000"/>
                        </a:solidFill>
                        <a:effectLst/>
                        <a:latin typeface="Aptos" panose="020B0004020202020204" pitchFamily="34" charset="0"/>
                      </a:endParaRPr>
                    </a:p>
                  </a:txBody>
                  <a:tcPr marL="3561" marR="3561" marT="3561" marB="0" anchor="ctr"/>
                </a:tc>
                <a:extLst>
                  <a:ext uri="{0D108BD9-81ED-4DB2-BD59-A6C34878D82A}">
                    <a16:rowId xmlns:a16="http://schemas.microsoft.com/office/drawing/2014/main" val="984980890"/>
                  </a:ext>
                </a:extLst>
              </a:tr>
              <a:tr h="631666">
                <a:tc>
                  <a:txBody>
                    <a:bodyPr/>
                    <a:lstStyle/>
                    <a:p>
                      <a:pPr algn="ctr" fontAlgn="ctr"/>
                      <a:r>
                        <a:rPr lang="en-US" sz="1100" u="none" strike="noStrike">
                          <a:effectLst/>
                        </a:rPr>
                        <a:t>10</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Cordeiro-Costas et al. (2023)</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RF, SVR, XGBoost, MLP, LSTM, Conv-1D</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dirty="0">
                          <a:effectLst/>
                        </a:rPr>
                        <a:t>Load and weather data</a:t>
                      </a:r>
                      <a:endParaRPr lang="en-US" sz="1100" b="0" i="0" u="none" strike="noStrike" dirty="0">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Power system dataset</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LSTM achieved lowest forecasting error</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dirty="0">
                          <a:effectLst/>
                        </a:rPr>
                        <a:t>Compared CNN and RNN architectures</a:t>
                      </a:r>
                      <a:endParaRPr lang="en-US" sz="1100" b="0" i="0" u="none" strike="noStrike" dirty="0">
                        <a:solidFill>
                          <a:srgbClr val="000000"/>
                        </a:solidFill>
                        <a:effectLst/>
                        <a:latin typeface="Aptos" panose="020B0004020202020204" pitchFamily="34" charset="0"/>
                      </a:endParaRPr>
                    </a:p>
                  </a:txBody>
                  <a:tcPr marL="3561" marR="3561" marT="3561" marB="0" anchor="ctr"/>
                </a:tc>
                <a:extLst>
                  <a:ext uri="{0D108BD9-81ED-4DB2-BD59-A6C34878D82A}">
                    <a16:rowId xmlns:a16="http://schemas.microsoft.com/office/drawing/2014/main" val="1869359900"/>
                  </a:ext>
                </a:extLst>
              </a:tr>
            </a:tbl>
          </a:graphicData>
        </a:graphic>
      </p:graphicFrame>
    </p:spTree>
    <p:extLst>
      <p:ext uri="{BB962C8B-B14F-4D97-AF65-F5344CB8AC3E}">
        <p14:creationId xmlns:p14="http://schemas.microsoft.com/office/powerpoint/2010/main" val="2967707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cxnSp>
        <p:nvCxnSpPr>
          <p:cNvPr id="6" name="Google Shape;419;p44">
            <a:extLst>
              <a:ext uri="{FF2B5EF4-FFF2-40B4-BE49-F238E27FC236}">
                <a16:creationId xmlns:a16="http://schemas.microsoft.com/office/drawing/2014/main" id="{6EBF4F4A-A0CE-D7D4-9A56-9F7860D6D954}"/>
              </a:ext>
            </a:extLst>
          </p:cNvPr>
          <p:cNvCxnSpPr>
            <a:stCxn id="10" idx="3"/>
            <a:endCxn id="12" idx="1"/>
          </p:cNvCxnSpPr>
          <p:nvPr/>
        </p:nvCxnSpPr>
        <p:spPr>
          <a:xfrm>
            <a:off x="1475872" y="2376105"/>
            <a:ext cx="2186733" cy="0"/>
          </a:xfrm>
          <a:prstGeom prst="straightConnector1">
            <a:avLst/>
          </a:prstGeom>
          <a:noFill/>
          <a:ln w="19050" cap="flat" cmpd="sng">
            <a:solidFill>
              <a:schemeClr val="dk1"/>
            </a:solidFill>
            <a:prstDash val="solid"/>
            <a:round/>
            <a:headEnd type="none" w="med" len="med"/>
            <a:tailEnd type="none" w="med" len="med"/>
          </a:ln>
        </p:spPr>
      </p:cxnSp>
      <p:sp>
        <p:nvSpPr>
          <p:cNvPr id="7" name="Google Shape;425;p44">
            <a:extLst>
              <a:ext uri="{FF2B5EF4-FFF2-40B4-BE49-F238E27FC236}">
                <a16:creationId xmlns:a16="http://schemas.microsoft.com/office/drawing/2014/main" id="{1F2E113E-20EC-7770-8761-C17365202E95}"/>
              </a:ext>
            </a:extLst>
          </p:cNvPr>
          <p:cNvSpPr txBox="1"/>
          <p:nvPr/>
        </p:nvSpPr>
        <p:spPr>
          <a:xfrm>
            <a:off x="516772" y="2711255"/>
            <a:ext cx="1552500" cy="5489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Clr>
                <a:srgbClr val="000000"/>
              </a:buClr>
              <a:buSzPts val="1100"/>
              <a:buFont typeface="Arial"/>
              <a:buNone/>
            </a:pPr>
            <a:r>
              <a:rPr lang="en-US" sz="1400" b="1" dirty="0">
                <a:solidFill>
                  <a:schemeClr val="dk1"/>
                </a:solidFill>
                <a:latin typeface="Hanken Grotesk" panose="020B0604020202020204" charset="0"/>
                <a:ea typeface="Figtree Black"/>
                <a:cs typeface="Figtree Black"/>
                <a:sym typeface="Figtree Black"/>
              </a:rPr>
              <a:t>Data </a:t>
            </a:r>
          </a:p>
          <a:p>
            <a:pPr marL="0" lvl="0" indent="0" algn="ctr" rtl="0">
              <a:lnSpc>
                <a:spcPct val="115000"/>
              </a:lnSpc>
              <a:spcBef>
                <a:spcPts val="0"/>
              </a:spcBef>
              <a:spcAft>
                <a:spcPts val="0"/>
              </a:spcAft>
              <a:buClr>
                <a:srgbClr val="000000"/>
              </a:buClr>
              <a:buSzPts val="1100"/>
              <a:buFont typeface="Arial"/>
              <a:buNone/>
            </a:pPr>
            <a:r>
              <a:rPr lang="en-US" sz="1400" b="1" dirty="0">
                <a:solidFill>
                  <a:schemeClr val="dk1"/>
                </a:solidFill>
                <a:latin typeface="Hanken Grotesk" panose="020B0604020202020204" charset="0"/>
                <a:ea typeface="Figtree Black"/>
                <a:cs typeface="Figtree Black"/>
                <a:sym typeface="Figtree Black"/>
              </a:rPr>
              <a:t>Acquisition</a:t>
            </a:r>
            <a:endParaRPr sz="1400" b="1" dirty="0">
              <a:solidFill>
                <a:schemeClr val="dk1"/>
              </a:solidFill>
              <a:latin typeface="Hanken Grotesk" panose="020B0604020202020204" charset="0"/>
              <a:ea typeface="Figtree Black"/>
              <a:cs typeface="Figtree Black"/>
              <a:sym typeface="Figtree Black"/>
            </a:endParaRPr>
          </a:p>
        </p:txBody>
      </p:sp>
      <p:sp>
        <p:nvSpPr>
          <p:cNvPr id="8" name="Google Shape;427;p44">
            <a:extLst>
              <a:ext uri="{FF2B5EF4-FFF2-40B4-BE49-F238E27FC236}">
                <a16:creationId xmlns:a16="http://schemas.microsoft.com/office/drawing/2014/main" id="{3914EB66-E36E-F875-87FA-18EF7796B3DB}"/>
              </a:ext>
            </a:extLst>
          </p:cNvPr>
          <p:cNvSpPr txBox="1"/>
          <p:nvPr/>
        </p:nvSpPr>
        <p:spPr>
          <a:xfrm>
            <a:off x="1721550" y="2711254"/>
            <a:ext cx="1552500" cy="548889"/>
          </a:xfrm>
          <a:prstGeom prst="rect">
            <a:avLst/>
          </a:prstGeom>
          <a:noFill/>
          <a:ln>
            <a:noFill/>
          </a:ln>
        </p:spPr>
        <p:txBody>
          <a:bodyPr spcFirstLastPara="1" wrap="square" lIns="91425" tIns="91425" rIns="91425" bIns="91425" anchor="b" anchorCtr="0">
            <a:noAutofit/>
          </a:bodyPr>
          <a:lstStyle/>
          <a:p>
            <a:pPr algn="ctr">
              <a:lnSpc>
                <a:spcPct val="115000"/>
              </a:lnSpc>
              <a:buSzPts val="1100"/>
            </a:pPr>
            <a:r>
              <a:rPr lang="en-US" sz="1400" b="1" dirty="0">
                <a:solidFill>
                  <a:schemeClr val="dk1"/>
                </a:solidFill>
                <a:latin typeface="Hanken Grotesk" panose="020B0604020202020204" charset="0"/>
              </a:rPr>
              <a:t>Data </a:t>
            </a:r>
          </a:p>
          <a:p>
            <a:pPr algn="ctr">
              <a:lnSpc>
                <a:spcPct val="115000"/>
              </a:lnSpc>
              <a:buSzPts val="1100"/>
            </a:pPr>
            <a:r>
              <a:rPr lang="en-US" sz="1400" b="1" dirty="0">
                <a:solidFill>
                  <a:schemeClr val="dk1"/>
                </a:solidFill>
                <a:latin typeface="Hanken Grotesk" panose="020B0604020202020204" charset="0"/>
              </a:rPr>
              <a:t>Preprocessing</a:t>
            </a:r>
            <a:endParaRPr sz="1400" b="1" dirty="0">
              <a:solidFill>
                <a:schemeClr val="dk1"/>
              </a:solidFill>
              <a:latin typeface="Hanken Grotesk" panose="020B0604020202020204" charset="0"/>
              <a:sym typeface="Figtree Black"/>
            </a:endParaRPr>
          </a:p>
        </p:txBody>
      </p:sp>
      <p:sp>
        <p:nvSpPr>
          <p:cNvPr id="9" name="Google Shape;429;p44">
            <a:extLst>
              <a:ext uri="{FF2B5EF4-FFF2-40B4-BE49-F238E27FC236}">
                <a16:creationId xmlns:a16="http://schemas.microsoft.com/office/drawing/2014/main" id="{3D267E96-EB29-754A-7957-DD160353CC2C}"/>
              </a:ext>
            </a:extLst>
          </p:cNvPr>
          <p:cNvSpPr txBox="1"/>
          <p:nvPr/>
        </p:nvSpPr>
        <p:spPr>
          <a:xfrm>
            <a:off x="3069205" y="2711254"/>
            <a:ext cx="1552500" cy="548881"/>
          </a:xfrm>
          <a:prstGeom prst="rect">
            <a:avLst/>
          </a:prstGeom>
          <a:noFill/>
          <a:ln>
            <a:noFill/>
          </a:ln>
        </p:spPr>
        <p:txBody>
          <a:bodyPr spcFirstLastPara="1" wrap="square" lIns="91425" tIns="91425" rIns="91425" bIns="91425" anchor="b" anchorCtr="0">
            <a:noAutofit/>
          </a:bodyPr>
          <a:lstStyle/>
          <a:p>
            <a:pPr marL="0" lvl="0" indent="0" algn="ctr">
              <a:lnSpc>
                <a:spcPct val="115000"/>
              </a:lnSpc>
              <a:buSzPts val="1100"/>
              <a:buFont typeface="Arial"/>
              <a:buNone/>
            </a:pPr>
            <a:r>
              <a:rPr lang="en-US" sz="1400" b="1" dirty="0">
                <a:solidFill>
                  <a:schemeClr val="dk1"/>
                </a:solidFill>
                <a:latin typeface="Hanken Grotesk" panose="020B0604020202020204" charset="0"/>
              </a:rPr>
              <a:t>Exploratory </a:t>
            </a:r>
          </a:p>
          <a:p>
            <a:pPr marL="0" lvl="0" indent="0" algn="ctr">
              <a:lnSpc>
                <a:spcPct val="115000"/>
              </a:lnSpc>
              <a:buSzPts val="1100"/>
              <a:buFont typeface="Arial"/>
              <a:buNone/>
            </a:pPr>
            <a:r>
              <a:rPr lang="en-US" sz="1400" b="1" dirty="0">
                <a:solidFill>
                  <a:schemeClr val="dk1"/>
                </a:solidFill>
                <a:latin typeface="Hanken Grotesk" panose="020B0604020202020204" charset="0"/>
              </a:rPr>
              <a:t>Data Analysis</a:t>
            </a:r>
            <a:endParaRPr sz="1400" b="1" dirty="0">
              <a:solidFill>
                <a:schemeClr val="dk1"/>
              </a:solidFill>
              <a:latin typeface="Hanken Grotesk" panose="020B0604020202020204" charset="0"/>
              <a:sym typeface="Figtree Black"/>
            </a:endParaRPr>
          </a:p>
        </p:txBody>
      </p:sp>
      <p:sp>
        <p:nvSpPr>
          <p:cNvPr id="10" name="Google Shape;420;p44">
            <a:extLst>
              <a:ext uri="{FF2B5EF4-FFF2-40B4-BE49-F238E27FC236}">
                <a16:creationId xmlns:a16="http://schemas.microsoft.com/office/drawing/2014/main" id="{0504A6D0-5BA3-2B02-85C5-2B33097F34DC}"/>
              </a:ext>
            </a:extLst>
          </p:cNvPr>
          <p:cNvSpPr txBox="1"/>
          <p:nvPr/>
        </p:nvSpPr>
        <p:spPr>
          <a:xfrm>
            <a:off x="1110172" y="219325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a:solidFill>
                  <a:schemeClr val="lt1"/>
                </a:solidFill>
                <a:latin typeface="Figtree Black"/>
                <a:ea typeface="Figtree Black"/>
                <a:cs typeface="Figtree Black"/>
                <a:sym typeface="Figtree Black"/>
              </a:rPr>
              <a:t>01</a:t>
            </a:r>
            <a:endParaRPr sz="1100">
              <a:solidFill>
                <a:schemeClr val="lt1"/>
              </a:solidFill>
              <a:latin typeface="Figtree Black"/>
              <a:ea typeface="Figtree Black"/>
              <a:cs typeface="Figtree Black"/>
              <a:sym typeface="Figtree Black"/>
            </a:endParaRPr>
          </a:p>
        </p:txBody>
      </p:sp>
      <p:sp>
        <p:nvSpPr>
          <p:cNvPr id="11" name="Google Shape;432;p44">
            <a:extLst>
              <a:ext uri="{FF2B5EF4-FFF2-40B4-BE49-F238E27FC236}">
                <a16:creationId xmlns:a16="http://schemas.microsoft.com/office/drawing/2014/main" id="{2A08A29B-8EC5-FE02-E9A2-669D0C7FBDD0}"/>
              </a:ext>
            </a:extLst>
          </p:cNvPr>
          <p:cNvSpPr txBox="1"/>
          <p:nvPr/>
        </p:nvSpPr>
        <p:spPr>
          <a:xfrm>
            <a:off x="2304790" y="219325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dirty="0">
                <a:solidFill>
                  <a:schemeClr val="lt1"/>
                </a:solidFill>
                <a:latin typeface="Figtree Black"/>
                <a:ea typeface="Figtree Black"/>
                <a:cs typeface="Figtree Black"/>
                <a:sym typeface="Figtree Black"/>
              </a:rPr>
              <a:t>02</a:t>
            </a:r>
            <a:endParaRPr sz="1100" dirty="0">
              <a:solidFill>
                <a:schemeClr val="lt1"/>
              </a:solidFill>
              <a:latin typeface="Figtree Black"/>
              <a:ea typeface="Figtree Black"/>
              <a:cs typeface="Figtree Black"/>
              <a:sym typeface="Figtree Black"/>
            </a:endParaRPr>
          </a:p>
        </p:txBody>
      </p:sp>
      <p:sp>
        <p:nvSpPr>
          <p:cNvPr id="12" name="Google Shape;421;p44">
            <a:extLst>
              <a:ext uri="{FF2B5EF4-FFF2-40B4-BE49-F238E27FC236}">
                <a16:creationId xmlns:a16="http://schemas.microsoft.com/office/drawing/2014/main" id="{F9116E70-AFBA-7634-7C7B-11E03EA3C460}"/>
              </a:ext>
            </a:extLst>
          </p:cNvPr>
          <p:cNvSpPr txBox="1"/>
          <p:nvPr/>
        </p:nvSpPr>
        <p:spPr>
          <a:xfrm>
            <a:off x="3662605" y="219325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a:solidFill>
                  <a:schemeClr val="lt1"/>
                </a:solidFill>
                <a:latin typeface="Figtree Black"/>
                <a:ea typeface="Figtree Black"/>
                <a:cs typeface="Figtree Black"/>
                <a:sym typeface="Figtree Black"/>
              </a:rPr>
              <a:t>03</a:t>
            </a:r>
            <a:endParaRPr sz="1100">
              <a:solidFill>
                <a:schemeClr val="lt1"/>
              </a:solidFill>
              <a:latin typeface="Figtree Black"/>
              <a:ea typeface="Figtree Black"/>
              <a:cs typeface="Figtree Black"/>
              <a:sym typeface="Figtree Black"/>
            </a:endParaRPr>
          </a:p>
        </p:txBody>
      </p:sp>
      <p:sp>
        <p:nvSpPr>
          <p:cNvPr id="35" name="Google Shape;429;p44">
            <a:extLst>
              <a:ext uri="{FF2B5EF4-FFF2-40B4-BE49-F238E27FC236}">
                <a16:creationId xmlns:a16="http://schemas.microsoft.com/office/drawing/2014/main" id="{B273BB56-8760-FF68-9842-61027E60E08D}"/>
              </a:ext>
            </a:extLst>
          </p:cNvPr>
          <p:cNvSpPr txBox="1"/>
          <p:nvPr/>
        </p:nvSpPr>
        <p:spPr>
          <a:xfrm>
            <a:off x="4376220" y="2711254"/>
            <a:ext cx="1552500" cy="548881"/>
          </a:xfrm>
          <a:prstGeom prst="rect">
            <a:avLst/>
          </a:prstGeom>
          <a:noFill/>
          <a:ln>
            <a:noFill/>
          </a:ln>
        </p:spPr>
        <p:txBody>
          <a:bodyPr spcFirstLastPara="1" wrap="square" lIns="91425" tIns="91425" rIns="91425" bIns="91425" anchor="b" anchorCtr="0">
            <a:noAutofit/>
          </a:bodyPr>
          <a:lstStyle/>
          <a:p>
            <a:pPr marL="0" lvl="0" indent="0" algn="ctr">
              <a:lnSpc>
                <a:spcPct val="115000"/>
              </a:lnSpc>
              <a:buSzPts val="1100"/>
              <a:buFont typeface="Arial"/>
              <a:buNone/>
            </a:pPr>
            <a:r>
              <a:rPr lang="en-US" sz="1400" b="1" dirty="0">
                <a:solidFill>
                  <a:schemeClr val="dk1"/>
                </a:solidFill>
                <a:latin typeface="Hanken Grotesk" panose="020B0604020202020204" charset="0"/>
              </a:rPr>
              <a:t>Model Development</a:t>
            </a:r>
            <a:endParaRPr sz="1400" b="1" dirty="0">
              <a:solidFill>
                <a:schemeClr val="dk1"/>
              </a:solidFill>
              <a:latin typeface="Hanken Grotesk" panose="020B0604020202020204" charset="0"/>
              <a:sym typeface="Figtree Black"/>
            </a:endParaRPr>
          </a:p>
        </p:txBody>
      </p:sp>
      <p:cxnSp>
        <p:nvCxnSpPr>
          <p:cNvPr id="37" name="Google Shape;419;p44">
            <a:extLst>
              <a:ext uri="{FF2B5EF4-FFF2-40B4-BE49-F238E27FC236}">
                <a16:creationId xmlns:a16="http://schemas.microsoft.com/office/drawing/2014/main" id="{6CB723F3-9626-F32B-6324-DFF0679E78F3}"/>
              </a:ext>
            </a:extLst>
          </p:cNvPr>
          <p:cNvCxnSpPr>
            <a:cxnSpLocks/>
            <a:stCxn id="12" idx="3"/>
          </p:cNvCxnSpPr>
          <p:nvPr/>
        </p:nvCxnSpPr>
        <p:spPr>
          <a:xfrm>
            <a:off x="4028305" y="2376105"/>
            <a:ext cx="2532173" cy="0"/>
          </a:xfrm>
          <a:prstGeom prst="straightConnector1">
            <a:avLst/>
          </a:prstGeom>
          <a:noFill/>
          <a:ln w="19050" cap="flat" cmpd="sng">
            <a:solidFill>
              <a:schemeClr val="dk1"/>
            </a:solidFill>
            <a:prstDash val="solid"/>
            <a:round/>
            <a:headEnd type="none" w="med" len="med"/>
            <a:tailEnd type="none" w="med" len="med"/>
          </a:ln>
        </p:spPr>
      </p:cxnSp>
      <p:sp>
        <p:nvSpPr>
          <p:cNvPr id="36" name="Google Shape;421;p44">
            <a:extLst>
              <a:ext uri="{FF2B5EF4-FFF2-40B4-BE49-F238E27FC236}">
                <a16:creationId xmlns:a16="http://schemas.microsoft.com/office/drawing/2014/main" id="{9B3D96BA-DCFA-BD25-1709-558770F031FA}"/>
              </a:ext>
            </a:extLst>
          </p:cNvPr>
          <p:cNvSpPr txBox="1"/>
          <p:nvPr/>
        </p:nvSpPr>
        <p:spPr>
          <a:xfrm>
            <a:off x="4959460" y="219325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dirty="0">
                <a:solidFill>
                  <a:schemeClr val="lt1"/>
                </a:solidFill>
                <a:latin typeface="Figtree Black"/>
                <a:ea typeface="Figtree Black"/>
                <a:cs typeface="Figtree Black"/>
                <a:sym typeface="Figtree Black"/>
              </a:rPr>
              <a:t>04</a:t>
            </a:r>
            <a:endParaRPr sz="1100" dirty="0">
              <a:solidFill>
                <a:schemeClr val="lt1"/>
              </a:solidFill>
              <a:latin typeface="Figtree Black"/>
              <a:ea typeface="Figtree Black"/>
              <a:cs typeface="Figtree Black"/>
              <a:sym typeface="Figtree Black"/>
            </a:endParaRPr>
          </a:p>
        </p:txBody>
      </p:sp>
      <p:sp>
        <p:nvSpPr>
          <p:cNvPr id="38" name="Google Shape;429;p44">
            <a:extLst>
              <a:ext uri="{FF2B5EF4-FFF2-40B4-BE49-F238E27FC236}">
                <a16:creationId xmlns:a16="http://schemas.microsoft.com/office/drawing/2014/main" id="{7561976F-C82A-4BAF-AEE6-AD7F22CA98CF}"/>
              </a:ext>
            </a:extLst>
          </p:cNvPr>
          <p:cNvSpPr txBox="1"/>
          <p:nvPr/>
        </p:nvSpPr>
        <p:spPr>
          <a:xfrm>
            <a:off x="5734035" y="2711254"/>
            <a:ext cx="1552500" cy="548881"/>
          </a:xfrm>
          <a:prstGeom prst="rect">
            <a:avLst/>
          </a:prstGeom>
          <a:noFill/>
          <a:ln>
            <a:noFill/>
          </a:ln>
        </p:spPr>
        <p:txBody>
          <a:bodyPr spcFirstLastPara="1" wrap="square" lIns="91425" tIns="91425" rIns="91425" bIns="91425" anchor="b" anchorCtr="0">
            <a:noAutofit/>
          </a:bodyPr>
          <a:lstStyle/>
          <a:p>
            <a:pPr marL="0" lvl="0" indent="0" algn="ctr">
              <a:lnSpc>
                <a:spcPct val="115000"/>
              </a:lnSpc>
              <a:buSzPts val="1100"/>
              <a:buFont typeface="Arial"/>
              <a:buNone/>
            </a:pPr>
            <a:r>
              <a:rPr lang="en-US" sz="1400" b="1" dirty="0">
                <a:solidFill>
                  <a:schemeClr val="dk1"/>
                </a:solidFill>
                <a:latin typeface="Hanken Grotesk" panose="020B0604020202020204" charset="0"/>
              </a:rPr>
              <a:t>Model Training </a:t>
            </a:r>
          </a:p>
          <a:p>
            <a:pPr marL="0" lvl="0" indent="0" algn="ctr">
              <a:lnSpc>
                <a:spcPct val="115000"/>
              </a:lnSpc>
              <a:buSzPts val="1100"/>
              <a:buFont typeface="Arial"/>
              <a:buNone/>
            </a:pPr>
            <a:r>
              <a:rPr lang="en-US" sz="1400" b="1" dirty="0">
                <a:solidFill>
                  <a:schemeClr val="dk1"/>
                </a:solidFill>
                <a:latin typeface="Hanken Grotesk" panose="020B0604020202020204" charset="0"/>
              </a:rPr>
              <a:t>&amp; Validation</a:t>
            </a:r>
            <a:endParaRPr sz="1400" b="1" dirty="0">
              <a:solidFill>
                <a:schemeClr val="dk1"/>
              </a:solidFill>
              <a:latin typeface="Hanken Grotesk" panose="020B0604020202020204" charset="0"/>
              <a:sym typeface="Figtree Black"/>
            </a:endParaRPr>
          </a:p>
        </p:txBody>
      </p:sp>
      <p:sp>
        <p:nvSpPr>
          <p:cNvPr id="39" name="Google Shape;421;p44">
            <a:extLst>
              <a:ext uri="{FF2B5EF4-FFF2-40B4-BE49-F238E27FC236}">
                <a16:creationId xmlns:a16="http://schemas.microsoft.com/office/drawing/2014/main" id="{742179E9-A222-6825-E144-3F6A9D155855}"/>
              </a:ext>
            </a:extLst>
          </p:cNvPr>
          <p:cNvSpPr txBox="1"/>
          <p:nvPr/>
        </p:nvSpPr>
        <p:spPr>
          <a:xfrm>
            <a:off x="6327435" y="219325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dirty="0">
                <a:solidFill>
                  <a:schemeClr val="lt1"/>
                </a:solidFill>
                <a:latin typeface="Figtree Black"/>
                <a:ea typeface="Figtree Black"/>
                <a:cs typeface="Figtree Black"/>
                <a:sym typeface="Figtree Black"/>
              </a:rPr>
              <a:t>06</a:t>
            </a:r>
            <a:endParaRPr sz="1100" dirty="0">
              <a:solidFill>
                <a:schemeClr val="lt1"/>
              </a:solidFill>
              <a:latin typeface="Figtree Black"/>
              <a:ea typeface="Figtree Black"/>
              <a:cs typeface="Figtree Black"/>
              <a:sym typeface="Figtree Black"/>
            </a:endParaRPr>
          </a:p>
        </p:txBody>
      </p:sp>
      <p:sp>
        <p:nvSpPr>
          <p:cNvPr id="40" name="Google Shape;429;p44">
            <a:extLst>
              <a:ext uri="{FF2B5EF4-FFF2-40B4-BE49-F238E27FC236}">
                <a16:creationId xmlns:a16="http://schemas.microsoft.com/office/drawing/2014/main" id="{8FE11BE6-598C-0E94-37C9-164988498A0F}"/>
              </a:ext>
            </a:extLst>
          </p:cNvPr>
          <p:cNvSpPr txBox="1"/>
          <p:nvPr/>
        </p:nvSpPr>
        <p:spPr>
          <a:xfrm>
            <a:off x="7144355" y="2711254"/>
            <a:ext cx="1552500" cy="548881"/>
          </a:xfrm>
          <a:prstGeom prst="rect">
            <a:avLst/>
          </a:prstGeom>
          <a:noFill/>
          <a:ln>
            <a:noFill/>
          </a:ln>
        </p:spPr>
        <p:txBody>
          <a:bodyPr spcFirstLastPara="1" wrap="square" lIns="91425" tIns="91425" rIns="91425" bIns="91425" anchor="b" anchorCtr="0">
            <a:noAutofit/>
          </a:bodyPr>
          <a:lstStyle/>
          <a:p>
            <a:pPr marL="0" lvl="0" indent="0" algn="ctr">
              <a:lnSpc>
                <a:spcPct val="115000"/>
              </a:lnSpc>
              <a:buSzPts val="1100"/>
              <a:buFont typeface="Arial"/>
              <a:buNone/>
            </a:pPr>
            <a:r>
              <a:rPr lang="en-US" sz="1400" b="1" dirty="0">
                <a:solidFill>
                  <a:schemeClr val="dk1"/>
                </a:solidFill>
                <a:latin typeface="Hanken Grotesk" panose="020B0604020202020204" charset="0"/>
              </a:rPr>
              <a:t>Performance Evaluation</a:t>
            </a:r>
            <a:endParaRPr sz="1400" b="1" dirty="0">
              <a:solidFill>
                <a:schemeClr val="dk1"/>
              </a:solidFill>
              <a:latin typeface="Hanken Grotesk" panose="020B0604020202020204" charset="0"/>
              <a:sym typeface="Figtree Black"/>
            </a:endParaRPr>
          </a:p>
        </p:txBody>
      </p:sp>
      <p:sp>
        <p:nvSpPr>
          <p:cNvPr id="41" name="Google Shape;421;p44">
            <a:extLst>
              <a:ext uri="{FF2B5EF4-FFF2-40B4-BE49-F238E27FC236}">
                <a16:creationId xmlns:a16="http://schemas.microsoft.com/office/drawing/2014/main" id="{F61E2AB5-FC61-20B4-8F23-EB0281D507B8}"/>
              </a:ext>
            </a:extLst>
          </p:cNvPr>
          <p:cNvSpPr txBox="1"/>
          <p:nvPr/>
        </p:nvSpPr>
        <p:spPr>
          <a:xfrm>
            <a:off x="7737755" y="219325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dirty="0">
                <a:solidFill>
                  <a:schemeClr val="lt1"/>
                </a:solidFill>
                <a:latin typeface="Figtree Black"/>
                <a:ea typeface="Figtree Black"/>
                <a:cs typeface="Figtree Black"/>
                <a:sym typeface="Figtree Black"/>
              </a:rPr>
              <a:t>07</a:t>
            </a:r>
            <a:endParaRPr sz="1100" dirty="0">
              <a:solidFill>
                <a:schemeClr val="lt1"/>
              </a:solidFill>
              <a:latin typeface="Figtree Black"/>
              <a:ea typeface="Figtree Black"/>
              <a:cs typeface="Figtree Black"/>
              <a:sym typeface="Figtree Black"/>
            </a:endParaRPr>
          </a:p>
        </p:txBody>
      </p:sp>
      <p:cxnSp>
        <p:nvCxnSpPr>
          <p:cNvPr id="42" name="Google Shape;419;p44">
            <a:extLst>
              <a:ext uri="{FF2B5EF4-FFF2-40B4-BE49-F238E27FC236}">
                <a16:creationId xmlns:a16="http://schemas.microsoft.com/office/drawing/2014/main" id="{2234FF40-B4FE-5055-78B1-7E3874886238}"/>
              </a:ext>
            </a:extLst>
          </p:cNvPr>
          <p:cNvCxnSpPr>
            <a:cxnSpLocks/>
            <a:stCxn id="39" idx="3"/>
            <a:endCxn id="41" idx="1"/>
          </p:cNvCxnSpPr>
          <p:nvPr/>
        </p:nvCxnSpPr>
        <p:spPr>
          <a:xfrm>
            <a:off x="6693135" y="2376105"/>
            <a:ext cx="1044620" cy="0"/>
          </a:xfrm>
          <a:prstGeom prst="straightConnector1">
            <a:avLst/>
          </a:prstGeom>
          <a:noFill/>
          <a:ln w="19050" cap="flat" cmpd="sng">
            <a:solidFill>
              <a:schemeClr val="dk1"/>
            </a:solidFill>
            <a:prstDash val="solid"/>
            <a:round/>
            <a:headEnd type="none" w="med" len="med"/>
            <a:tailEnd type="none" w="med" len="med"/>
          </a:ln>
        </p:spPr>
      </p:cxnSp>
      <p:sp>
        <p:nvSpPr>
          <p:cNvPr id="44" name="Google Shape;329;p36">
            <a:extLst>
              <a:ext uri="{FF2B5EF4-FFF2-40B4-BE49-F238E27FC236}">
                <a16:creationId xmlns:a16="http://schemas.microsoft.com/office/drawing/2014/main" id="{4CAF8434-0B2B-40F0-A129-0EEE6E499B12}"/>
              </a:ext>
            </a:extLst>
          </p:cNvPr>
          <p:cNvSpPr txBox="1">
            <a:spLocks noGrp="1"/>
          </p:cNvSpPr>
          <p:nvPr>
            <p:ph type="title"/>
          </p:nvPr>
        </p:nvSpPr>
        <p:spPr>
          <a:xfrm>
            <a:off x="1669958" y="679580"/>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Methodology</a:t>
            </a:r>
            <a:endParaRPr sz="2400" dirty="0"/>
          </a:p>
        </p:txBody>
      </p:sp>
      <p:sp>
        <p:nvSpPr>
          <p:cNvPr id="45" name="Google Shape;331;p36">
            <a:extLst>
              <a:ext uri="{FF2B5EF4-FFF2-40B4-BE49-F238E27FC236}">
                <a16:creationId xmlns:a16="http://schemas.microsoft.com/office/drawing/2014/main" id="{4BEB05AF-CD7A-3DB7-6A98-ECDF4DF5174B}"/>
              </a:ext>
            </a:extLst>
          </p:cNvPr>
          <p:cNvSpPr txBox="1">
            <a:spLocks/>
          </p:cNvSpPr>
          <p:nvPr/>
        </p:nvSpPr>
        <p:spPr>
          <a:xfrm>
            <a:off x="720000" y="533550"/>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05</a:t>
            </a:r>
            <a:endParaRPr lang="en" dirty="0"/>
          </a:p>
        </p:txBody>
      </p:sp>
      <p:sp>
        <p:nvSpPr>
          <p:cNvPr id="2" name="Google Shape;330;p36">
            <a:extLst>
              <a:ext uri="{FF2B5EF4-FFF2-40B4-BE49-F238E27FC236}">
                <a16:creationId xmlns:a16="http://schemas.microsoft.com/office/drawing/2014/main" id="{8D77C2C5-1DBB-3954-780D-61103A4CFD50}"/>
              </a:ext>
            </a:extLst>
          </p:cNvPr>
          <p:cNvSpPr txBox="1">
            <a:spLocks/>
          </p:cNvSpPr>
          <p:nvPr/>
        </p:nvSpPr>
        <p:spPr>
          <a:xfrm>
            <a:off x="720000" y="467672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6 - </a:t>
            </a:r>
            <a:fld id="{1612EBDF-BBCF-4455-9CA4-C9C775D5C22A}" type="datetime1">
              <a:rPr lang="en-US" sz="1000" smtClean="0"/>
              <a:t>12/18/2025</a:t>
            </a:fld>
            <a:endParaRPr lang="en-US" sz="1000" dirty="0"/>
          </a:p>
        </p:txBody>
      </p:sp>
      <p:sp>
        <p:nvSpPr>
          <p:cNvPr id="3" name="Google Shape;425;p44">
            <a:extLst>
              <a:ext uri="{FF2B5EF4-FFF2-40B4-BE49-F238E27FC236}">
                <a16:creationId xmlns:a16="http://schemas.microsoft.com/office/drawing/2014/main" id="{3EC4F3DF-EEE0-03B4-C8BB-83FC4C4752A9}"/>
              </a:ext>
            </a:extLst>
          </p:cNvPr>
          <p:cNvSpPr txBox="1"/>
          <p:nvPr/>
        </p:nvSpPr>
        <p:spPr>
          <a:xfrm>
            <a:off x="720000" y="3297035"/>
            <a:ext cx="1133570" cy="689900"/>
          </a:xfrm>
          <a:prstGeom prst="rect">
            <a:avLst/>
          </a:prstGeom>
          <a:noFill/>
          <a:ln>
            <a:noFill/>
          </a:ln>
        </p:spPr>
        <p:txBody>
          <a:bodyPr spcFirstLastPara="1" wrap="square" lIns="91425" tIns="91425" rIns="91425" bIns="91425" anchor="b" anchorCtr="0">
            <a:noAutofit/>
          </a:bodyPr>
          <a:lstStyle/>
          <a:p>
            <a:pPr algn="ctr"/>
            <a:r>
              <a:rPr lang="en-US" sz="1100" dirty="0"/>
              <a:t>Collect raw load and weather data</a:t>
            </a:r>
          </a:p>
        </p:txBody>
      </p:sp>
      <p:sp>
        <p:nvSpPr>
          <p:cNvPr id="5" name="Google Shape;425;p44">
            <a:extLst>
              <a:ext uri="{FF2B5EF4-FFF2-40B4-BE49-F238E27FC236}">
                <a16:creationId xmlns:a16="http://schemas.microsoft.com/office/drawing/2014/main" id="{E6AE0368-F6B1-C941-8F48-9B7A5AF83393}"/>
              </a:ext>
            </a:extLst>
          </p:cNvPr>
          <p:cNvSpPr txBox="1"/>
          <p:nvPr/>
        </p:nvSpPr>
        <p:spPr>
          <a:xfrm>
            <a:off x="1920855" y="3296978"/>
            <a:ext cx="1133570" cy="873577"/>
          </a:xfrm>
          <a:prstGeom prst="rect">
            <a:avLst/>
          </a:prstGeom>
          <a:noFill/>
          <a:ln>
            <a:noFill/>
          </a:ln>
        </p:spPr>
        <p:txBody>
          <a:bodyPr spcFirstLastPara="1" wrap="square" lIns="91425" tIns="91425" rIns="91425" bIns="91425" anchor="b" anchorCtr="0">
            <a:noAutofit/>
          </a:bodyPr>
          <a:lstStyle/>
          <a:p>
            <a:pPr algn="ctr"/>
            <a:r>
              <a:rPr lang="en-US" sz="1100" dirty="0"/>
              <a:t>Clean, align, and standardize all data</a:t>
            </a:r>
          </a:p>
        </p:txBody>
      </p:sp>
      <p:sp>
        <p:nvSpPr>
          <p:cNvPr id="13" name="Google Shape;425;p44">
            <a:extLst>
              <a:ext uri="{FF2B5EF4-FFF2-40B4-BE49-F238E27FC236}">
                <a16:creationId xmlns:a16="http://schemas.microsoft.com/office/drawing/2014/main" id="{EAE2DE35-7824-129F-E04D-A9D6EB0D6E93}"/>
              </a:ext>
            </a:extLst>
          </p:cNvPr>
          <p:cNvSpPr txBox="1"/>
          <p:nvPr/>
        </p:nvSpPr>
        <p:spPr>
          <a:xfrm>
            <a:off x="3274050" y="3296978"/>
            <a:ext cx="1133570" cy="873577"/>
          </a:xfrm>
          <a:prstGeom prst="rect">
            <a:avLst/>
          </a:prstGeom>
          <a:noFill/>
          <a:ln>
            <a:noFill/>
          </a:ln>
        </p:spPr>
        <p:txBody>
          <a:bodyPr spcFirstLastPara="1" wrap="square" lIns="91425" tIns="91425" rIns="91425" bIns="91425" anchor="b" anchorCtr="0">
            <a:noAutofit/>
          </a:bodyPr>
          <a:lstStyle/>
          <a:p>
            <a:pPr algn="ctr"/>
            <a:r>
              <a:rPr lang="en-US" sz="1100" dirty="0"/>
              <a:t>Understand patterns, trends, correlations</a:t>
            </a:r>
          </a:p>
        </p:txBody>
      </p:sp>
      <p:sp>
        <p:nvSpPr>
          <p:cNvPr id="14" name="Google Shape;425;p44">
            <a:extLst>
              <a:ext uri="{FF2B5EF4-FFF2-40B4-BE49-F238E27FC236}">
                <a16:creationId xmlns:a16="http://schemas.microsoft.com/office/drawing/2014/main" id="{2F794910-ABCF-A463-99BB-B8798E265520}"/>
              </a:ext>
            </a:extLst>
          </p:cNvPr>
          <p:cNvSpPr txBox="1"/>
          <p:nvPr/>
        </p:nvSpPr>
        <p:spPr>
          <a:xfrm>
            <a:off x="4600465" y="3296978"/>
            <a:ext cx="1133570" cy="726800"/>
          </a:xfrm>
          <a:prstGeom prst="rect">
            <a:avLst/>
          </a:prstGeom>
          <a:noFill/>
          <a:ln>
            <a:noFill/>
          </a:ln>
        </p:spPr>
        <p:txBody>
          <a:bodyPr spcFirstLastPara="1" wrap="square" lIns="91425" tIns="91425" rIns="91425" bIns="91425" anchor="b" anchorCtr="0">
            <a:noAutofit/>
          </a:bodyPr>
          <a:lstStyle/>
          <a:p>
            <a:pPr algn="ctr"/>
            <a:r>
              <a:rPr lang="en-US" sz="1100" dirty="0"/>
              <a:t>Design ML/DL forecasting models</a:t>
            </a:r>
          </a:p>
        </p:txBody>
      </p:sp>
      <p:sp>
        <p:nvSpPr>
          <p:cNvPr id="15" name="Google Shape;425;p44">
            <a:extLst>
              <a:ext uri="{FF2B5EF4-FFF2-40B4-BE49-F238E27FC236}">
                <a16:creationId xmlns:a16="http://schemas.microsoft.com/office/drawing/2014/main" id="{BCAA6CEE-AE80-4CFE-BF08-B9B1F8911FF5}"/>
              </a:ext>
            </a:extLst>
          </p:cNvPr>
          <p:cNvSpPr txBox="1"/>
          <p:nvPr/>
        </p:nvSpPr>
        <p:spPr>
          <a:xfrm>
            <a:off x="5993693" y="3378952"/>
            <a:ext cx="1133570" cy="635116"/>
          </a:xfrm>
          <a:prstGeom prst="rect">
            <a:avLst/>
          </a:prstGeom>
          <a:noFill/>
          <a:ln>
            <a:noFill/>
          </a:ln>
        </p:spPr>
        <p:txBody>
          <a:bodyPr spcFirstLastPara="1" wrap="square" lIns="91425" tIns="91425" rIns="91425" bIns="91425" anchor="b" anchorCtr="0">
            <a:noAutofit/>
          </a:bodyPr>
          <a:lstStyle/>
          <a:p>
            <a:pPr algn="ctr"/>
            <a:r>
              <a:rPr lang="en-US" sz="1100" dirty="0"/>
              <a:t>Train models and tune parameters</a:t>
            </a:r>
          </a:p>
        </p:txBody>
      </p:sp>
      <p:sp>
        <p:nvSpPr>
          <p:cNvPr id="16" name="Google Shape;425;p44">
            <a:extLst>
              <a:ext uri="{FF2B5EF4-FFF2-40B4-BE49-F238E27FC236}">
                <a16:creationId xmlns:a16="http://schemas.microsoft.com/office/drawing/2014/main" id="{F1C69DC4-EDE4-2196-C58E-D56BE28497B6}"/>
              </a:ext>
            </a:extLst>
          </p:cNvPr>
          <p:cNvSpPr txBox="1"/>
          <p:nvPr/>
        </p:nvSpPr>
        <p:spPr>
          <a:xfrm>
            <a:off x="7353820" y="3353160"/>
            <a:ext cx="1133570" cy="635116"/>
          </a:xfrm>
          <a:prstGeom prst="rect">
            <a:avLst/>
          </a:prstGeom>
          <a:noFill/>
          <a:ln>
            <a:noFill/>
          </a:ln>
        </p:spPr>
        <p:txBody>
          <a:bodyPr spcFirstLastPara="1" wrap="square" lIns="91425" tIns="91425" rIns="91425" bIns="91425" anchor="b" anchorCtr="0">
            <a:noAutofit/>
          </a:bodyPr>
          <a:lstStyle/>
          <a:p>
            <a:pPr algn="ctr"/>
            <a:r>
              <a:rPr lang="en-US" sz="1100" dirty="0"/>
              <a:t>Compare models using error metrics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44" name="Google Shape;329;p36">
            <a:extLst>
              <a:ext uri="{FF2B5EF4-FFF2-40B4-BE49-F238E27FC236}">
                <a16:creationId xmlns:a16="http://schemas.microsoft.com/office/drawing/2014/main" id="{4CAF8434-0B2B-40F0-A129-0EEE6E499B12}"/>
              </a:ext>
            </a:extLst>
          </p:cNvPr>
          <p:cNvSpPr txBox="1">
            <a:spLocks noGrp="1"/>
          </p:cNvSpPr>
          <p:nvPr>
            <p:ph type="title"/>
          </p:nvPr>
        </p:nvSpPr>
        <p:spPr>
          <a:xfrm>
            <a:off x="1450039" y="540684"/>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Data A</a:t>
            </a:r>
            <a:r>
              <a:rPr lang="en-US" sz="2400" dirty="0"/>
              <a:t>c</a:t>
            </a:r>
            <a:r>
              <a:rPr lang="en" sz="2400" dirty="0"/>
              <a:t>quisition &amp; Preprocessing</a:t>
            </a:r>
            <a:endParaRPr sz="2400" dirty="0"/>
          </a:p>
        </p:txBody>
      </p:sp>
      <p:sp>
        <p:nvSpPr>
          <p:cNvPr id="45" name="Google Shape;331;p36">
            <a:extLst>
              <a:ext uri="{FF2B5EF4-FFF2-40B4-BE49-F238E27FC236}">
                <a16:creationId xmlns:a16="http://schemas.microsoft.com/office/drawing/2014/main" id="{4BEB05AF-CD7A-3DB7-6A98-ECDF4DF5174B}"/>
              </a:ext>
            </a:extLst>
          </p:cNvPr>
          <p:cNvSpPr txBox="1">
            <a:spLocks/>
          </p:cNvSpPr>
          <p:nvPr/>
        </p:nvSpPr>
        <p:spPr>
          <a:xfrm>
            <a:off x="500081" y="394654"/>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5.1</a:t>
            </a:r>
            <a:endParaRPr lang="en" dirty="0"/>
          </a:p>
        </p:txBody>
      </p:sp>
      <p:sp>
        <p:nvSpPr>
          <p:cNvPr id="2" name="Rectangle: Rounded Corners 1">
            <a:extLst>
              <a:ext uri="{FF2B5EF4-FFF2-40B4-BE49-F238E27FC236}">
                <a16:creationId xmlns:a16="http://schemas.microsoft.com/office/drawing/2014/main" id="{C9B70B1F-9107-8167-75DB-93D1B2ECB884}"/>
              </a:ext>
            </a:extLst>
          </p:cNvPr>
          <p:cNvSpPr/>
          <p:nvPr/>
        </p:nvSpPr>
        <p:spPr>
          <a:xfrm>
            <a:off x="500081" y="1394460"/>
            <a:ext cx="3928200" cy="2910840"/>
          </a:xfrm>
          <a:prstGeom prst="roundRect">
            <a:avLst>
              <a:gd name="adj" fmla="val 4233"/>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Arial" panose="020B0604020202020204" pitchFamily="34" charset="0"/>
              <a:buChar char="•"/>
            </a:pPr>
            <a:r>
              <a:rPr lang="en-US" dirty="0">
                <a:solidFill>
                  <a:schemeClr val="tx1"/>
                </a:solidFill>
                <a:latin typeface="Hanken Grotesk" panose="020B0604020202020204" charset="0"/>
              </a:rPr>
              <a:t>Load Data: Hourly MW readings from </a:t>
            </a:r>
            <a:r>
              <a:rPr lang="en-US" dirty="0" err="1">
                <a:solidFill>
                  <a:schemeClr val="tx1"/>
                </a:solidFill>
                <a:latin typeface="Hanken Grotesk" panose="020B0604020202020204" charset="0"/>
              </a:rPr>
              <a:t>Baneshwor</a:t>
            </a:r>
            <a:r>
              <a:rPr lang="en-US" dirty="0">
                <a:solidFill>
                  <a:schemeClr val="tx1"/>
                </a:solidFill>
                <a:latin typeface="Hanken Grotesk" panose="020B0604020202020204" charset="0"/>
              </a:rPr>
              <a:t> Feeder. </a:t>
            </a:r>
          </a:p>
          <a:p>
            <a:pPr marL="285750" indent="-285750">
              <a:buFont typeface="Arial" panose="020B0604020202020204" pitchFamily="34" charset="0"/>
              <a:buChar char="•"/>
            </a:pPr>
            <a:endParaRPr lang="en-US" dirty="0">
              <a:solidFill>
                <a:schemeClr val="tx1"/>
              </a:solidFill>
              <a:latin typeface="Hanken Grotesk" panose="020B0604020202020204" charset="0"/>
            </a:endParaRPr>
          </a:p>
          <a:p>
            <a:pPr marL="285750" indent="-285750">
              <a:buFont typeface="Arial" panose="020B0604020202020204" pitchFamily="34" charset="0"/>
              <a:buChar char="•"/>
            </a:pPr>
            <a:r>
              <a:rPr lang="en-US" dirty="0">
                <a:solidFill>
                  <a:schemeClr val="tx1"/>
                </a:solidFill>
                <a:latin typeface="Hanken Grotesk" panose="020B0604020202020204" charset="0"/>
              </a:rPr>
              <a:t>Weather Data: Temperature, Humidity, and Rainfall. </a:t>
            </a:r>
          </a:p>
          <a:p>
            <a:pPr marL="285750" indent="-285750">
              <a:buFont typeface="Arial" panose="020B0604020202020204" pitchFamily="34" charset="0"/>
              <a:buChar char="•"/>
            </a:pPr>
            <a:endParaRPr lang="en-US" dirty="0">
              <a:solidFill>
                <a:schemeClr val="tx1"/>
              </a:solidFill>
              <a:latin typeface="Hanken Grotesk" panose="020B0604020202020204" charset="0"/>
            </a:endParaRPr>
          </a:p>
          <a:p>
            <a:pPr marL="285750" indent="-285750">
              <a:buFont typeface="Arial" panose="020B0604020202020204" pitchFamily="34" charset="0"/>
              <a:buChar char="•"/>
            </a:pPr>
            <a:r>
              <a:rPr lang="en-US" dirty="0">
                <a:solidFill>
                  <a:schemeClr val="tx1"/>
                </a:solidFill>
                <a:latin typeface="Hanken Grotesk" panose="020B0604020202020204" charset="0"/>
              </a:rPr>
              <a:t>Challenges: Missing Value, Nepali (BS) Date Format, Outliers</a:t>
            </a:r>
          </a:p>
        </p:txBody>
      </p:sp>
      <p:sp>
        <p:nvSpPr>
          <p:cNvPr id="3" name="Rectangle: Rounded Corners 2">
            <a:extLst>
              <a:ext uri="{FF2B5EF4-FFF2-40B4-BE49-F238E27FC236}">
                <a16:creationId xmlns:a16="http://schemas.microsoft.com/office/drawing/2014/main" id="{70074ACB-AFF8-041C-3874-F85315EFFC1B}"/>
              </a:ext>
            </a:extLst>
          </p:cNvPr>
          <p:cNvSpPr/>
          <p:nvPr/>
        </p:nvSpPr>
        <p:spPr>
          <a:xfrm>
            <a:off x="4689578" y="1394460"/>
            <a:ext cx="3928199" cy="2910840"/>
          </a:xfrm>
          <a:prstGeom prst="roundRect">
            <a:avLst>
              <a:gd name="adj" fmla="val 4233"/>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Arial" panose="020B0604020202020204" pitchFamily="34" charset="0"/>
              <a:buChar char="•"/>
            </a:pPr>
            <a:r>
              <a:rPr lang="en-US" dirty="0">
                <a:solidFill>
                  <a:schemeClr val="tx1"/>
                </a:solidFill>
                <a:latin typeface="Hanken Grotesk" panose="020B0604020202020204" charset="0"/>
              </a:rPr>
              <a:t>Standardization: Converted all timestamps to Gregorian (AD). </a:t>
            </a:r>
          </a:p>
          <a:p>
            <a:pPr marL="285750" indent="-285750">
              <a:buFont typeface="Arial" panose="020B0604020202020204" pitchFamily="34" charset="0"/>
              <a:buChar char="•"/>
            </a:pPr>
            <a:endParaRPr lang="en-US" dirty="0">
              <a:solidFill>
                <a:schemeClr val="tx1"/>
              </a:solidFill>
              <a:latin typeface="Hanken Grotesk" panose="020B0604020202020204" charset="0"/>
            </a:endParaRPr>
          </a:p>
          <a:p>
            <a:pPr marL="285750" indent="-285750">
              <a:buFont typeface="Arial" panose="020B0604020202020204" pitchFamily="34" charset="0"/>
              <a:buChar char="•"/>
            </a:pPr>
            <a:r>
              <a:rPr lang="en-US" dirty="0">
                <a:solidFill>
                  <a:schemeClr val="tx1"/>
                </a:solidFill>
                <a:latin typeface="Hanken Grotesk" panose="020B0604020202020204" charset="0"/>
              </a:rPr>
              <a:t>Cleaning: Handled missing values via Forward/Backward fill; detected outliers using IQR. </a:t>
            </a:r>
          </a:p>
          <a:p>
            <a:pPr marL="285750" indent="-285750">
              <a:buFont typeface="Arial" panose="020B0604020202020204" pitchFamily="34" charset="0"/>
              <a:buChar char="•"/>
            </a:pPr>
            <a:endParaRPr lang="en-US" dirty="0">
              <a:solidFill>
                <a:schemeClr val="tx1"/>
              </a:solidFill>
              <a:latin typeface="Hanken Grotesk" panose="020B0604020202020204" charset="0"/>
            </a:endParaRPr>
          </a:p>
          <a:p>
            <a:pPr marL="285750" indent="-285750">
              <a:buFont typeface="Arial" panose="020B0604020202020204" pitchFamily="34" charset="0"/>
              <a:buChar char="•"/>
            </a:pPr>
            <a:r>
              <a:rPr lang="en-US" dirty="0">
                <a:solidFill>
                  <a:schemeClr val="tx1"/>
                </a:solidFill>
                <a:latin typeface="Hanken Grotesk" panose="020B0604020202020204" charset="0"/>
              </a:rPr>
              <a:t>Feature Engineering: Created Hour, Day, Month and Time Features from time.</a:t>
            </a:r>
          </a:p>
        </p:txBody>
      </p:sp>
      <p:sp>
        <p:nvSpPr>
          <p:cNvPr id="4" name="Google Shape;330;p36">
            <a:extLst>
              <a:ext uri="{FF2B5EF4-FFF2-40B4-BE49-F238E27FC236}">
                <a16:creationId xmlns:a16="http://schemas.microsoft.com/office/drawing/2014/main" id="{70568F44-D49C-3739-30F1-D8B0614774A8}"/>
              </a:ext>
            </a:extLst>
          </p:cNvPr>
          <p:cNvSpPr txBox="1">
            <a:spLocks/>
          </p:cNvSpPr>
          <p:nvPr/>
        </p:nvSpPr>
        <p:spPr>
          <a:xfrm>
            <a:off x="500081" y="4609778"/>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7 - </a:t>
            </a:r>
            <a:fld id="{1612EBDF-BBCF-4455-9CA4-C9C775D5C22A}" type="datetime1">
              <a:rPr lang="en-US" sz="1000" smtClean="0"/>
              <a:t>12/18/2025</a:t>
            </a:fld>
            <a:endParaRPr lang="en-US" sz="1000" dirty="0"/>
          </a:p>
        </p:txBody>
      </p:sp>
    </p:spTree>
    <p:extLst>
      <p:ext uri="{BB962C8B-B14F-4D97-AF65-F5344CB8AC3E}">
        <p14:creationId xmlns:p14="http://schemas.microsoft.com/office/powerpoint/2010/main" val="640175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44" name="Google Shape;329;p36">
            <a:extLst>
              <a:ext uri="{FF2B5EF4-FFF2-40B4-BE49-F238E27FC236}">
                <a16:creationId xmlns:a16="http://schemas.microsoft.com/office/drawing/2014/main" id="{4CAF8434-0B2B-40F0-A129-0EEE6E499B12}"/>
              </a:ext>
            </a:extLst>
          </p:cNvPr>
          <p:cNvSpPr txBox="1">
            <a:spLocks noGrp="1"/>
          </p:cNvSpPr>
          <p:nvPr>
            <p:ph type="title"/>
          </p:nvPr>
        </p:nvSpPr>
        <p:spPr>
          <a:xfrm>
            <a:off x="1669958" y="679580"/>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Data A</a:t>
            </a:r>
            <a:r>
              <a:rPr lang="en-US" sz="2400" dirty="0"/>
              <a:t>c</a:t>
            </a:r>
            <a:r>
              <a:rPr lang="en" sz="2400" dirty="0"/>
              <a:t>quisition &amp; Preprocessing</a:t>
            </a:r>
            <a:endParaRPr sz="2400" dirty="0"/>
          </a:p>
        </p:txBody>
      </p:sp>
      <p:sp>
        <p:nvSpPr>
          <p:cNvPr id="45" name="Google Shape;331;p36">
            <a:extLst>
              <a:ext uri="{FF2B5EF4-FFF2-40B4-BE49-F238E27FC236}">
                <a16:creationId xmlns:a16="http://schemas.microsoft.com/office/drawing/2014/main" id="{4BEB05AF-CD7A-3DB7-6A98-ECDF4DF5174B}"/>
              </a:ext>
            </a:extLst>
          </p:cNvPr>
          <p:cNvSpPr txBox="1">
            <a:spLocks/>
          </p:cNvSpPr>
          <p:nvPr/>
        </p:nvSpPr>
        <p:spPr>
          <a:xfrm>
            <a:off x="720000" y="533550"/>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5.1</a:t>
            </a:r>
            <a:endParaRPr lang="en"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144C473-3982-79B9-9701-05CA5D54C350}"/>
                  </a:ext>
                </a:extLst>
              </p:cNvPr>
              <p:cNvGraphicFramePr>
                <a:graphicFrameLocks noGrp="1"/>
              </p:cNvGraphicFramePr>
              <p:nvPr>
                <p:extLst>
                  <p:ext uri="{D42A27DB-BD31-4B8C-83A1-F6EECF244321}">
                    <p14:modId xmlns:p14="http://schemas.microsoft.com/office/powerpoint/2010/main" val="416074361"/>
                  </p:ext>
                </p:extLst>
              </p:nvPr>
            </p:nvGraphicFramePr>
            <p:xfrm>
              <a:off x="720000" y="1441799"/>
              <a:ext cx="7845266" cy="2788057"/>
            </p:xfrm>
            <a:graphic>
              <a:graphicData uri="http://schemas.openxmlformats.org/drawingml/2006/table">
                <a:tbl>
                  <a:tblPr>
                    <a:tableStyleId>{5940675A-B579-460E-94D1-54222C63F5DA}</a:tableStyleId>
                  </a:tblPr>
                  <a:tblGrid>
                    <a:gridCol w="1616800">
                      <a:extLst>
                        <a:ext uri="{9D8B030D-6E8A-4147-A177-3AD203B41FA5}">
                          <a16:colId xmlns:a16="http://schemas.microsoft.com/office/drawing/2014/main" val="996741335"/>
                        </a:ext>
                      </a:extLst>
                    </a:gridCol>
                    <a:gridCol w="1056640">
                      <a:extLst>
                        <a:ext uri="{9D8B030D-6E8A-4147-A177-3AD203B41FA5}">
                          <a16:colId xmlns:a16="http://schemas.microsoft.com/office/drawing/2014/main" val="823278242"/>
                        </a:ext>
                      </a:extLst>
                    </a:gridCol>
                    <a:gridCol w="1757680">
                      <a:extLst>
                        <a:ext uri="{9D8B030D-6E8A-4147-A177-3AD203B41FA5}">
                          <a16:colId xmlns:a16="http://schemas.microsoft.com/office/drawing/2014/main" val="1216470040"/>
                        </a:ext>
                      </a:extLst>
                    </a:gridCol>
                    <a:gridCol w="1859280">
                      <a:extLst>
                        <a:ext uri="{9D8B030D-6E8A-4147-A177-3AD203B41FA5}">
                          <a16:colId xmlns:a16="http://schemas.microsoft.com/office/drawing/2014/main" val="2941528655"/>
                        </a:ext>
                      </a:extLst>
                    </a:gridCol>
                    <a:gridCol w="1554866">
                      <a:extLst>
                        <a:ext uri="{9D8B030D-6E8A-4147-A177-3AD203B41FA5}">
                          <a16:colId xmlns:a16="http://schemas.microsoft.com/office/drawing/2014/main" val="2353134203"/>
                        </a:ext>
                      </a:extLst>
                    </a:gridCol>
                  </a:tblGrid>
                  <a:tr h="569881">
                    <a:tc>
                      <a:txBody>
                        <a:bodyPr/>
                        <a:lstStyle/>
                        <a:p>
                          <a:pPr algn="ctr" fontAlgn="t"/>
                          <a:r>
                            <a:rPr lang="en-US" sz="1400" u="none" strike="noStrike" dirty="0">
                              <a:effectLst/>
                            </a:rPr>
                            <a:t>Time</a:t>
                          </a:r>
                          <a:endParaRPr lang="en-US" sz="1400" b="1"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t"/>
                          <a:r>
                            <a:rPr lang="en-US" sz="1400" u="none" strike="noStrike" dirty="0">
                              <a:effectLst/>
                            </a:rPr>
                            <a:t>Power </a:t>
                          </a:r>
                        </a:p>
                        <a:p>
                          <a:pPr algn="ctr" fontAlgn="t"/>
                          <a:r>
                            <a:rPr lang="en-US" sz="1400" u="none" strike="noStrike" dirty="0">
                              <a:effectLst/>
                            </a:rPr>
                            <a:t>(MV)</a:t>
                          </a:r>
                          <a:endParaRPr lang="en-US" sz="1400" b="1"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t"/>
                          <a:r>
                            <a:rPr lang="en-US" sz="1400" u="none" strike="noStrike" dirty="0">
                              <a:effectLst/>
                            </a:rPr>
                            <a:t>Air Temperature</a:t>
                          </a:r>
                        </a:p>
                        <a:p>
                          <a:pPr algn="ctr" fontAlgn="t"/>
                          <a:r>
                            <a:rPr lang="en-US" sz="1400" u="none" strike="noStrike" dirty="0">
                              <a:effectLst/>
                            </a:rPr>
                            <a:t>(°C)</a:t>
                          </a:r>
                          <a:endParaRPr lang="en-US" sz="1400" b="1"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t"/>
                          <a:r>
                            <a:rPr lang="en-US" sz="1400" u="none" strike="noStrike" dirty="0">
                              <a:effectLst/>
                            </a:rPr>
                            <a:t>Global Solar Radiation</a:t>
                          </a:r>
                        </a:p>
                        <a:p>
                          <a:pPr algn="ctr" fontAlgn="t"/>
                          <a:r>
                            <a:rPr lang="en-US" sz="1400" kern="1200" dirty="0">
                              <a:solidFill>
                                <a:schemeClr val="tx1"/>
                              </a:solidFill>
                              <a:latin typeface="Hanken Grotesk"/>
                              <a:sym typeface="Hanken Grotesk"/>
                            </a:rPr>
                            <a:t>(W/</a:t>
                          </a:r>
                          <a14:m>
                            <m:oMath xmlns:m="http://schemas.openxmlformats.org/officeDocument/2006/math">
                              <m:sSup>
                                <m:sSupPr>
                                  <m:ctrlPr>
                                    <a:rPr lang="en-US" sz="1400" i="1" kern="1200" smtClean="0">
                                      <a:solidFill>
                                        <a:schemeClr val="tx1"/>
                                      </a:solidFill>
                                      <a:latin typeface="Cambria Math" panose="02040503050406030204" pitchFamily="18" charset="0"/>
                                      <a:sym typeface="Hanken Grotesk"/>
                                    </a:rPr>
                                  </m:ctrlPr>
                                </m:sSupPr>
                                <m:e>
                                  <m:r>
                                    <a:rPr lang="en-US" sz="1400" b="0" i="1" kern="1200" smtClean="0">
                                      <a:solidFill>
                                        <a:schemeClr val="tx1"/>
                                      </a:solidFill>
                                      <a:latin typeface="Cambria Math" panose="02040503050406030204" pitchFamily="18" charset="0"/>
                                      <a:sym typeface="Hanken Grotesk"/>
                                    </a:rPr>
                                    <m:t>𝑚</m:t>
                                  </m:r>
                                </m:e>
                                <m:sup>
                                  <m:r>
                                    <a:rPr lang="en-US" sz="1400" b="0" i="1" kern="1200" smtClean="0">
                                      <a:solidFill>
                                        <a:schemeClr val="tx1"/>
                                      </a:solidFill>
                                      <a:latin typeface="Cambria Math" panose="02040503050406030204" pitchFamily="18" charset="0"/>
                                      <a:sym typeface="Hanken Grotesk"/>
                                    </a:rPr>
                                    <m:t>2</m:t>
                                  </m:r>
                                </m:sup>
                              </m:sSup>
                            </m:oMath>
                          </a14:m>
                          <a:r>
                            <a:rPr lang="en-US" sz="1400" kern="1200" dirty="0">
                              <a:solidFill>
                                <a:schemeClr val="tx1"/>
                              </a:solidFill>
                              <a:latin typeface="Hanken Grotesk"/>
                              <a:sym typeface="Hanken Grotesk"/>
                            </a:rPr>
                            <a:t>)</a:t>
                          </a:r>
                        </a:p>
                      </a:txBody>
                      <a:tcPr marL="7620" marR="7620" marT="7620" marB="0" anchor="ctr"/>
                    </a:tc>
                    <a:tc>
                      <a:txBody>
                        <a:bodyPr/>
                        <a:lstStyle/>
                        <a:p>
                          <a:pPr algn="ctr" fontAlgn="t"/>
                          <a:r>
                            <a:rPr lang="en-US" sz="1400" u="none" strike="noStrike" dirty="0">
                              <a:effectLst/>
                            </a:rPr>
                            <a:t>Relative Humidity</a:t>
                          </a:r>
                        </a:p>
                        <a:p>
                          <a:pPr algn="ctr" fontAlgn="t"/>
                          <a:r>
                            <a:rPr lang="en-US" sz="1400" b="1" i="0" u="none" strike="noStrike" dirty="0">
                              <a:solidFill>
                                <a:srgbClr val="000000"/>
                              </a:solidFill>
                              <a:effectLst/>
                              <a:latin typeface="Hanken Grotesk" panose="020B0604020202020204" charset="0"/>
                            </a:rPr>
                            <a:t>(%)</a:t>
                          </a:r>
                        </a:p>
                      </a:txBody>
                      <a:tcPr marL="7620" marR="7620" marT="7620" marB="0" anchor="ctr"/>
                    </a:tc>
                    <a:extLst>
                      <a:ext uri="{0D108BD9-81ED-4DB2-BD59-A6C34878D82A}">
                        <a16:rowId xmlns:a16="http://schemas.microsoft.com/office/drawing/2014/main" val="602257190"/>
                      </a:ext>
                    </a:extLst>
                  </a:tr>
                  <a:tr h="246464">
                    <a:tc>
                      <a:txBody>
                        <a:bodyPr/>
                        <a:lstStyle/>
                        <a:p>
                          <a:pPr algn="ctr" fontAlgn="b"/>
                          <a:r>
                            <a:rPr lang="en-US" sz="1400" u="none" strike="noStrike" dirty="0">
                              <a:effectLst/>
                            </a:rPr>
                            <a:t>2022-10-19 01:00</a:t>
                          </a:r>
                          <a:endParaRPr lang="en-US" sz="1400" b="0"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14.5</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88.8</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690706460"/>
                      </a:ext>
                    </a:extLst>
                  </a:tr>
                  <a:tr h="246464">
                    <a:tc>
                      <a:txBody>
                        <a:bodyPr/>
                        <a:lstStyle/>
                        <a:p>
                          <a:pPr algn="ctr" fontAlgn="b"/>
                          <a:r>
                            <a:rPr lang="en-US" sz="1400" u="none" strike="noStrike" dirty="0">
                              <a:effectLst/>
                            </a:rPr>
                            <a:t>2022-10-19 02:00</a:t>
                          </a:r>
                          <a:endParaRPr lang="en-US" sz="1400" b="0"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14.4</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dirty="0">
                              <a:effectLst/>
                            </a:rPr>
                            <a:t>0</a:t>
                          </a:r>
                          <a:endParaRPr lang="en-US" sz="1400" b="0"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87.9</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4186698424"/>
                      </a:ext>
                    </a:extLst>
                  </a:tr>
                  <a:tr h="246464">
                    <a:tc>
                      <a:txBody>
                        <a:bodyPr/>
                        <a:lstStyle/>
                        <a:p>
                          <a:pPr algn="ctr" fontAlgn="b"/>
                          <a:r>
                            <a:rPr lang="en-US" sz="1400" u="none" strike="noStrike">
                              <a:effectLst/>
                            </a:rPr>
                            <a:t>2022-10-19 03:00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14</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92.3</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1170439316"/>
                      </a:ext>
                    </a:extLst>
                  </a:tr>
                  <a:tr h="246464">
                    <a:tc>
                      <a:txBody>
                        <a:bodyPr/>
                        <a:lstStyle/>
                        <a:p>
                          <a:pPr algn="ctr" fontAlgn="b"/>
                          <a:r>
                            <a:rPr lang="en-US" sz="1400" u="none" strike="noStrike">
                              <a:effectLst/>
                            </a:rPr>
                            <a:t>2022-10-19 04:00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13.2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dirty="0">
                              <a:effectLst/>
                            </a:rPr>
                            <a:t>95.8</a:t>
                          </a:r>
                          <a:endParaRPr lang="en-US" sz="1400" b="0" i="0" u="none" strike="noStrike" dirty="0">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2824116137"/>
                      </a:ext>
                    </a:extLst>
                  </a:tr>
                  <a:tr h="246464">
                    <a:tc>
                      <a:txBody>
                        <a:bodyPr/>
                        <a:lstStyle/>
                        <a:p>
                          <a:pPr algn="ctr" fontAlgn="b"/>
                          <a:r>
                            <a:rPr lang="en-US" sz="1400" u="none" strike="noStrike">
                              <a:effectLst/>
                            </a:rPr>
                            <a:t>2022-10-19 05:00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12.65</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97.9</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1017949459"/>
                      </a:ext>
                    </a:extLst>
                  </a:tr>
                  <a:tr h="246464">
                    <a:tc>
                      <a:txBody>
                        <a:bodyPr/>
                        <a:lstStyle/>
                        <a:p>
                          <a:pPr algn="ctr" fontAlgn="b"/>
                          <a:r>
                            <a:rPr lang="en-US" sz="1400" u="none" strike="noStrike">
                              <a:effectLst/>
                            </a:rPr>
                            <a:t>2022-10-19 06:00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12.1</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dirty="0">
                              <a:effectLst/>
                            </a:rPr>
                            <a:t>0</a:t>
                          </a:r>
                          <a:endParaRPr lang="en-US" sz="1400" b="0"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100</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3549539785"/>
                      </a:ext>
                    </a:extLst>
                  </a:tr>
                  <a:tr h="246464">
                    <a:tc>
                      <a:txBody>
                        <a:bodyPr/>
                        <a:lstStyle/>
                        <a:p>
                          <a:pPr algn="ctr" fontAlgn="b"/>
                          <a:r>
                            <a:rPr lang="en-US" sz="1400" u="none" strike="noStrike">
                              <a:effectLst/>
                            </a:rPr>
                            <a:t>2022-10-19 07:00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18.6</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100</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1431742879"/>
                      </a:ext>
                    </a:extLst>
                  </a:tr>
                  <a:tr h="246464">
                    <a:tc>
                      <a:txBody>
                        <a:bodyPr/>
                        <a:lstStyle/>
                        <a:p>
                          <a:pPr algn="ctr" fontAlgn="b"/>
                          <a:r>
                            <a:rPr lang="en-US" sz="1400" u="none" strike="noStrike">
                              <a:effectLst/>
                            </a:rPr>
                            <a:t>2022-10-19 08:00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2.3</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14.3</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171.3</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92.9</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3920755744"/>
                      </a:ext>
                    </a:extLst>
                  </a:tr>
                  <a:tr h="246464">
                    <a:tc>
                      <a:txBody>
                        <a:bodyPr/>
                        <a:lstStyle/>
                        <a:p>
                          <a:pPr algn="ctr" fontAlgn="b"/>
                          <a:r>
                            <a:rPr lang="en-US" sz="1400" u="none" strike="noStrike">
                              <a:effectLst/>
                            </a:rPr>
                            <a:t>2022-10-19 09:00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2.1</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17.2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393.6</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dirty="0">
                              <a:effectLst/>
                            </a:rPr>
                            <a:t>77</a:t>
                          </a:r>
                          <a:endParaRPr lang="en-US" sz="1400" b="0" i="0" u="none" strike="noStrike" dirty="0">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1048078250"/>
                      </a:ext>
                    </a:extLst>
                  </a:tr>
                </a:tbl>
              </a:graphicData>
            </a:graphic>
          </p:graphicFrame>
        </mc:Choice>
        <mc:Fallback xmlns="">
          <p:graphicFrame>
            <p:nvGraphicFramePr>
              <p:cNvPr id="4" name="Table 3">
                <a:extLst>
                  <a:ext uri="{FF2B5EF4-FFF2-40B4-BE49-F238E27FC236}">
                    <a16:creationId xmlns:a16="http://schemas.microsoft.com/office/drawing/2014/main" id="{C144C473-3982-79B9-9701-05CA5D54C350}"/>
                  </a:ext>
                </a:extLst>
              </p:cNvPr>
              <p:cNvGraphicFramePr>
                <a:graphicFrameLocks noGrp="1"/>
              </p:cNvGraphicFramePr>
              <p:nvPr>
                <p:extLst>
                  <p:ext uri="{D42A27DB-BD31-4B8C-83A1-F6EECF244321}">
                    <p14:modId xmlns:p14="http://schemas.microsoft.com/office/powerpoint/2010/main" val="416074361"/>
                  </p:ext>
                </p:extLst>
              </p:nvPr>
            </p:nvGraphicFramePr>
            <p:xfrm>
              <a:off x="720000" y="1441799"/>
              <a:ext cx="7845266" cy="2788057"/>
            </p:xfrm>
            <a:graphic>
              <a:graphicData uri="http://schemas.openxmlformats.org/drawingml/2006/table">
                <a:tbl>
                  <a:tblPr>
                    <a:tableStyleId>{5940675A-B579-460E-94D1-54222C63F5DA}</a:tableStyleId>
                  </a:tblPr>
                  <a:tblGrid>
                    <a:gridCol w="1616800">
                      <a:extLst>
                        <a:ext uri="{9D8B030D-6E8A-4147-A177-3AD203B41FA5}">
                          <a16:colId xmlns:a16="http://schemas.microsoft.com/office/drawing/2014/main" val="996741335"/>
                        </a:ext>
                      </a:extLst>
                    </a:gridCol>
                    <a:gridCol w="1056640">
                      <a:extLst>
                        <a:ext uri="{9D8B030D-6E8A-4147-A177-3AD203B41FA5}">
                          <a16:colId xmlns:a16="http://schemas.microsoft.com/office/drawing/2014/main" val="823278242"/>
                        </a:ext>
                      </a:extLst>
                    </a:gridCol>
                    <a:gridCol w="1757680">
                      <a:extLst>
                        <a:ext uri="{9D8B030D-6E8A-4147-A177-3AD203B41FA5}">
                          <a16:colId xmlns:a16="http://schemas.microsoft.com/office/drawing/2014/main" val="1216470040"/>
                        </a:ext>
                      </a:extLst>
                    </a:gridCol>
                    <a:gridCol w="1859280">
                      <a:extLst>
                        <a:ext uri="{9D8B030D-6E8A-4147-A177-3AD203B41FA5}">
                          <a16:colId xmlns:a16="http://schemas.microsoft.com/office/drawing/2014/main" val="2941528655"/>
                        </a:ext>
                      </a:extLst>
                    </a:gridCol>
                    <a:gridCol w="1554866">
                      <a:extLst>
                        <a:ext uri="{9D8B030D-6E8A-4147-A177-3AD203B41FA5}">
                          <a16:colId xmlns:a16="http://schemas.microsoft.com/office/drawing/2014/main" val="2353134203"/>
                        </a:ext>
                      </a:extLst>
                    </a:gridCol>
                  </a:tblGrid>
                  <a:tr h="569881">
                    <a:tc>
                      <a:txBody>
                        <a:bodyPr/>
                        <a:lstStyle/>
                        <a:p>
                          <a:pPr algn="ctr" fontAlgn="t"/>
                          <a:r>
                            <a:rPr lang="en-US" sz="1400" u="none" strike="noStrike" dirty="0">
                              <a:effectLst/>
                            </a:rPr>
                            <a:t>Time</a:t>
                          </a:r>
                          <a:endParaRPr lang="en-US" sz="1400" b="1"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t"/>
                          <a:r>
                            <a:rPr lang="en-US" sz="1400" u="none" strike="noStrike" dirty="0">
                              <a:effectLst/>
                            </a:rPr>
                            <a:t>Power </a:t>
                          </a:r>
                        </a:p>
                        <a:p>
                          <a:pPr algn="ctr" fontAlgn="t"/>
                          <a:r>
                            <a:rPr lang="en-US" sz="1400" u="none" strike="noStrike" dirty="0">
                              <a:effectLst/>
                            </a:rPr>
                            <a:t>(MV)</a:t>
                          </a:r>
                          <a:endParaRPr lang="en-US" sz="1400" b="1"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t"/>
                          <a:r>
                            <a:rPr lang="en-US" sz="1400" u="none" strike="noStrike" dirty="0">
                              <a:effectLst/>
                            </a:rPr>
                            <a:t>Air Temperature</a:t>
                          </a:r>
                        </a:p>
                        <a:p>
                          <a:pPr algn="ctr" fontAlgn="t"/>
                          <a:r>
                            <a:rPr lang="en-US" sz="1400" u="none" strike="noStrike" dirty="0">
                              <a:effectLst/>
                            </a:rPr>
                            <a:t>(°C)</a:t>
                          </a:r>
                          <a:endParaRPr lang="en-US" sz="1400" b="1" i="0" u="none" strike="noStrike" dirty="0">
                            <a:solidFill>
                              <a:srgbClr val="000000"/>
                            </a:solidFill>
                            <a:effectLst/>
                            <a:latin typeface="Hanken Grotesk" panose="020B0604020202020204" charset="0"/>
                          </a:endParaRPr>
                        </a:p>
                      </a:txBody>
                      <a:tcPr marL="7620" marR="7620" marT="7620" marB="0" anchor="ctr"/>
                    </a:tc>
                    <a:tc>
                      <a:txBody>
                        <a:bodyPr/>
                        <a:lstStyle/>
                        <a:p>
                          <a:endParaRPr lang="en-US"/>
                        </a:p>
                      </a:txBody>
                      <a:tcPr marL="7620" marR="7620" marT="7620" marB="0" anchor="ctr">
                        <a:blipFill>
                          <a:blip r:embed="rId3"/>
                          <a:stretch>
                            <a:fillRect l="-237908" t="-1064" r="-83987" b="-404255"/>
                          </a:stretch>
                        </a:blipFill>
                      </a:tcPr>
                    </a:tc>
                    <a:tc>
                      <a:txBody>
                        <a:bodyPr/>
                        <a:lstStyle/>
                        <a:p>
                          <a:pPr algn="ctr" fontAlgn="t"/>
                          <a:r>
                            <a:rPr lang="en-US" sz="1400" u="none" strike="noStrike" dirty="0">
                              <a:effectLst/>
                            </a:rPr>
                            <a:t>Relative Humidity</a:t>
                          </a:r>
                        </a:p>
                        <a:p>
                          <a:pPr algn="ctr" fontAlgn="t"/>
                          <a:r>
                            <a:rPr lang="en-US" sz="1400" b="1" i="0" u="none" strike="noStrike" dirty="0">
                              <a:solidFill>
                                <a:srgbClr val="000000"/>
                              </a:solidFill>
                              <a:effectLst/>
                              <a:latin typeface="Hanken Grotesk" panose="020B0604020202020204" charset="0"/>
                            </a:rPr>
                            <a:t>(%)</a:t>
                          </a:r>
                        </a:p>
                      </a:txBody>
                      <a:tcPr marL="7620" marR="7620" marT="7620" marB="0" anchor="ctr"/>
                    </a:tc>
                    <a:extLst>
                      <a:ext uri="{0D108BD9-81ED-4DB2-BD59-A6C34878D82A}">
                        <a16:rowId xmlns:a16="http://schemas.microsoft.com/office/drawing/2014/main" val="602257190"/>
                      </a:ext>
                    </a:extLst>
                  </a:tr>
                  <a:tr h="246464">
                    <a:tc>
                      <a:txBody>
                        <a:bodyPr/>
                        <a:lstStyle/>
                        <a:p>
                          <a:pPr algn="ctr" fontAlgn="b"/>
                          <a:r>
                            <a:rPr lang="en-US" sz="1400" u="none" strike="noStrike" dirty="0">
                              <a:effectLst/>
                            </a:rPr>
                            <a:t>2022-10-19 01:00</a:t>
                          </a:r>
                          <a:endParaRPr lang="en-US" sz="1400" b="0"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14.5</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88.8</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690706460"/>
                      </a:ext>
                    </a:extLst>
                  </a:tr>
                  <a:tr h="246464">
                    <a:tc>
                      <a:txBody>
                        <a:bodyPr/>
                        <a:lstStyle/>
                        <a:p>
                          <a:pPr algn="ctr" fontAlgn="b"/>
                          <a:r>
                            <a:rPr lang="en-US" sz="1400" u="none" strike="noStrike" dirty="0">
                              <a:effectLst/>
                            </a:rPr>
                            <a:t>2022-10-19 02:00</a:t>
                          </a:r>
                          <a:endParaRPr lang="en-US" sz="1400" b="0"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14.4</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dirty="0">
                              <a:effectLst/>
                            </a:rPr>
                            <a:t>0</a:t>
                          </a:r>
                          <a:endParaRPr lang="en-US" sz="1400" b="0"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87.9</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4186698424"/>
                      </a:ext>
                    </a:extLst>
                  </a:tr>
                  <a:tr h="246464">
                    <a:tc>
                      <a:txBody>
                        <a:bodyPr/>
                        <a:lstStyle/>
                        <a:p>
                          <a:pPr algn="ctr" fontAlgn="b"/>
                          <a:r>
                            <a:rPr lang="en-US" sz="1400" u="none" strike="noStrike">
                              <a:effectLst/>
                            </a:rPr>
                            <a:t>2022-10-19 03:00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14</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92.3</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1170439316"/>
                      </a:ext>
                    </a:extLst>
                  </a:tr>
                  <a:tr h="246464">
                    <a:tc>
                      <a:txBody>
                        <a:bodyPr/>
                        <a:lstStyle/>
                        <a:p>
                          <a:pPr algn="ctr" fontAlgn="b"/>
                          <a:r>
                            <a:rPr lang="en-US" sz="1400" u="none" strike="noStrike">
                              <a:effectLst/>
                            </a:rPr>
                            <a:t>2022-10-19 04:00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13.2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dirty="0">
                              <a:effectLst/>
                            </a:rPr>
                            <a:t>95.8</a:t>
                          </a:r>
                          <a:endParaRPr lang="en-US" sz="1400" b="0" i="0" u="none" strike="noStrike" dirty="0">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2824116137"/>
                      </a:ext>
                    </a:extLst>
                  </a:tr>
                  <a:tr h="246464">
                    <a:tc>
                      <a:txBody>
                        <a:bodyPr/>
                        <a:lstStyle/>
                        <a:p>
                          <a:pPr algn="ctr" fontAlgn="b"/>
                          <a:r>
                            <a:rPr lang="en-US" sz="1400" u="none" strike="noStrike">
                              <a:effectLst/>
                            </a:rPr>
                            <a:t>2022-10-19 05:00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12.65</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97.9</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1017949459"/>
                      </a:ext>
                    </a:extLst>
                  </a:tr>
                  <a:tr h="246464">
                    <a:tc>
                      <a:txBody>
                        <a:bodyPr/>
                        <a:lstStyle/>
                        <a:p>
                          <a:pPr algn="ctr" fontAlgn="b"/>
                          <a:r>
                            <a:rPr lang="en-US" sz="1400" u="none" strike="noStrike">
                              <a:effectLst/>
                            </a:rPr>
                            <a:t>2022-10-19 06:00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12.1</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dirty="0">
                              <a:effectLst/>
                            </a:rPr>
                            <a:t>0</a:t>
                          </a:r>
                          <a:endParaRPr lang="en-US" sz="1400" b="0"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100</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3549539785"/>
                      </a:ext>
                    </a:extLst>
                  </a:tr>
                  <a:tr h="246464">
                    <a:tc>
                      <a:txBody>
                        <a:bodyPr/>
                        <a:lstStyle/>
                        <a:p>
                          <a:pPr algn="ctr" fontAlgn="b"/>
                          <a:r>
                            <a:rPr lang="en-US" sz="1400" u="none" strike="noStrike">
                              <a:effectLst/>
                            </a:rPr>
                            <a:t>2022-10-19 07:00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18.6</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100</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1431742879"/>
                      </a:ext>
                    </a:extLst>
                  </a:tr>
                  <a:tr h="246464">
                    <a:tc>
                      <a:txBody>
                        <a:bodyPr/>
                        <a:lstStyle/>
                        <a:p>
                          <a:pPr algn="ctr" fontAlgn="b"/>
                          <a:r>
                            <a:rPr lang="en-US" sz="1400" u="none" strike="noStrike">
                              <a:effectLst/>
                            </a:rPr>
                            <a:t>2022-10-19 08:00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2.3</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14.3</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171.3</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92.9</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3920755744"/>
                      </a:ext>
                    </a:extLst>
                  </a:tr>
                  <a:tr h="246464">
                    <a:tc>
                      <a:txBody>
                        <a:bodyPr/>
                        <a:lstStyle/>
                        <a:p>
                          <a:pPr algn="ctr" fontAlgn="b"/>
                          <a:r>
                            <a:rPr lang="en-US" sz="1400" u="none" strike="noStrike">
                              <a:effectLst/>
                            </a:rPr>
                            <a:t>2022-10-19 09:00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2.1</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17.2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393.6</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dirty="0">
                              <a:effectLst/>
                            </a:rPr>
                            <a:t>77</a:t>
                          </a:r>
                          <a:endParaRPr lang="en-US" sz="1400" b="0" i="0" u="none" strike="noStrike" dirty="0">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1048078250"/>
                      </a:ext>
                    </a:extLst>
                  </a:tr>
                </a:tbl>
              </a:graphicData>
            </a:graphic>
          </p:graphicFrame>
        </mc:Fallback>
      </mc:AlternateContent>
      <p:sp>
        <p:nvSpPr>
          <p:cNvPr id="5" name="Google Shape;330;p36">
            <a:extLst>
              <a:ext uri="{FF2B5EF4-FFF2-40B4-BE49-F238E27FC236}">
                <a16:creationId xmlns:a16="http://schemas.microsoft.com/office/drawing/2014/main" id="{2B37DD13-F9E6-D813-B027-563712E7E67E}"/>
              </a:ext>
            </a:extLst>
          </p:cNvPr>
          <p:cNvSpPr txBox="1">
            <a:spLocks/>
          </p:cNvSpPr>
          <p:nvPr/>
        </p:nvSpPr>
        <p:spPr>
          <a:xfrm>
            <a:off x="1774862" y="4328806"/>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Table 4.1 Finalized Sample Dataset</a:t>
            </a:r>
          </a:p>
        </p:txBody>
      </p:sp>
      <p:sp>
        <p:nvSpPr>
          <p:cNvPr id="2" name="Google Shape;330;p36">
            <a:extLst>
              <a:ext uri="{FF2B5EF4-FFF2-40B4-BE49-F238E27FC236}">
                <a16:creationId xmlns:a16="http://schemas.microsoft.com/office/drawing/2014/main" id="{4578E182-3BBF-D5C7-3C70-F88F1210AC76}"/>
              </a:ext>
            </a:extLst>
          </p:cNvPr>
          <p:cNvSpPr txBox="1">
            <a:spLocks/>
          </p:cNvSpPr>
          <p:nvPr/>
        </p:nvSpPr>
        <p:spPr>
          <a:xfrm>
            <a:off x="720000" y="467672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8 - </a:t>
            </a:r>
            <a:fld id="{1612EBDF-BBCF-4455-9CA4-C9C775D5C22A}" type="datetime1">
              <a:rPr lang="en-US" sz="1000" smtClean="0"/>
              <a:t>12/18/2025</a:t>
            </a:fld>
            <a:endParaRPr lang="en-US" sz="1000" dirty="0"/>
          </a:p>
        </p:txBody>
      </p:sp>
    </p:spTree>
    <p:extLst>
      <p:ext uri="{BB962C8B-B14F-4D97-AF65-F5344CB8AC3E}">
        <p14:creationId xmlns:p14="http://schemas.microsoft.com/office/powerpoint/2010/main" val="3011982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29;p36">
            <a:extLst>
              <a:ext uri="{FF2B5EF4-FFF2-40B4-BE49-F238E27FC236}">
                <a16:creationId xmlns:a16="http://schemas.microsoft.com/office/drawing/2014/main" id="{281DE8FA-0346-ADC1-8F40-D51890ED065A}"/>
              </a:ext>
            </a:extLst>
          </p:cNvPr>
          <p:cNvSpPr txBox="1">
            <a:spLocks noGrp="1"/>
          </p:cNvSpPr>
          <p:nvPr>
            <p:ph type="title"/>
          </p:nvPr>
        </p:nvSpPr>
        <p:spPr>
          <a:xfrm>
            <a:off x="1002695" y="168792"/>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a:t>Exploratory Data Analysis</a:t>
            </a:r>
            <a:endParaRPr sz="2400" dirty="0"/>
          </a:p>
        </p:txBody>
      </p:sp>
      <p:sp>
        <p:nvSpPr>
          <p:cNvPr id="5" name="Google Shape;331;p36">
            <a:extLst>
              <a:ext uri="{FF2B5EF4-FFF2-40B4-BE49-F238E27FC236}">
                <a16:creationId xmlns:a16="http://schemas.microsoft.com/office/drawing/2014/main" id="{306F827B-BD7A-F92B-F5B3-D222CF02F4F6}"/>
              </a:ext>
            </a:extLst>
          </p:cNvPr>
          <p:cNvSpPr txBox="1">
            <a:spLocks/>
          </p:cNvSpPr>
          <p:nvPr/>
        </p:nvSpPr>
        <p:spPr>
          <a:xfrm>
            <a:off x="96552" y="8206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5.2</a:t>
            </a:r>
            <a:endParaRPr lang="en" dirty="0"/>
          </a:p>
        </p:txBody>
      </p:sp>
      <p:pic>
        <p:nvPicPr>
          <p:cNvPr id="3" name="Picture 2">
            <a:extLst>
              <a:ext uri="{FF2B5EF4-FFF2-40B4-BE49-F238E27FC236}">
                <a16:creationId xmlns:a16="http://schemas.microsoft.com/office/drawing/2014/main" id="{654C0B01-5F17-C1E9-C935-1692FB8AA9B1}"/>
              </a:ext>
            </a:extLst>
          </p:cNvPr>
          <p:cNvPicPr>
            <a:picLocks noChangeAspect="1"/>
          </p:cNvPicPr>
          <p:nvPr/>
        </p:nvPicPr>
        <p:blipFill>
          <a:blip r:embed="rId2"/>
          <a:stretch>
            <a:fillRect/>
          </a:stretch>
        </p:blipFill>
        <p:spPr>
          <a:xfrm>
            <a:off x="1408770" y="2015167"/>
            <a:ext cx="6690361" cy="2281461"/>
          </a:xfrm>
          <a:prstGeom prst="rect">
            <a:avLst/>
          </a:prstGeom>
        </p:spPr>
      </p:pic>
      <p:sp>
        <p:nvSpPr>
          <p:cNvPr id="7" name="Google Shape;330;p36">
            <a:extLst>
              <a:ext uri="{FF2B5EF4-FFF2-40B4-BE49-F238E27FC236}">
                <a16:creationId xmlns:a16="http://schemas.microsoft.com/office/drawing/2014/main" id="{9E41066A-3DF1-E083-1187-D483D6D1E936}"/>
              </a:ext>
            </a:extLst>
          </p:cNvPr>
          <p:cNvSpPr txBox="1">
            <a:spLocks/>
          </p:cNvSpPr>
          <p:nvPr/>
        </p:nvSpPr>
        <p:spPr>
          <a:xfrm>
            <a:off x="1838037" y="4235975"/>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4.2 Average Load by House of Day and Load Distribution by Hour</a:t>
            </a:r>
          </a:p>
        </p:txBody>
      </p:sp>
      <p:sp>
        <p:nvSpPr>
          <p:cNvPr id="2" name="Google Shape;330;p36">
            <a:extLst>
              <a:ext uri="{FF2B5EF4-FFF2-40B4-BE49-F238E27FC236}">
                <a16:creationId xmlns:a16="http://schemas.microsoft.com/office/drawing/2014/main" id="{2585288E-EE3D-4872-2F69-829E948F877A}"/>
              </a:ext>
            </a:extLst>
          </p:cNvPr>
          <p:cNvSpPr txBox="1">
            <a:spLocks/>
          </p:cNvSpPr>
          <p:nvPr/>
        </p:nvSpPr>
        <p:spPr>
          <a:xfrm>
            <a:off x="241332" y="461441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9 - </a:t>
            </a:r>
            <a:fld id="{1612EBDF-BBCF-4455-9CA4-C9C775D5C22A}" type="datetime1">
              <a:rPr lang="en-US" sz="1000" smtClean="0"/>
              <a:t>12/18/2025</a:t>
            </a:fld>
            <a:endParaRPr lang="en-US" sz="1000" dirty="0"/>
          </a:p>
        </p:txBody>
      </p:sp>
      <p:sp>
        <p:nvSpPr>
          <p:cNvPr id="9" name="Subtitle 2">
            <a:extLst>
              <a:ext uri="{FF2B5EF4-FFF2-40B4-BE49-F238E27FC236}">
                <a16:creationId xmlns:a16="http://schemas.microsoft.com/office/drawing/2014/main" id="{AED2CBDE-6ECB-34E4-A9A1-73F45E875BCE}"/>
              </a:ext>
            </a:extLst>
          </p:cNvPr>
          <p:cNvSpPr>
            <a:spLocks noGrp="1"/>
          </p:cNvSpPr>
          <p:nvPr>
            <p:ph type="subTitle" idx="1"/>
          </p:nvPr>
        </p:nvSpPr>
        <p:spPr>
          <a:xfrm>
            <a:off x="890238" y="1029997"/>
            <a:ext cx="7363523" cy="935179"/>
          </a:xfrm>
        </p:spPr>
        <p:txBody>
          <a:bodyPr/>
          <a:lstStyle/>
          <a:p>
            <a:pPr marL="0" indent="0" algn="ctr">
              <a:buNone/>
            </a:pPr>
            <a:r>
              <a:rPr lang="en-US" sz="1400" dirty="0"/>
              <a:t>These graphs show that the average load increases from 8 am in morning and peaks around 7 pm at night and then decreases from then. </a:t>
            </a:r>
          </a:p>
          <a:p>
            <a:pPr marL="0" indent="0" algn="ctr">
              <a:buNone/>
            </a:pPr>
            <a:r>
              <a:rPr lang="en-US" sz="1400" dirty="0"/>
              <a:t>The box plot shows the high and low power usage outside normal range (Outliers)</a:t>
            </a:r>
          </a:p>
        </p:txBody>
      </p:sp>
    </p:spTree>
    <p:extLst>
      <p:ext uri="{BB962C8B-B14F-4D97-AF65-F5344CB8AC3E}">
        <p14:creationId xmlns:p14="http://schemas.microsoft.com/office/powerpoint/2010/main" val="584226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29;p36">
            <a:extLst>
              <a:ext uri="{FF2B5EF4-FFF2-40B4-BE49-F238E27FC236}">
                <a16:creationId xmlns:a16="http://schemas.microsoft.com/office/drawing/2014/main" id="{281DE8FA-0346-ADC1-8F40-D51890ED065A}"/>
              </a:ext>
            </a:extLst>
          </p:cNvPr>
          <p:cNvSpPr txBox="1">
            <a:spLocks noGrp="1"/>
          </p:cNvSpPr>
          <p:nvPr>
            <p:ph type="title"/>
          </p:nvPr>
        </p:nvSpPr>
        <p:spPr>
          <a:xfrm>
            <a:off x="1061604" y="208831"/>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a:t>Exploratory Data Analysis</a:t>
            </a:r>
            <a:endParaRPr sz="2400" dirty="0"/>
          </a:p>
        </p:txBody>
      </p:sp>
      <p:sp>
        <p:nvSpPr>
          <p:cNvPr id="5" name="Google Shape;331;p36">
            <a:extLst>
              <a:ext uri="{FF2B5EF4-FFF2-40B4-BE49-F238E27FC236}">
                <a16:creationId xmlns:a16="http://schemas.microsoft.com/office/drawing/2014/main" id="{306F827B-BD7A-F92B-F5B3-D222CF02F4F6}"/>
              </a:ext>
            </a:extLst>
          </p:cNvPr>
          <p:cNvSpPr txBox="1">
            <a:spLocks/>
          </p:cNvSpPr>
          <p:nvPr/>
        </p:nvSpPr>
        <p:spPr>
          <a:xfrm>
            <a:off x="155461" y="135816"/>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5.2</a:t>
            </a:r>
            <a:endParaRPr lang="en" dirty="0"/>
          </a:p>
        </p:txBody>
      </p:sp>
      <p:pic>
        <p:nvPicPr>
          <p:cNvPr id="2" name="Picture 1">
            <a:extLst>
              <a:ext uri="{FF2B5EF4-FFF2-40B4-BE49-F238E27FC236}">
                <a16:creationId xmlns:a16="http://schemas.microsoft.com/office/drawing/2014/main" id="{A979F046-D1BF-DC5A-BC2B-2D23781197CE}"/>
              </a:ext>
            </a:extLst>
          </p:cNvPr>
          <p:cNvPicPr>
            <a:picLocks noChangeAspect="1"/>
          </p:cNvPicPr>
          <p:nvPr/>
        </p:nvPicPr>
        <p:blipFill>
          <a:blip r:embed="rId2"/>
          <a:srcRect b="49567"/>
          <a:stretch/>
        </p:blipFill>
        <p:spPr>
          <a:xfrm>
            <a:off x="1610601" y="1639489"/>
            <a:ext cx="5922798" cy="2487116"/>
          </a:xfrm>
          <a:prstGeom prst="rect">
            <a:avLst/>
          </a:prstGeom>
        </p:spPr>
      </p:pic>
      <p:sp>
        <p:nvSpPr>
          <p:cNvPr id="6" name="Google Shape;330;p36">
            <a:extLst>
              <a:ext uri="{FF2B5EF4-FFF2-40B4-BE49-F238E27FC236}">
                <a16:creationId xmlns:a16="http://schemas.microsoft.com/office/drawing/2014/main" id="{152BE196-3044-A667-898F-BAB693984E76}"/>
              </a:ext>
            </a:extLst>
          </p:cNvPr>
          <p:cNvSpPr txBox="1">
            <a:spLocks/>
          </p:cNvSpPr>
          <p:nvPr/>
        </p:nvSpPr>
        <p:spPr>
          <a:xfrm>
            <a:off x="1684929" y="4282964"/>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4.3 Feature Relationship and Average Load by Month</a:t>
            </a:r>
          </a:p>
        </p:txBody>
      </p:sp>
      <p:sp>
        <p:nvSpPr>
          <p:cNvPr id="3" name="Google Shape;330;p36">
            <a:extLst>
              <a:ext uri="{FF2B5EF4-FFF2-40B4-BE49-F238E27FC236}">
                <a16:creationId xmlns:a16="http://schemas.microsoft.com/office/drawing/2014/main" id="{FA6EC685-A0D8-00FC-364F-B5529FE87493}"/>
              </a:ext>
            </a:extLst>
          </p:cNvPr>
          <p:cNvSpPr txBox="1">
            <a:spLocks/>
          </p:cNvSpPr>
          <p:nvPr/>
        </p:nvSpPr>
        <p:spPr>
          <a:xfrm>
            <a:off x="7533399" y="70025"/>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10 - </a:t>
            </a:r>
            <a:fld id="{1612EBDF-BBCF-4455-9CA4-C9C775D5C22A}" type="datetime1">
              <a:rPr lang="en-US" sz="1000" smtClean="0"/>
              <a:t>12/18/2025</a:t>
            </a:fld>
            <a:endParaRPr lang="en-US" sz="1000" dirty="0"/>
          </a:p>
        </p:txBody>
      </p:sp>
      <p:sp>
        <p:nvSpPr>
          <p:cNvPr id="7" name="Subtitle 2">
            <a:extLst>
              <a:ext uri="{FF2B5EF4-FFF2-40B4-BE49-F238E27FC236}">
                <a16:creationId xmlns:a16="http://schemas.microsoft.com/office/drawing/2014/main" id="{CD082195-2DC8-37E5-D7C8-9FB19F4FB4D6}"/>
              </a:ext>
            </a:extLst>
          </p:cNvPr>
          <p:cNvSpPr>
            <a:spLocks noGrp="1"/>
          </p:cNvSpPr>
          <p:nvPr>
            <p:ph type="subTitle" idx="1"/>
          </p:nvPr>
        </p:nvSpPr>
        <p:spPr>
          <a:xfrm>
            <a:off x="1061604" y="924160"/>
            <a:ext cx="7533756" cy="558970"/>
          </a:xfrm>
        </p:spPr>
        <p:txBody>
          <a:bodyPr/>
          <a:lstStyle/>
          <a:p>
            <a:pPr marL="0" indent="0" algn="ctr">
              <a:buNone/>
            </a:pPr>
            <a:r>
              <a:rPr lang="en-US" sz="1400" dirty="0"/>
              <a:t>Temperature and Humidity show a clear influence on energy spikes, solar radiation levels have a less direct impact on the overall load.</a:t>
            </a:r>
            <a:endParaRPr lang="en-US" sz="1800" dirty="0"/>
          </a:p>
        </p:txBody>
      </p:sp>
    </p:spTree>
    <p:extLst>
      <p:ext uri="{BB962C8B-B14F-4D97-AF65-F5344CB8AC3E}">
        <p14:creationId xmlns:p14="http://schemas.microsoft.com/office/powerpoint/2010/main" val="2102503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29;p36">
            <a:extLst>
              <a:ext uri="{FF2B5EF4-FFF2-40B4-BE49-F238E27FC236}">
                <a16:creationId xmlns:a16="http://schemas.microsoft.com/office/drawing/2014/main" id="{281DE8FA-0346-ADC1-8F40-D51890ED065A}"/>
              </a:ext>
            </a:extLst>
          </p:cNvPr>
          <p:cNvSpPr txBox="1">
            <a:spLocks noGrp="1"/>
          </p:cNvSpPr>
          <p:nvPr>
            <p:ph type="title"/>
          </p:nvPr>
        </p:nvSpPr>
        <p:spPr>
          <a:xfrm>
            <a:off x="1061604" y="208831"/>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a:t>Exploratory Data Analysis</a:t>
            </a:r>
            <a:endParaRPr sz="2400" dirty="0"/>
          </a:p>
        </p:txBody>
      </p:sp>
      <p:sp>
        <p:nvSpPr>
          <p:cNvPr id="5" name="Google Shape;331;p36">
            <a:extLst>
              <a:ext uri="{FF2B5EF4-FFF2-40B4-BE49-F238E27FC236}">
                <a16:creationId xmlns:a16="http://schemas.microsoft.com/office/drawing/2014/main" id="{306F827B-BD7A-F92B-F5B3-D222CF02F4F6}"/>
              </a:ext>
            </a:extLst>
          </p:cNvPr>
          <p:cNvSpPr txBox="1">
            <a:spLocks/>
          </p:cNvSpPr>
          <p:nvPr/>
        </p:nvSpPr>
        <p:spPr>
          <a:xfrm>
            <a:off x="155461" y="135816"/>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5.2</a:t>
            </a:r>
            <a:endParaRPr lang="en" dirty="0"/>
          </a:p>
        </p:txBody>
      </p:sp>
      <p:sp>
        <p:nvSpPr>
          <p:cNvPr id="6" name="Google Shape;330;p36">
            <a:extLst>
              <a:ext uri="{FF2B5EF4-FFF2-40B4-BE49-F238E27FC236}">
                <a16:creationId xmlns:a16="http://schemas.microsoft.com/office/drawing/2014/main" id="{152BE196-3044-A667-898F-BAB693984E76}"/>
              </a:ext>
            </a:extLst>
          </p:cNvPr>
          <p:cNvSpPr txBox="1">
            <a:spLocks/>
          </p:cNvSpPr>
          <p:nvPr/>
        </p:nvSpPr>
        <p:spPr>
          <a:xfrm>
            <a:off x="1684929" y="4282964"/>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4.3 Feature Relationship and Average Load by Month</a:t>
            </a:r>
          </a:p>
        </p:txBody>
      </p:sp>
      <p:sp>
        <p:nvSpPr>
          <p:cNvPr id="3" name="Google Shape;330;p36">
            <a:extLst>
              <a:ext uri="{FF2B5EF4-FFF2-40B4-BE49-F238E27FC236}">
                <a16:creationId xmlns:a16="http://schemas.microsoft.com/office/drawing/2014/main" id="{FA6EC685-A0D8-00FC-364F-B5529FE87493}"/>
              </a:ext>
            </a:extLst>
          </p:cNvPr>
          <p:cNvSpPr txBox="1">
            <a:spLocks/>
          </p:cNvSpPr>
          <p:nvPr/>
        </p:nvSpPr>
        <p:spPr>
          <a:xfrm>
            <a:off x="7533399" y="70025"/>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10 - </a:t>
            </a:r>
            <a:fld id="{1612EBDF-BBCF-4455-9CA4-C9C775D5C22A}" type="datetime1">
              <a:rPr lang="en-US" sz="1000" smtClean="0"/>
              <a:t>12/18/2025</a:t>
            </a:fld>
            <a:endParaRPr lang="en-US" sz="1000" dirty="0"/>
          </a:p>
        </p:txBody>
      </p:sp>
      <p:sp>
        <p:nvSpPr>
          <p:cNvPr id="7" name="Subtitle 2">
            <a:extLst>
              <a:ext uri="{FF2B5EF4-FFF2-40B4-BE49-F238E27FC236}">
                <a16:creationId xmlns:a16="http://schemas.microsoft.com/office/drawing/2014/main" id="{CD082195-2DC8-37E5-D7C8-9FB19F4FB4D6}"/>
              </a:ext>
            </a:extLst>
          </p:cNvPr>
          <p:cNvSpPr>
            <a:spLocks noGrp="1"/>
          </p:cNvSpPr>
          <p:nvPr>
            <p:ph type="subTitle" idx="1"/>
          </p:nvPr>
        </p:nvSpPr>
        <p:spPr>
          <a:xfrm>
            <a:off x="1061604" y="924160"/>
            <a:ext cx="7533756" cy="558970"/>
          </a:xfrm>
        </p:spPr>
        <p:txBody>
          <a:bodyPr/>
          <a:lstStyle/>
          <a:p>
            <a:pPr marL="0" indent="0" algn="ctr">
              <a:buNone/>
            </a:pPr>
            <a:r>
              <a:rPr lang="en-US" sz="1400" dirty="0"/>
              <a:t>The load around the 1</a:t>
            </a:r>
            <a:r>
              <a:rPr lang="en-US" sz="1400" baseline="30000" dirty="0"/>
              <a:t>st</a:t>
            </a:r>
            <a:r>
              <a:rPr lang="en-US" sz="1400" dirty="0"/>
              <a:t> Month and 12</a:t>
            </a:r>
            <a:r>
              <a:rPr lang="en-US" sz="1400" baseline="30000" dirty="0"/>
              <a:t>th</a:t>
            </a:r>
            <a:r>
              <a:rPr lang="en-US" sz="1400" dirty="0"/>
              <a:t> month  are the highest and the lowest is 3</a:t>
            </a:r>
            <a:r>
              <a:rPr lang="en-US" sz="1400" baseline="30000" dirty="0"/>
              <a:t>rd</a:t>
            </a:r>
            <a:r>
              <a:rPr lang="en-US" sz="1400" dirty="0"/>
              <a:t> and 4</a:t>
            </a:r>
            <a:r>
              <a:rPr lang="en-US" sz="1400" baseline="30000" dirty="0"/>
              <a:t>th</a:t>
            </a:r>
            <a:r>
              <a:rPr lang="en-US" sz="1400" dirty="0"/>
              <a:t>.</a:t>
            </a:r>
            <a:endParaRPr lang="en-US" sz="1800" dirty="0"/>
          </a:p>
        </p:txBody>
      </p:sp>
      <p:pic>
        <p:nvPicPr>
          <p:cNvPr id="8" name="Picture 7">
            <a:extLst>
              <a:ext uri="{FF2B5EF4-FFF2-40B4-BE49-F238E27FC236}">
                <a16:creationId xmlns:a16="http://schemas.microsoft.com/office/drawing/2014/main" id="{A979F046-D1BF-DC5A-BC2B-2D23781197CE}"/>
              </a:ext>
            </a:extLst>
          </p:cNvPr>
          <p:cNvPicPr>
            <a:picLocks noChangeAspect="1"/>
          </p:cNvPicPr>
          <p:nvPr/>
        </p:nvPicPr>
        <p:blipFill>
          <a:blip r:embed="rId2"/>
          <a:srcRect t="49598"/>
          <a:stretch/>
        </p:blipFill>
        <p:spPr>
          <a:xfrm>
            <a:off x="1334667" y="1524449"/>
            <a:ext cx="6474666" cy="2717196"/>
          </a:xfrm>
          <a:prstGeom prst="rect">
            <a:avLst/>
          </a:prstGeom>
        </p:spPr>
      </p:pic>
    </p:spTree>
    <p:extLst>
      <p:ext uri="{BB962C8B-B14F-4D97-AF65-F5344CB8AC3E}">
        <p14:creationId xmlns:p14="http://schemas.microsoft.com/office/powerpoint/2010/main" val="597839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29;p36">
            <a:extLst>
              <a:ext uri="{FF2B5EF4-FFF2-40B4-BE49-F238E27FC236}">
                <a16:creationId xmlns:a16="http://schemas.microsoft.com/office/drawing/2014/main" id="{281DE8FA-0346-ADC1-8F40-D51890ED065A}"/>
              </a:ext>
            </a:extLst>
          </p:cNvPr>
          <p:cNvSpPr txBox="1">
            <a:spLocks noGrp="1"/>
          </p:cNvSpPr>
          <p:nvPr>
            <p:ph type="title"/>
          </p:nvPr>
        </p:nvSpPr>
        <p:spPr>
          <a:xfrm>
            <a:off x="1193195" y="390020"/>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a:t>Exploratory Data Analysis</a:t>
            </a:r>
            <a:endParaRPr sz="2400" dirty="0"/>
          </a:p>
        </p:txBody>
      </p:sp>
      <p:sp>
        <p:nvSpPr>
          <p:cNvPr id="5" name="Google Shape;331;p36">
            <a:extLst>
              <a:ext uri="{FF2B5EF4-FFF2-40B4-BE49-F238E27FC236}">
                <a16:creationId xmlns:a16="http://schemas.microsoft.com/office/drawing/2014/main" id="{306F827B-BD7A-F92B-F5B3-D222CF02F4F6}"/>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5.2</a:t>
            </a:r>
            <a:endParaRPr lang="en" dirty="0"/>
          </a:p>
        </p:txBody>
      </p:sp>
      <p:pic>
        <p:nvPicPr>
          <p:cNvPr id="6" name="Picture 5">
            <a:extLst>
              <a:ext uri="{FF2B5EF4-FFF2-40B4-BE49-F238E27FC236}">
                <a16:creationId xmlns:a16="http://schemas.microsoft.com/office/drawing/2014/main" id="{6ED6BF01-04D4-2C4D-C4BA-0A33642FC0FA}"/>
              </a:ext>
            </a:extLst>
          </p:cNvPr>
          <p:cNvPicPr>
            <a:picLocks noChangeAspect="1"/>
          </p:cNvPicPr>
          <p:nvPr/>
        </p:nvPicPr>
        <p:blipFill>
          <a:blip r:embed="rId2"/>
          <a:stretch>
            <a:fillRect/>
          </a:stretch>
        </p:blipFill>
        <p:spPr>
          <a:xfrm>
            <a:off x="367380" y="1016857"/>
            <a:ext cx="4091366" cy="3736623"/>
          </a:xfrm>
          <a:prstGeom prst="rect">
            <a:avLst/>
          </a:prstGeom>
        </p:spPr>
      </p:pic>
      <p:sp>
        <p:nvSpPr>
          <p:cNvPr id="9" name="Google Shape;330;p36">
            <a:extLst>
              <a:ext uri="{FF2B5EF4-FFF2-40B4-BE49-F238E27FC236}">
                <a16:creationId xmlns:a16="http://schemas.microsoft.com/office/drawing/2014/main" id="{FECCA8D5-9DA8-F732-BC73-F2CF1512F284}"/>
              </a:ext>
            </a:extLst>
          </p:cNvPr>
          <p:cNvSpPr txBox="1">
            <a:spLocks/>
          </p:cNvSpPr>
          <p:nvPr/>
        </p:nvSpPr>
        <p:spPr>
          <a:xfrm>
            <a:off x="367380" y="4685613"/>
            <a:ext cx="3809972"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a:t>
            </a:r>
            <a:r>
              <a:rPr lang="en-US" sz="1100" i="1"/>
              <a:t>4.4 Correlation </a:t>
            </a:r>
            <a:r>
              <a:rPr lang="en-US" sz="1100" i="1" dirty="0"/>
              <a:t>Matrix</a:t>
            </a:r>
          </a:p>
        </p:txBody>
      </p:sp>
      <p:sp>
        <p:nvSpPr>
          <p:cNvPr id="2" name="Google Shape;330;p36">
            <a:extLst>
              <a:ext uri="{FF2B5EF4-FFF2-40B4-BE49-F238E27FC236}">
                <a16:creationId xmlns:a16="http://schemas.microsoft.com/office/drawing/2014/main" id="{0910999F-B6F2-F1DE-6753-98D60AF5B2BC}"/>
              </a:ext>
            </a:extLst>
          </p:cNvPr>
          <p:cNvSpPr txBox="1">
            <a:spLocks/>
          </p:cNvSpPr>
          <p:nvPr/>
        </p:nvSpPr>
        <p:spPr>
          <a:xfrm>
            <a:off x="7624667" y="76994"/>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11 - </a:t>
            </a:r>
            <a:fld id="{1612EBDF-BBCF-4455-9CA4-C9C775D5C22A}" type="datetime1">
              <a:rPr lang="en-US" sz="1000" smtClean="0"/>
              <a:t>12/18/2025</a:t>
            </a:fld>
            <a:endParaRPr lang="en-US" sz="1000" dirty="0"/>
          </a:p>
        </p:txBody>
      </p:sp>
      <p:sp>
        <p:nvSpPr>
          <p:cNvPr id="3" name="Subtitle 2">
            <a:extLst>
              <a:ext uri="{FF2B5EF4-FFF2-40B4-BE49-F238E27FC236}">
                <a16:creationId xmlns:a16="http://schemas.microsoft.com/office/drawing/2014/main" id="{35A01328-8889-7FD3-ABB5-3F0610D76737}"/>
              </a:ext>
            </a:extLst>
          </p:cNvPr>
          <p:cNvSpPr>
            <a:spLocks noGrp="1"/>
          </p:cNvSpPr>
          <p:nvPr>
            <p:ph type="subTitle" idx="1"/>
          </p:nvPr>
        </p:nvSpPr>
        <p:spPr>
          <a:xfrm>
            <a:off x="4887488" y="1630688"/>
            <a:ext cx="3772800" cy="2736300"/>
          </a:xfrm>
        </p:spPr>
        <p:txBody>
          <a:bodyPr/>
          <a:lstStyle/>
          <a:p>
            <a:pPr marL="0" indent="0" algn="ctr">
              <a:buNone/>
            </a:pPr>
            <a:r>
              <a:rPr lang="en-US" sz="1400" dirty="0"/>
              <a:t> This correlation matrix shows how different all the columns in the data are related to reach other.</a:t>
            </a:r>
            <a:endParaRPr lang="en-US" sz="1800" dirty="0"/>
          </a:p>
        </p:txBody>
      </p:sp>
    </p:spTree>
    <p:extLst>
      <p:ext uri="{BB962C8B-B14F-4D97-AF65-F5344CB8AC3E}">
        <p14:creationId xmlns:p14="http://schemas.microsoft.com/office/powerpoint/2010/main" val="477273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A63FCD0-6BCE-8A3E-7E88-F80D7F452C51}"/>
              </a:ext>
            </a:extLst>
          </p:cNvPr>
          <p:cNvSpPr>
            <a:spLocks noGrp="1"/>
          </p:cNvSpPr>
          <p:nvPr>
            <p:ph type="subTitle" idx="1"/>
          </p:nvPr>
        </p:nvSpPr>
        <p:spPr/>
        <p:txBody>
          <a:bodyPr/>
          <a:lstStyle/>
          <a:p>
            <a:r>
              <a:rPr lang="en-US" sz="1800" dirty="0"/>
              <a:t>LSTM (Long Short-Term Memory)</a:t>
            </a:r>
          </a:p>
          <a:p>
            <a:r>
              <a:rPr lang="en-US" sz="1800" dirty="0"/>
              <a:t>GRU (Gated Recurrent Unit )</a:t>
            </a:r>
          </a:p>
          <a:p>
            <a:r>
              <a:rPr lang="en-US" sz="1800" dirty="0"/>
              <a:t>MLP (Multilayer Perceptron)</a:t>
            </a:r>
          </a:p>
        </p:txBody>
      </p:sp>
      <p:sp>
        <p:nvSpPr>
          <p:cNvPr id="4" name="Subtitle 3">
            <a:extLst>
              <a:ext uri="{FF2B5EF4-FFF2-40B4-BE49-F238E27FC236}">
                <a16:creationId xmlns:a16="http://schemas.microsoft.com/office/drawing/2014/main" id="{75DC2068-95DB-BF48-34EE-B81824B9F0CF}"/>
              </a:ext>
            </a:extLst>
          </p:cNvPr>
          <p:cNvSpPr>
            <a:spLocks noGrp="1"/>
          </p:cNvSpPr>
          <p:nvPr>
            <p:ph type="subTitle" idx="2"/>
          </p:nvPr>
        </p:nvSpPr>
        <p:spPr/>
        <p:txBody>
          <a:bodyPr/>
          <a:lstStyle/>
          <a:p>
            <a:r>
              <a:rPr lang="en-US" sz="1800" dirty="0" err="1"/>
              <a:t>XGboost</a:t>
            </a:r>
            <a:endParaRPr lang="en-US" sz="1800" dirty="0"/>
          </a:p>
          <a:p>
            <a:r>
              <a:rPr lang="en-US" sz="1800" dirty="0"/>
              <a:t>Random Forest</a:t>
            </a:r>
          </a:p>
          <a:p>
            <a:r>
              <a:rPr lang="en-US" sz="1800" dirty="0"/>
              <a:t>Gradient Boosting</a:t>
            </a:r>
          </a:p>
          <a:p>
            <a:r>
              <a:rPr lang="en-US" sz="1800" dirty="0"/>
              <a:t>SVR (Support Vector Regression)</a:t>
            </a:r>
          </a:p>
          <a:p>
            <a:r>
              <a:rPr lang="en-US" sz="1800" dirty="0"/>
              <a:t>Ridge Regression</a:t>
            </a:r>
          </a:p>
          <a:p>
            <a:r>
              <a:rPr lang="en-US" sz="1800" dirty="0"/>
              <a:t>Linear Regression</a:t>
            </a:r>
          </a:p>
          <a:p>
            <a:endParaRPr lang="en-US" sz="1800" dirty="0"/>
          </a:p>
        </p:txBody>
      </p:sp>
      <p:sp>
        <p:nvSpPr>
          <p:cNvPr id="5" name="Subtitle 4">
            <a:extLst>
              <a:ext uri="{FF2B5EF4-FFF2-40B4-BE49-F238E27FC236}">
                <a16:creationId xmlns:a16="http://schemas.microsoft.com/office/drawing/2014/main" id="{5FA7A0E5-6EF5-7DF5-5D11-32173931A7BB}"/>
              </a:ext>
            </a:extLst>
          </p:cNvPr>
          <p:cNvSpPr>
            <a:spLocks noGrp="1"/>
          </p:cNvSpPr>
          <p:nvPr>
            <p:ph type="subTitle" idx="3"/>
          </p:nvPr>
        </p:nvSpPr>
        <p:spPr/>
        <p:txBody>
          <a:bodyPr/>
          <a:lstStyle/>
          <a:p>
            <a:r>
              <a:rPr lang="en-US" dirty="0"/>
              <a:t>Machine Learning Models</a:t>
            </a:r>
          </a:p>
        </p:txBody>
      </p:sp>
      <p:sp>
        <p:nvSpPr>
          <p:cNvPr id="6" name="Subtitle 5">
            <a:extLst>
              <a:ext uri="{FF2B5EF4-FFF2-40B4-BE49-F238E27FC236}">
                <a16:creationId xmlns:a16="http://schemas.microsoft.com/office/drawing/2014/main" id="{B3F0AB4E-71D1-6F19-EFA3-1516DDAB5918}"/>
              </a:ext>
            </a:extLst>
          </p:cNvPr>
          <p:cNvSpPr>
            <a:spLocks noGrp="1"/>
          </p:cNvSpPr>
          <p:nvPr>
            <p:ph type="subTitle" idx="4"/>
          </p:nvPr>
        </p:nvSpPr>
        <p:spPr/>
        <p:txBody>
          <a:bodyPr/>
          <a:lstStyle/>
          <a:p>
            <a:r>
              <a:rPr lang="en-US" dirty="0"/>
              <a:t>Deep Learning Model</a:t>
            </a:r>
          </a:p>
        </p:txBody>
      </p:sp>
      <p:sp>
        <p:nvSpPr>
          <p:cNvPr id="7" name="Google Shape;329;p36">
            <a:extLst>
              <a:ext uri="{FF2B5EF4-FFF2-40B4-BE49-F238E27FC236}">
                <a16:creationId xmlns:a16="http://schemas.microsoft.com/office/drawing/2014/main" id="{BFE1BF81-4654-B512-0EDA-17498BF909C3}"/>
              </a:ext>
            </a:extLst>
          </p:cNvPr>
          <p:cNvSpPr txBox="1">
            <a:spLocks/>
          </p:cNvSpPr>
          <p:nvPr/>
        </p:nvSpPr>
        <p:spPr>
          <a:xfrm>
            <a:off x="1193195" y="390020"/>
            <a:ext cx="5067600" cy="5589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n-US" sz="2400" dirty="0"/>
              <a:t>Model Development &amp; Training </a:t>
            </a:r>
          </a:p>
        </p:txBody>
      </p:sp>
      <p:sp>
        <p:nvSpPr>
          <p:cNvPr id="8" name="Google Shape;331;p36">
            <a:extLst>
              <a:ext uri="{FF2B5EF4-FFF2-40B4-BE49-F238E27FC236}">
                <a16:creationId xmlns:a16="http://schemas.microsoft.com/office/drawing/2014/main" id="{82295662-F4E9-868D-B117-C87B48D2A093}"/>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5.3</a:t>
            </a:r>
            <a:endParaRPr lang="en" dirty="0"/>
          </a:p>
        </p:txBody>
      </p:sp>
      <p:sp>
        <p:nvSpPr>
          <p:cNvPr id="2" name="Google Shape;330;p36">
            <a:extLst>
              <a:ext uri="{FF2B5EF4-FFF2-40B4-BE49-F238E27FC236}">
                <a16:creationId xmlns:a16="http://schemas.microsoft.com/office/drawing/2014/main" id="{3BEF8273-8335-F950-3CBE-3B2963C787B3}"/>
              </a:ext>
            </a:extLst>
          </p:cNvPr>
          <p:cNvSpPr txBox="1">
            <a:spLocks/>
          </p:cNvSpPr>
          <p:nvPr/>
        </p:nvSpPr>
        <p:spPr>
          <a:xfrm>
            <a:off x="241332" y="461441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12 - </a:t>
            </a:r>
            <a:fld id="{1612EBDF-BBCF-4455-9CA4-C9C775D5C22A}" type="datetime1">
              <a:rPr lang="en-US" sz="1000" smtClean="0"/>
              <a:t>12/18/2025</a:t>
            </a:fld>
            <a:endParaRPr lang="en-US" sz="1000" dirty="0"/>
          </a:p>
        </p:txBody>
      </p:sp>
    </p:spTree>
    <p:extLst>
      <p:ext uri="{BB962C8B-B14F-4D97-AF65-F5344CB8AC3E}">
        <p14:creationId xmlns:p14="http://schemas.microsoft.com/office/powerpoint/2010/main" val="957970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329;p36">
            <a:extLst>
              <a:ext uri="{FF2B5EF4-FFF2-40B4-BE49-F238E27FC236}">
                <a16:creationId xmlns:a16="http://schemas.microsoft.com/office/drawing/2014/main" id="{BFE1BF81-4654-B512-0EDA-17498BF909C3}"/>
              </a:ext>
            </a:extLst>
          </p:cNvPr>
          <p:cNvSpPr txBox="1">
            <a:spLocks/>
          </p:cNvSpPr>
          <p:nvPr/>
        </p:nvSpPr>
        <p:spPr>
          <a:xfrm>
            <a:off x="1185575" y="233540"/>
            <a:ext cx="5067600" cy="5589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n-US" sz="2400" dirty="0"/>
              <a:t>Performance Evaluation</a:t>
            </a:r>
          </a:p>
        </p:txBody>
      </p:sp>
      <p:sp>
        <p:nvSpPr>
          <p:cNvPr id="8" name="Google Shape;331;p36">
            <a:extLst>
              <a:ext uri="{FF2B5EF4-FFF2-40B4-BE49-F238E27FC236}">
                <a16:creationId xmlns:a16="http://schemas.microsoft.com/office/drawing/2014/main" id="{82295662-F4E9-868D-B117-C87B48D2A093}"/>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5.4</a:t>
            </a:r>
            <a:endParaRPr lang="en" sz="3000" dirty="0"/>
          </a:p>
        </p:txBody>
      </p:sp>
      <p:sp>
        <p:nvSpPr>
          <p:cNvPr id="17" name="Subtitle 4">
            <a:extLst>
              <a:ext uri="{FF2B5EF4-FFF2-40B4-BE49-F238E27FC236}">
                <a16:creationId xmlns:a16="http://schemas.microsoft.com/office/drawing/2014/main" id="{5F787465-7631-8DA9-23CC-13A5225FDFD9}"/>
              </a:ext>
            </a:extLst>
          </p:cNvPr>
          <p:cNvSpPr txBox="1">
            <a:spLocks/>
          </p:cNvSpPr>
          <p:nvPr/>
        </p:nvSpPr>
        <p:spPr>
          <a:xfrm>
            <a:off x="1065732" y="766335"/>
            <a:ext cx="3772800" cy="361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900" b="0" i="0" u="none" strike="noStrike" cap="none">
                <a:solidFill>
                  <a:schemeClr val="dk1"/>
                </a:solidFill>
                <a:latin typeface="Figtree Black"/>
                <a:ea typeface="Figtree Black"/>
                <a:cs typeface="Figtree Black"/>
                <a:sym typeface="Figtree Black"/>
              </a:defRPr>
            </a:lvl1pPr>
            <a:lvl2pPr marL="914400" marR="0" lvl="1"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2pPr>
            <a:lvl3pPr marL="1371600" marR="0" lvl="2"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3pPr>
            <a:lvl4pPr marL="1828800" marR="0" lvl="3"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4pPr>
            <a:lvl5pPr marL="2286000" marR="0" lvl="4"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5pPr>
            <a:lvl6pPr marL="2743200" marR="0" lvl="5"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6pPr>
            <a:lvl7pPr marL="3200400" marR="0" lvl="6"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7pPr>
            <a:lvl8pPr marL="3657600" marR="0" lvl="7"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8pPr>
            <a:lvl9pPr marL="4114800" marR="0" lvl="8"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9pPr>
          </a:lstStyle>
          <a:p>
            <a:r>
              <a:rPr lang="en-US" sz="1600" dirty="0"/>
              <a:t>Machine Learning Models</a:t>
            </a:r>
          </a:p>
        </p:txBody>
      </p:sp>
      <p:pic>
        <p:nvPicPr>
          <p:cNvPr id="18" name="Picture 17">
            <a:extLst>
              <a:ext uri="{FF2B5EF4-FFF2-40B4-BE49-F238E27FC236}">
                <a16:creationId xmlns:a16="http://schemas.microsoft.com/office/drawing/2014/main" id="{DBDCCCB6-A9EB-A18E-EE97-0983DCF98E59}"/>
              </a:ext>
            </a:extLst>
          </p:cNvPr>
          <p:cNvPicPr>
            <a:picLocks noChangeAspect="1"/>
          </p:cNvPicPr>
          <p:nvPr/>
        </p:nvPicPr>
        <p:blipFill>
          <a:blip r:embed="rId2"/>
          <a:srcRect r="33604" b="49743"/>
          <a:stretch/>
        </p:blipFill>
        <p:spPr>
          <a:xfrm>
            <a:off x="1764092" y="1887960"/>
            <a:ext cx="5615816" cy="2352285"/>
          </a:xfrm>
          <a:prstGeom prst="rect">
            <a:avLst/>
          </a:prstGeom>
        </p:spPr>
      </p:pic>
      <p:sp>
        <p:nvSpPr>
          <p:cNvPr id="20" name="Google Shape;330;p36">
            <a:extLst>
              <a:ext uri="{FF2B5EF4-FFF2-40B4-BE49-F238E27FC236}">
                <a16:creationId xmlns:a16="http://schemas.microsoft.com/office/drawing/2014/main" id="{BE4512C0-565F-DD97-9B36-8683C970CED3}"/>
              </a:ext>
            </a:extLst>
          </p:cNvPr>
          <p:cNvSpPr txBox="1">
            <a:spLocks/>
          </p:cNvSpPr>
          <p:nvPr/>
        </p:nvSpPr>
        <p:spPr>
          <a:xfrm>
            <a:off x="1519333" y="4260784"/>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4.5 Machine Learning Models Evaluation Results</a:t>
            </a:r>
          </a:p>
        </p:txBody>
      </p:sp>
      <p:sp>
        <p:nvSpPr>
          <p:cNvPr id="2" name="Google Shape;330;p36">
            <a:extLst>
              <a:ext uri="{FF2B5EF4-FFF2-40B4-BE49-F238E27FC236}">
                <a16:creationId xmlns:a16="http://schemas.microsoft.com/office/drawing/2014/main" id="{3605E2E3-F914-967A-7014-629E266B9244}"/>
              </a:ext>
            </a:extLst>
          </p:cNvPr>
          <p:cNvSpPr txBox="1">
            <a:spLocks/>
          </p:cNvSpPr>
          <p:nvPr/>
        </p:nvSpPr>
        <p:spPr>
          <a:xfrm>
            <a:off x="241332" y="4608700"/>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13 - </a:t>
            </a:r>
            <a:fld id="{1612EBDF-BBCF-4455-9CA4-C9C775D5C22A}" type="datetime1">
              <a:rPr lang="en-US" sz="1000" smtClean="0"/>
              <a:t>12/18/2025</a:t>
            </a:fld>
            <a:endParaRPr lang="en-US" sz="1000" dirty="0"/>
          </a:p>
        </p:txBody>
      </p:sp>
      <p:sp>
        <p:nvSpPr>
          <p:cNvPr id="3" name="Subtitle 2">
            <a:extLst>
              <a:ext uri="{FF2B5EF4-FFF2-40B4-BE49-F238E27FC236}">
                <a16:creationId xmlns:a16="http://schemas.microsoft.com/office/drawing/2014/main" id="{8E897200-CD84-E373-7D5A-6880E33BAC19}"/>
              </a:ext>
            </a:extLst>
          </p:cNvPr>
          <p:cNvSpPr>
            <a:spLocks noGrp="1"/>
          </p:cNvSpPr>
          <p:nvPr>
            <p:ph type="subTitle" idx="1"/>
          </p:nvPr>
        </p:nvSpPr>
        <p:spPr>
          <a:xfrm>
            <a:off x="1271238" y="1127835"/>
            <a:ext cx="6928625" cy="538403"/>
          </a:xfrm>
        </p:spPr>
        <p:txBody>
          <a:bodyPr/>
          <a:lstStyle/>
          <a:p>
            <a:pPr marL="0" indent="0" algn="ctr" rtl="0">
              <a:buNone/>
            </a:pPr>
            <a:r>
              <a:rPr lang="en-US" dirty="0"/>
              <a:t>Tuned </a:t>
            </a:r>
            <a:r>
              <a:rPr lang="en-US" dirty="0" err="1"/>
              <a:t>XGBoost</a:t>
            </a:r>
            <a:r>
              <a:rPr lang="en-US" dirty="0"/>
              <a:t> is the most accurate performer with the lowest error rates (MAE of 0.2570 and RMSE of 0.3840). </a:t>
            </a:r>
            <a:endParaRPr lang="en-US" sz="1800" dirty="0"/>
          </a:p>
        </p:txBody>
      </p:sp>
    </p:spTree>
    <p:extLst>
      <p:ext uri="{BB962C8B-B14F-4D97-AF65-F5344CB8AC3E}">
        <p14:creationId xmlns:p14="http://schemas.microsoft.com/office/powerpoint/2010/main" val="3865277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329;p36">
            <a:extLst>
              <a:ext uri="{FF2B5EF4-FFF2-40B4-BE49-F238E27FC236}">
                <a16:creationId xmlns:a16="http://schemas.microsoft.com/office/drawing/2014/main" id="{BFE1BF81-4654-B512-0EDA-17498BF909C3}"/>
              </a:ext>
            </a:extLst>
          </p:cNvPr>
          <p:cNvSpPr txBox="1">
            <a:spLocks/>
          </p:cNvSpPr>
          <p:nvPr/>
        </p:nvSpPr>
        <p:spPr>
          <a:xfrm>
            <a:off x="1185575" y="233540"/>
            <a:ext cx="5067600" cy="5589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n-US" sz="2400" dirty="0"/>
              <a:t>Performance Evaluation</a:t>
            </a:r>
          </a:p>
        </p:txBody>
      </p:sp>
      <p:sp>
        <p:nvSpPr>
          <p:cNvPr id="8" name="Google Shape;331;p36">
            <a:extLst>
              <a:ext uri="{FF2B5EF4-FFF2-40B4-BE49-F238E27FC236}">
                <a16:creationId xmlns:a16="http://schemas.microsoft.com/office/drawing/2014/main" id="{82295662-F4E9-868D-B117-C87B48D2A093}"/>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5.4</a:t>
            </a:r>
            <a:endParaRPr lang="en" sz="3000" dirty="0"/>
          </a:p>
        </p:txBody>
      </p:sp>
      <p:sp>
        <p:nvSpPr>
          <p:cNvPr id="17" name="Subtitle 4">
            <a:extLst>
              <a:ext uri="{FF2B5EF4-FFF2-40B4-BE49-F238E27FC236}">
                <a16:creationId xmlns:a16="http://schemas.microsoft.com/office/drawing/2014/main" id="{5F787465-7631-8DA9-23CC-13A5225FDFD9}"/>
              </a:ext>
            </a:extLst>
          </p:cNvPr>
          <p:cNvSpPr txBox="1">
            <a:spLocks/>
          </p:cNvSpPr>
          <p:nvPr/>
        </p:nvSpPr>
        <p:spPr>
          <a:xfrm>
            <a:off x="1065732" y="766335"/>
            <a:ext cx="3772800" cy="361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900" b="0" i="0" u="none" strike="noStrike" cap="none">
                <a:solidFill>
                  <a:schemeClr val="dk1"/>
                </a:solidFill>
                <a:latin typeface="Figtree Black"/>
                <a:ea typeface="Figtree Black"/>
                <a:cs typeface="Figtree Black"/>
                <a:sym typeface="Figtree Black"/>
              </a:defRPr>
            </a:lvl1pPr>
            <a:lvl2pPr marL="914400" marR="0" lvl="1"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2pPr>
            <a:lvl3pPr marL="1371600" marR="0" lvl="2"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3pPr>
            <a:lvl4pPr marL="1828800" marR="0" lvl="3"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4pPr>
            <a:lvl5pPr marL="2286000" marR="0" lvl="4"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5pPr>
            <a:lvl6pPr marL="2743200" marR="0" lvl="5"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6pPr>
            <a:lvl7pPr marL="3200400" marR="0" lvl="6"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7pPr>
            <a:lvl8pPr marL="3657600" marR="0" lvl="7"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8pPr>
            <a:lvl9pPr marL="4114800" marR="0" lvl="8"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9pPr>
          </a:lstStyle>
          <a:p>
            <a:r>
              <a:rPr lang="en-US" sz="1600" dirty="0"/>
              <a:t>Machine Learning Models</a:t>
            </a:r>
          </a:p>
        </p:txBody>
      </p:sp>
      <p:sp>
        <p:nvSpPr>
          <p:cNvPr id="20" name="Google Shape;330;p36">
            <a:extLst>
              <a:ext uri="{FF2B5EF4-FFF2-40B4-BE49-F238E27FC236}">
                <a16:creationId xmlns:a16="http://schemas.microsoft.com/office/drawing/2014/main" id="{BE4512C0-565F-DD97-9B36-8683C970CED3}"/>
              </a:ext>
            </a:extLst>
          </p:cNvPr>
          <p:cNvSpPr txBox="1">
            <a:spLocks/>
          </p:cNvSpPr>
          <p:nvPr/>
        </p:nvSpPr>
        <p:spPr>
          <a:xfrm>
            <a:off x="1512400" y="3638184"/>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4.5 Machine Learning Models Evaluation Results</a:t>
            </a:r>
          </a:p>
        </p:txBody>
      </p:sp>
      <p:sp>
        <p:nvSpPr>
          <p:cNvPr id="2" name="Google Shape;330;p36">
            <a:extLst>
              <a:ext uri="{FF2B5EF4-FFF2-40B4-BE49-F238E27FC236}">
                <a16:creationId xmlns:a16="http://schemas.microsoft.com/office/drawing/2014/main" id="{3605E2E3-F914-967A-7014-629E266B9244}"/>
              </a:ext>
            </a:extLst>
          </p:cNvPr>
          <p:cNvSpPr txBox="1">
            <a:spLocks/>
          </p:cNvSpPr>
          <p:nvPr/>
        </p:nvSpPr>
        <p:spPr>
          <a:xfrm>
            <a:off x="241332" y="4608700"/>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13 - </a:t>
            </a:r>
            <a:fld id="{1612EBDF-BBCF-4455-9CA4-C9C775D5C22A}" type="datetime1">
              <a:rPr lang="en-US" sz="1000" smtClean="0"/>
              <a:t>12/18/2025</a:t>
            </a:fld>
            <a:endParaRPr lang="en-US" sz="1000" dirty="0"/>
          </a:p>
        </p:txBody>
      </p:sp>
      <p:pic>
        <p:nvPicPr>
          <p:cNvPr id="4" name="Picture 3">
            <a:extLst>
              <a:ext uri="{FF2B5EF4-FFF2-40B4-BE49-F238E27FC236}">
                <a16:creationId xmlns:a16="http://schemas.microsoft.com/office/drawing/2014/main" id="{E5B22DE0-0034-AA27-279A-AD80D3D53A78}"/>
              </a:ext>
            </a:extLst>
          </p:cNvPr>
          <p:cNvPicPr>
            <a:picLocks noChangeAspect="1"/>
          </p:cNvPicPr>
          <p:nvPr/>
        </p:nvPicPr>
        <p:blipFill>
          <a:blip r:embed="rId2"/>
          <a:srcRect l="31940" t="49743" r="33736"/>
          <a:stretch/>
        </p:blipFill>
        <p:spPr>
          <a:xfrm>
            <a:off x="4565067" y="1154634"/>
            <a:ext cx="3059600" cy="2479053"/>
          </a:xfrm>
          <a:prstGeom prst="rect">
            <a:avLst/>
          </a:prstGeom>
        </p:spPr>
      </p:pic>
      <p:pic>
        <p:nvPicPr>
          <p:cNvPr id="5" name="Picture 4">
            <a:extLst>
              <a:ext uri="{FF2B5EF4-FFF2-40B4-BE49-F238E27FC236}">
                <a16:creationId xmlns:a16="http://schemas.microsoft.com/office/drawing/2014/main" id="{69ECC5B2-D7DB-00C0-7DAA-1E83C2F434A5}"/>
              </a:ext>
            </a:extLst>
          </p:cNvPr>
          <p:cNvPicPr>
            <a:picLocks noChangeAspect="1"/>
          </p:cNvPicPr>
          <p:nvPr/>
        </p:nvPicPr>
        <p:blipFill>
          <a:blip r:embed="rId2"/>
          <a:srcRect l="66345" b="49743"/>
          <a:stretch/>
        </p:blipFill>
        <p:spPr>
          <a:xfrm>
            <a:off x="1451960" y="1218019"/>
            <a:ext cx="2846576" cy="2352285"/>
          </a:xfrm>
          <a:prstGeom prst="rect">
            <a:avLst/>
          </a:prstGeom>
        </p:spPr>
      </p:pic>
      <mc:AlternateContent xmlns:mc="http://schemas.openxmlformats.org/markup-compatibility/2006">
        <mc:Choice xmlns:a14="http://schemas.microsoft.com/office/drawing/2010/main" Requires="a14">
          <p:sp>
            <p:nvSpPr>
              <p:cNvPr id="3" name="Subtitle 2">
                <a:extLst>
                  <a:ext uri="{FF2B5EF4-FFF2-40B4-BE49-F238E27FC236}">
                    <a16:creationId xmlns:a16="http://schemas.microsoft.com/office/drawing/2014/main" id="{9E776A68-B139-F716-41A0-B8AF18C2545E}"/>
                  </a:ext>
                </a:extLst>
              </p:cNvPr>
              <p:cNvSpPr>
                <a:spLocks noGrp="1"/>
              </p:cNvSpPr>
              <p:nvPr>
                <p:ph type="subTitle" idx="1"/>
              </p:nvPr>
            </p:nvSpPr>
            <p:spPr>
              <a:xfrm>
                <a:off x="865227" y="4053980"/>
                <a:ext cx="7946610" cy="538403"/>
              </a:xfrm>
            </p:spPr>
            <p:txBody>
              <a:bodyPr/>
              <a:lstStyle/>
              <a:p>
                <a:pPr marL="0" indent="0" algn="ctr">
                  <a:buNone/>
                </a:pPr>
                <a:r>
                  <a:rPr lang="en-US" altLang="en-US" dirty="0"/>
                  <a:t>Tuned </a:t>
                </a:r>
                <a:r>
                  <a:rPr lang="en-US" altLang="en-US" dirty="0" err="1"/>
                  <a:t>XGBoost</a:t>
                </a:r>
                <a:r>
                  <a:rPr lang="en-US" altLang="en-US" dirty="0"/>
                  <a:t> is the clear winner, achieving the highest accuracy (</a:t>
                </a:r>
                <a14:m>
                  <m:oMath xmlns:m="http://schemas.openxmlformats.org/officeDocument/2006/math">
                    <m:sSup>
                      <m:sSupPr>
                        <m:ctrlPr>
                          <a:rPr lang="en-US" altLang="en-US" i="1" smtClean="0">
                            <a:latin typeface="Cambria Math" panose="02040503050406030204" pitchFamily="18" charset="0"/>
                          </a:rPr>
                        </m:ctrlPr>
                      </m:sSupPr>
                      <m:e>
                        <m:r>
                          <a:rPr lang="en-US" altLang="en-US" b="0" i="1" smtClean="0">
                            <a:latin typeface="Cambria Math" panose="02040503050406030204" pitchFamily="18" charset="0"/>
                          </a:rPr>
                          <m:t>𝑅</m:t>
                        </m:r>
                      </m:e>
                      <m:sup>
                        <m:r>
                          <a:rPr lang="en-US" altLang="en-US" b="0" i="1" smtClean="0">
                            <a:latin typeface="Cambria Math" panose="02040503050406030204" pitchFamily="18" charset="0"/>
                          </a:rPr>
                          <m:t>2</m:t>
                        </m:r>
                      </m:sup>
                    </m:sSup>
                  </m:oMath>
                </a14:m>
                <a:r>
                  <a:rPr lang="en-US" altLang="en-US" dirty="0"/>
                  <a:t> of 0.8312) and the lowest average error rate (12.69%).</a:t>
                </a:r>
              </a:p>
              <a:p>
                <a:pPr marL="0" indent="0" algn="ctr" rtl="0">
                  <a:buNone/>
                </a:pPr>
                <a:r>
                  <a:rPr lang="en-US" dirty="0"/>
                  <a:t> </a:t>
                </a:r>
                <a:endParaRPr lang="en-US" sz="1800" dirty="0"/>
              </a:p>
            </p:txBody>
          </p:sp>
        </mc:Choice>
        <mc:Fallback>
          <p:sp>
            <p:nvSpPr>
              <p:cNvPr id="3" name="Subtitle 2">
                <a:extLst>
                  <a:ext uri="{FF2B5EF4-FFF2-40B4-BE49-F238E27FC236}">
                    <a16:creationId xmlns:a16="http://schemas.microsoft.com/office/drawing/2014/main" id="{9E776A68-B139-F716-41A0-B8AF18C2545E}"/>
                  </a:ext>
                </a:extLst>
              </p:cNvPr>
              <p:cNvSpPr>
                <a:spLocks noGrp="1" noRot="1" noChangeAspect="1" noMove="1" noResize="1" noEditPoints="1" noAdjustHandles="1" noChangeArrowheads="1" noChangeShapeType="1" noTextEdit="1"/>
              </p:cNvSpPr>
              <p:nvPr>
                <p:ph type="subTitle" idx="1"/>
              </p:nvPr>
            </p:nvSpPr>
            <p:spPr>
              <a:xfrm>
                <a:off x="865227" y="4053980"/>
                <a:ext cx="7946610" cy="538403"/>
              </a:xfrm>
              <a:blipFill>
                <a:blip r:embed="rId3"/>
                <a:stretch>
                  <a:fillRect b="-26136"/>
                </a:stretch>
              </a:blipFill>
            </p:spPr>
            <p:txBody>
              <a:bodyPr/>
              <a:lstStyle/>
              <a:p>
                <a:r>
                  <a:rPr lang="en-US">
                    <a:noFill/>
                  </a:rPr>
                  <a:t> </a:t>
                </a:r>
              </a:p>
            </p:txBody>
          </p:sp>
        </mc:Fallback>
      </mc:AlternateContent>
      <p:sp>
        <p:nvSpPr>
          <p:cNvPr id="12" name="Rectangle 5">
            <a:extLst>
              <a:ext uri="{FF2B5EF4-FFF2-40B4-BE49-F238E27FC236}">
                <a16:creationId xmlns:a16="http://schemas.microsoft.com/office/drawing/2014/main" id="{F33C9E93-A6AD-96E1-1409-F5AAC004F9F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These charts compare different machine learning models to see which one best predicts energy demand. </a:t>
            </a:r>
            <a:r>
              <a:rPr kumimoji="0" lang="en-US" altLang="en-US" sz="1800" b="1" i="0" u="none" strike="noStrike" cap="none" normalizeH="0" baseline="0" dirty="0">
                <a:ln>
                  <a:noFill/>
                </a:ln>
                <a:solidFill>
                  <a:schemeClr val="tx1"/>
                </a:solidFill>
                <a:effectLst/>
                <a:latin typeface="Google Sans Text"/>
              </a:rPr>
              <a:t>Tuned </a:t>
            </a:r>
            <a:r>
              <a:rPr kumimoji="0" lang="en-US" altLang="en-US" sz="1800" b="1" i="0" u="none" strike="noStrike" cap="none" normalizeH="0" baseline="0" dirty="0" err="1">
                <a:ln>
                  <a:noFill/>
                </a:ln>
                <a:solidFill>
                  <a:schemeClr val="tx1"/>
                </a:solidFill>
                <a:effectLst/>
                <a:latin typeface="Google Sans Text"/>
              </a:rPr>
              <a:t>XGBoost</a:t>
            </a:r>
            <a:r>
              <a:rPr kumimoji="0" lang="en-US" altLang="en-US" sz="1800" b="0" i="0" u="none" strike="noStrike" cap="none" normalizeH="0" baseline="0" dirty="0">
                <a:ln>
                  <a:noFill/>
                </a:ln>
                <a:solidFill>
                  <a:schemeClr val="tx1"/>
                </a:solidFill>
                <a:effectLst/>
              </a:rPr>
              <a:t> is the clear winner, achieving the highest accuracy (</a:t>
            </a:r>
            <a:r>
              <a:rPr kumimoji="0" lang="en-US" altLang="en-US" sz="1800" b="0" i="0" u="none" strike="noStrike" cap="none" normalizeH="0" baseline="0" dirty="0">
                <a:ln>
                  <a:noFill/>
                </a:ln>
                <a:solidFill>
                  <a:schemeClr val="tx1"/>
                </a:solidFill>
                <a:effectLst/>
                <a:latin typeface="Google Sans Text"/>
              </a:rPr>
              <a:t>$R^2$</a:t>
            </a:r>
            <a:r>
              <a:rPr kumimoji="0" lang="en-US" altLang="en-US" sz="1800" b="0" i="0" u="none" strike="noStrike" cap="none" normalizeH="0" baseline="0" dirty="0">
                <a:ln>
                  <a:noFill/>
                </a:ln>
                <a:solidFill>
                  <a:schemeClr val="tx1"/>
                </a:solidFill>
                <a:effectLst/>
              </a:rPr>
              <a:t> of </a:t>
            </a:r>
            <a:r>
              <a:rPr kumimoji="0" lang="en-US" altLang="en-US" sz="1800" b="1" i="0" u="none" strike="noStrike" cap="none" normalizeH="0" baseline="0" dirty="0">
                <a:ln>
                  <a:noFill/>
                </a:ln>
                <a:solidFill>
                  <a:schemeClr val="tx1"/>
                </a:solidFill>
                <a:effectLst/>
                <a:latin typeface="Google Sans Text"/>
              </a:rPr>
              <a:t>0.8312</a:t>
            </a:r>
            <a:r>
              <a:rPr kumimoji="0" lang="en-US" altLang="en-US" sz="1800" b="0" i="0" u="none" strike="noStrike" cap="none" normalizeH="0" baseline="0" dirty="0">
                <a:ln>
                  <a:noFill/>
                </a:ln>
                <a:solidFill>
                  <a:schemeClr val="tx1"/>
                </a:solidFill>
                <a:effectLst/>
              </a:rPr>
              <a:t>) and the lowest average error rate (</a:t>
            </a:r>
            <a:r>
              <a:rPr kumimoji="0" lang="en-US" altLang="en-US" sz="1800" b="1" i="0" u="none" strike="noStrike" cap="none" normalizeH="0" baseline="0" dirty="0">
                <a:ln>
                  <a:noFill/>
                </a:ln>
                <a:solidFill>
                  <a:schemeClr val="tx1"/>
                </a:solidFill>
                <a:effectLst/>
                <a:latin typeface="Google Sans Text"/>
              </a:rPr>
              <a:t>12.69%</a:t>
            </a:r>
            <a:r>
              <a:rPr kumimoji="0" lang="en-US" altLang="en-US" sz="1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60844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329;p36">
            <a:extLst>
              <a:ext uri="{FF2B5EF4-FFF2-40B4-BE49-F238E27FC236}">
                <a16:creationId xmlns:a16="http://schemas.microsoft.com/office/drawing/2014/main" id="{BFE1BF81-4654-B512-0EDA-17498BF909C3}"/>
              </a:ext>
            </a:extLst>
          </p:cNvPr>
          <p:cNvSpPr txBox="1">
            <a:spLocks/>
          </p:cNvSpPr>
          <p:nvPr/>
        </p:nvSpPr>
        <p:spPr>
          <a:xfrm>
            <a:off x="1193195" y="107524"/>
            <a:ext cx="5067600" cy="5589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n-US" sz="2400" dirty="0"/>
              <a:t>Performance Evaluation</a:t>
            </a:r>
          </a:p>
        </p:txBody>
      </p:sp>
      <p:sp>
        <p:nvSpPr>
          <p:cNvPr id="8" name="Google Shape;331;p36">
            <a:extLst>
              <a:ext uri="{FF2B5EF4-FFF2-40B4-BE49-F238E27FC236}">
                <a16:creationId xmlns:a16="http://schemas.microsoft.com/office/drawing/2014/main" id="{82295662-F4E9-868D-B117-C87B48D2A093}"/>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5.4</a:t>
            </a:r>
            <a:endParaRPr lang="en" sz="3000" dirty="0"/>
          </a:p>
        </p:txBody>
      </p:sp>
      <p:sp>
        <p:nvSpPr>
          <p:cNvPr id="17" name="Subtitle 4">
            <a:extLst>
              <a:ext uri="{FF2B5EF4-FFF2-40B4-BE49-F238E27FC236}">
                <a16:creationId xmlns:a16="http://schemas.microsoft.com/office/drawing/2014/main" id="{5F787465-7631-8DA9-23CC-13A5225FDFD9}"/>
              </a:ext>
            </a:extLst>
          </p:cNvPr>
          <p:cNvSpPr txBox="1">
            <a:spLocks/>
          </p:cNvSpPr>
          <p:nvPr/>
        </p:nvSpPr>
        <p:spPr>
          <a:xfrm>
            <a:off x="1065732" y="664589"/>
            <a:ext cx="3772800" cy="361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900" b="0" i="0" u="none" strike="noStrike" cap="none">
                <a:solidFill>
                  <a:schemeClr val="dk1"/>
                </a:solidFill>
                <a:latin typeface="Figtree Black"/>
                <a:ea typeface="Figtree Black"/>
                <a:cs typeface="Figtree Black"/>
                <a:sym typeface="Figtree Black"/>
              </a:defRPr>
            </a:lvl1pPr>
            <a:lvl2pPr marL="914400" marR="0" lvl="1"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2pPr>
            <a:lvl3pPr marL="1371600" marR="0" lvl="2"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3pPr>
            <a:lvl4pPr marL="1828800" marR="0" lvl="3"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4pPr>
            <a:lvl5pPr marL="2286000" marR="0" lvl="4"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5pPr>
            <a:lvl6pPr marL="2743200" marR="0" lvl="5"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6pPr>
            <a:lvl7pPr marL="3200400" marR="0" lvl="6"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7pPr>
            <a:lvl8pPr marL="3657600" marR="0" lvl="7"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8pPr>
            <a:lvl9pPr marL="4114800" marR="0" lvl="8"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9pPr>
          </a:lstStyle>
          <a:p>
            <a:r>
              <a:rPr lang="en-US" sz="1600" dirty="0"/>
              <a:t>Machine Learning Models</a:t>
            </a:r>
          </a:p>
        </p:txBody>
      </p:sp>
      <p:pic>
        <p:nvPicPr>
          <p:cNvPr id="2" name="Picture 1">
            <a:extLst>
              <a:ext uri="{FF2B5EF4-FFF2-40B4-BE49-F238E27FC236}">
                <a16:creationId xmlns:a16="http://schemas.microsoft.com/office/drawing/2014/main" id="{A81CF34D-0CEC-8065-62CB-E03DCDC6A593}"/>
              </a:ext>
            </a:extLst>
          </p:cNvPr>
          <p:cNvPicPr>
            <a:picLocks noChangeAspect="1"/>
          </p:cNvPicPr>
          <p:nvPr/>
        </p:nvPicPr>
        <p:blipFill rotWithShape="1">
          <a:blip r:embed="rId2">
            <a:extLst>
              <a:ext uri="{28A0092B-C50C-407E-A947-70E740481C1C}">
                <a14:useLocalDpi xmlns:a14="http://schemas.microsoft.com/office/drawing/2010/main" val="0"/>
              </a:ext>
            </a:extLst>
          </a:blip>
          <a:srcRect b="47011"/>
          <a:stretch/>
        </p:blipFill>
        <p:spPr bwMode="auto">
          <a:xfrm>
            <a:off x="1193195" y="929460"/>
            <a:ext cx="7065623" cy="2888432"/>
          </a:xfrm>
          <a:prstGeom prst="rect">
            <a:avLst/>
          </a:prstGeom>
          <a:noFill/>
          <a:ln>
            <a:noFill/>
          </a:ln>
          <a:extLst>
            <a:ext uri="{53640926-AAD7-44D8-BBD7-CCE9431645EC}">
              <a14:shadowObscured xmlns:a14="http://schemas.microsoft.com/office/drawing/2010/main"/>
            </a:ext>
          </a:extLst>
        </p:spPr>
      </p:pic>
      <p:sp>
        <p:nvSpPr>
          <p:cNvPr id="4" name="Google Shape;330;p36">
            <a:extLst>
              <a:ext uri="{FF2B5EF4-FFF2-40B4-BE49-F238E27FC236}">
                <a16:creationId xmlns:a16="http://schemas.microsoft.com/office/drawing/2014/main" id="{7388DC6E-F92C-B51C-6A87-B1B79DAC7183}"/>
              </a:ext>
            </a:extLst>
          </p:cNvPr>
          <p:cNvSpPr txBox="1">
            <a:spLocks/>
          </p:cNvSpPr>
          <p:nvPr/>
        </p:nvSpPr>
        <p:spPr>
          <a:xfrm>
            <a:off x="1785865" y="3795101"/>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4.6 Machine Learning Models Actual vs Predicted Load</a:t>
            </a:r>
          </a:p>
        </p:txBody>
      </p:sp>
      <p:sp>
        <p:nvSpPr>
          <p:cNvPr id="3" name="Google Shape;330;p36">
            <a:extLst>
              <a:ext uri="{FF2B5EF4-FFF2-40B4-BE49-F238E27FC236}">
                <a16:creationId xmlns:a16="http://schemas.microsoft.com/office/drawing/2014/main" id="{FDDEB11C-7361-7542-8C1F-779AF4CC53DA}"/>
              </a:ext>
            </a:extLst>
          </p:cNvPr>
          <p:cNvSpPr txBox="1">
            <a:spLocks/>
          </p:cNvSpPr>
          <p:nvPr/>
        </p:nvSpPr>
        <p:spPr>
          <a:xfrm>
            <a:off x="241332" y="461441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14 - </a:t>
            </a:r>
            <a:fld id="{1612EBDF-BBCF-4455-9CA4-C9C775D5C22A}" type="datetime1">
              <a:rPr lang="en-US" sz="1000" smtClean="0"/>
              <a:t>12/18/2025</a:t>
            </a:fld>
            <a:endParaRPr lang="en-US" sz="1000" dirty="0"/>
          </a:p>
        </p:txBody>
      </p:sp>
      <p:sp>
        <p:nvSpPr>
          <p:cNvPr id="5" name="Subtitle 2">
            <a:extLst>
              <a:ext uri="{FF2B5EF4-FFF2-40B4-BE49-F238E27FC236}">
                <a16:creationId xmlns:a16="http://schemas.microsoft.com/office/drawing/2014/main" id="{18EE51FC-5629-8274-79FA-B36D3EF8D4FC}"/>
              </a:ext>
            </a:extLst>
          </p:cNvPr>
          <p:cNvSpPr>
            <a:spLocks noGrp="1"/>
          </p:cNvSpPr>
          <p:nvPr>
            <p:ph type="subTitle" idx="1"/>
          </p:nvPr>
        </p:nvSpPr>
        <p:spPr>
          <a:xfrm>
            <a:off x="865227" y="4098584"/>
            <a:ext cx="7946610" cy="538403"/>
          </a:xfrm>
        </p:spPr>
        <p:txBody>
          <a:bodyPr/>
          <a:lstStyle/>
          <a:p>
            <a:pPr marL="0" indent="0" algn="ctr">
              <a:buNone/>
            </a:pPr>
            <a:r>
              <a:rPr lang="en-US" altLang="en-US" dirty="0"/>
              <a:t>The two top-performing machine learning models, Random Forest and </a:t>
            </a:r>
            <a:r>
              <a:rPr lang="en-US" altLang="en-US" dirty="0" err="1"/>
              <a:t>XGBoost</a:t>
            </a:r>
            <a:r>
              <a:rPr lang="en-US" altLang="en-US" dirty="0"/>
              <a:t>, predict actual energy load over time. </a:t>
            </a:r>
            <a:endParaRPr lang="en-US" sz="1800" dirty="0"/>
          </a:p>
        </p:txBody>
      </p:sp>
    </p:spTree>
    <p:extLst>
      <p:ext uri="{BB962C8B-B14F-4D97-AF65-F5344CB8AC3E}">
        <p14:creationId xmlns:p14="http://schemas.microsoft.com/office/powerpoint/2010/main" val="1655813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329;p36">
            <a:extLst>
              <a:ext uri="{FF2B5EF4-FFF2-40B4-BE49-F238E27FC236}">
                <a16:creationId xmlns:a16="http://schemas.microsoft.com/office/drawing/2014/main" id="{BFE1BF81-4654-B512-0EDA-17498BF909C3}"/>
              </a:ext>
            </a:extLst>
          </p:cNvPr>
          <p:cNvSpPr txBox="1">
            <a:spLocks/>
          </p:cNvSpPr>
          <p:nvPr/>
        </p:nvSpPr>
        <p:spPr>
          <a:xfrm>
            <a:off x="1193195" y="285570"/>
            <a:ext cx="5067600" cy="5589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n-US" sz="2400" dirty="0"/>
              <a:t>Performance Evaluation</a:t>
            </a:r>
          </a:p>
        </p:txBody>
      </p:sp>
      <p:sp>
        <p:nvSpPr>
          <p:cNvPr id="8" name="Google Shape;331;p36">
            <a:extLst>
              <a:ext uri="{FF2B5EF4-FFF2-40B4-BE49-F238E27FC236}">
                <a16:creationId xmlns:a16="http://schemas.microsoft.com/office/drawing/2014/main" id="{82295662-F4E9-868D-B117-C87B48D2A093}"/>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5.4</a:t>
            </a:r>
            <a:endParaRPr lang="en" sz="3000" dirty="0"/>
          </a:p>
        </p:txBody>
      </p:sp>
      <p:sp>
        <p:nvSpPr>
          <p:cNvPr id="17" name="Subtitle 4">
            <a:extLst>
              <a:ext uri="{FF2B5EF4-FFF2-40B4-BE49-F238E27FC236}">
                <a16:creationId xmlns:a16="http://schemas.microsoft.com/office/drawing/2014/main" id="{5F787465-7631-8DA9-23CC-13A5225FDFD9}"/>
              </a:ext>
            </a:extLst>
          </p:cNvPr>
          <p:cNvSpPr txBox="1">
            <a:spLocks/>
          </p:cNvSpPr>
          <p:nvPr/>
        </p:nvSpPr>
        <p:spPr>
          <a:xfrm>
            <a:off x="1065732" y="728826"/>
            <a:ext cx="3772800" cy="361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900" b="0" i="0" u="none" strike="noStrike" cap="none">
                <a:solidFill>
                  <a:schemeClr val="dk1"/>
                </a:solidFill>
                <a:latin typeface="Figtree Black"/>
                <a:ea typeface="Figtree Black"/>
                <a:cs typeface="Figtree Black"/>
                <a:sym typeface="Figtree Black"/>
              </a:defRPr>
            </a:lvl1pPr>
            <a:lvl2pPr marL="914400" marR="0" lvl="1"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2pPr>
            <a:lvl3pPr marL="1371600" marR="0" lvl="2"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3pPr>
            <a:lvl4pPr marL="1828800" marR="0" lvl="3"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4pPr>
            <a:lvl5pPr marL="2286000" marR="0" lvl="4"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5pPr>
            <a:lvl6pPr marL="2743200" marR="0" lvl="5"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6pPr>
            <a:lvl7pPr marL="3200400" marR="0" lvl="6"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7pPr>
            <a:lvl8pPr marL="3657600" marR="0" lvl="7"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8pPr>
            <a:lvl9pPr marL="4114800" marR="0" lvl="8"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9pPr>
          </a:lstStyle>
          <a:p>
            <a:r>
              <a:rPr lang="en-US" sz="1600" dirty="0"/>
              <a:t>Deep Learning Models</a:t>
            </a:r>
          </a:p>
        </p:txBody>
      </p:sp>
      <p:pic>
        <p:nvPicPr>
          <p:cNvPr id="3" name="Picture 2">
            <a:extLst>
              <a:ext uri="{FF2B5EF4-FFF2-40B4-BE49-F238E27FC236}">
                <a16:creationId xmlns:a16="http://schemas.microsoft.com/office/drawing/2014/main" id="{A637630D-7C5E-C3D4-7965-49180596BABC}"/>
              </a:ext>
            </a:extLst>
          </p:cNvPr>
          <p:cNvPicPr>
            <a:picLocks noChangeAspect="1"/>
          </p:cNvPicPr>
          <p:nvPr/>
        </p:nvPicPr>
        <p:blipFill>
          <a:blip r:embed="rId2" cstate="print">
            <a:extLst>
              <a:ext uri="{28A0092B-C50C-407E-A947-70E740481C1C}">
                <a14:useLocalDpi xmlns:a14="http://schemas.microsoft.com/office/drawing/2010/main" val="0"/>
              </a:ext>
            </a:extLst>
          </a:blip>
          <a:srcRect r="33299" b="66493"/>
          <a:stretch/>
        </p:blipFill>
        <p:spPr>
          <a:xfrm>
            <a:off x="1173665" y="2296807"/>
            <a:ext cx="6796670" cy="2124957"/>
          </a:xfrm>
          <a:prstGeom prst="rect">
            <a:avLst/>
          </a:prstGeom>
        </p:spPr>
      </p:pic>
      <p:sp>
        <p:nvSpPr>
          <p:cNvPr id="5" name="Google Shape;330;p36">
            <a:extLst>
              <a:ext uri="{FF2B5EF4-FFF2-40B4-BE49-F238E27FC236}">
                <a16:creationId xmlns:a16="http://schemas.microsoft.com/office/drawing/2014/main" id="{7BFEDC8F-A750-94FA-5C3E-5192CD56F298}"/>
              </a:ext>
            </a:extLst>
          </p:cNvPr>
          <p:cNvSpPr txBox="1">
            <a:spLocks/>
          </p:cNvSpPr>
          <p:nvPr/>
        </p:nvSpPr>
        <p:spPr>
          <a:xfrm>
            <a:off x="1785865" y="4421764"/>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4.7 Deep Learning Models Evaluation Results</a:t>
            </a:r>
          </a:p>
        </p:txBody>
      </p:sp>
      <p:sp>
        <p:nvSpPr>
          <p:cNvPr id="2" name="Google Shape;330;p36">
            <a:extLst>
              <a:ext uri="{FF2B5EF4-FFF2-40B4-BE49-F238E27FC236}">
                <a16:creationId xmlns:a16="http://schemas.microsoft.com/office/drawing/2014/main" id="{CDD48701-7E78-25D1-23BF-A21633650787}"/>
              </a:ext>
            </a:extLst>
          </p:cNvPr>
          <p:cNvSpPr txBox="1">
            <a:spLocks/>
          </p:cNvSpPr>
          <p:nvPr/>
        </p:nvSpPr>
        <p:spPr>
          <a:xfrm>
            <a:off x="241332" y="4617361"/>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16 - </a:t>
            </a:r>
            <a:fld id="{1612EBDF-BBCF-4455-9CA4-C9C775D5C22A}" type="datetime1">
              <a:rPr lang="en-US" sz="1000" smtClean="0"/>
              <a:t>12/18/2025</a:t>
            </a:fld>
            <a:endParaRPr lang="en-US" sz="1000" dirty="0"/>
          </a:p>
        </p:txBody>
      </p:sp>
      <p:sp>
        <p:nvSpPr>
          <p:cNvPr id="9" name="TextBox 8">
            <a:extLst>
              <a:ext uri="{FF2B5EF4-FFF2-40B4-BE49-F238E27FC236}">
                <a16:creationId xmlns:a16="http://schemas.microsoft.com/office/drawing/2014/main" id="{074CE416-641C-0304-5D8F-91EEA6985799}"/>
              </a:ext>
            </a:extLst>
          </p:cNvPr>
          <p:cNvSpPr txBox="1"/>
          <p:nvPr/>
        </p:nvSpPr>
        <p:spPr>
          <a:xfrm>
            <a:off x="1375317" y="1281723"/>
            <a:ext cx="6783372" cy="823687"/>
          </a:xfrm>
          <a:prstGeom prst="rect">
            <a:avLst/>
          </a:prstGeom>
          <a:noFill/>
        </p:spPr>
        <p:txBody>
          <a:bodyPr wrap="square">
            <a:spAutoFit/>
          </a:bodyPr>
          <a:lstStyle/>
          <a:p>
            <a:pPr algn="ctr" defTabSz="685800">
              <a:lnSpc>
                <a:spcPct val="115000"/>
              </a:lnSpc>
              <a:buSzPts val="1200"/>
            </a:pPr>
            <a:r>
              <a:rPr lang="en-US" sz="1400" dirty="0"/>
              <a:t>The MAE of LSTM model has the lowest average prediction error. The RMSE values are almost the same for all three models, meaning they make similar errors. Overall, LSTM gives the most accurate and consistent predictions.</a:t>
            </a:r>
            <a:endParaRPr lang="en-US" sz="1400" dirty="0">
              <a:latin typeface="Hanken Grotesk"/>
              <a:sym typeface="Hanken Grotesk"/>
            </a:endParaRPr>
          </a:p>
        </p:txBody>
      </p:sp>
    </p:spTree>
    <p:extLst>
      <p:ext uri="{BB962C8B-B14F-4D97-AF65-F5344CB8AC3E}">
        <p14:creationId xmlns:p14="http://schemas.microsoft.com/office/powerpoint/2010/main" val="301140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329;p36">
            <a:extLst>
              <a:ext uri="{FF2B5EF4-FFF2-40B4-BE49-F238E27FC236}">
                <a16:creationId xmlns:a16="http://schemas.microsoft.com/office/drawing/2014/main" id="{BFE1BF81-4654-B512-0EDA-17498BF909C3}"/>
              </a:ext>
            </a:extLst>
          </p:cNvPr>
          <p:cNvSpPr txBox="1">
            <a:spLocks/>
          </p:cNvSpPr>
          <p:nvPr/>
        </p:nvSpPr>
        <p:spPr>
          <a:xfrm>
            <a:off x="1193195" y="240966"/>
            <a:ext cx="5067600" cy="5589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n-US" sz="2400" dirty="0"/>
              <a:t>Performance Evaluation</a:t>
            </a:r>
          </a:p>
        </p:txBody>
      </p:sp>
      <p:sp>
        <p:nvSpPr>
          <p:cNvPr id="8" name="Google Shape;331;p36">
            <a:extLst>
              <a:ext uri="{FF2B5EF4-FFF2-40B4-BE49-F238E27FC236}">
                <a16:creationId xmlns:a16="http://schemas.microsoft.com/office/drawing/2014/main" id="{82295662-F4E9-868D-B117-C87B48D2A093}"/>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5.4</a:t>
            </a:r>
            <a:endParaRPr lang="en" sz="3000" dirty="0"/>
          </a:p>
        </p:txBody>
      </p:sp>
      <p:sp>
        <p:nvSpPr>
          <p:cNvPr id="17" name="Subtitle 4">
            <a:extLst>
              <a:ext uri="{FF2B5EF4-FFF2-40B4-BE49-F238E27FC236}">
                <a16:creationId xmlns:a16="http://schemas.microsoft.com/office/drawing/2014/main" id="{5F787465-7631-8DA9-23CC-13A5225FDFD9}"/>
              </a:ext>
            </a:extLst>
          </p:cNvPr>
          <p:cNvSpPr txBox="1">
            <a:spLocks/>
          </p:cNvSpPr>
          <p:nvPr/>
        </p:nvSpPr>
        <p:spPr>
          <a:xfrm>
            <a:off x="1065732" y="700362"/>
            <a:ext cx="3772800" cy="361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900" b="0" i="0" u="none" strike="noStrike" cap="none">
                <a:solidFill>
                  <a:schemeClr val="dk1"/>
                </a:solidFill>
                <a:latin typeface="Figtree Black"/>
                <a:ea typeface="Figtree Black"/>
                <a:cs typeface="Figtree Black"/>
                <a:sym typeface="Figtree Black"/>
              </a:defRPr>
            </a:lvl1pPr>
            <a:lvl2pPr marL="914400" marR="0" lvl="1"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2pPr>
            <a:lvl3pPr marL="1371600" marR="0" lvl="2"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3pPr>
            <a:lvl4pPr marL="1828800" marR="0" lvl="3"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4pPr>
            <a:lvl5pPr marL="2286000" marR="0" lvl="4"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5pPr>
            <a:lvl6pPr marL="2743200" marR="0" lvl="5"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6pPr>
            <a:lvl7pPr marL="3200400" marR="0" lvl="6"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7pPr>
            <a:lvl8pPr marL="3657600" marR="0" lvl="7"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8pPr>
            <a:lvl9pPr marL="4114800" marR="0" lvl="8"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9pPr>
          </a:lstStyle>
          <a:p>
            <a:r>
              <a:rPr lang="en-US" sz="1600" dirty="0"/>
              <a:t>Deep Learning Models</a:t>
            </a:r>
          </a:p>
        </p:txBody>
      </p:sp>
      <p:pic>
        <p:nvPicPr>
          <p:cNvPr id="3" name="Picture 2">
            <a:extLst>
              <a:ext uri="{FF2B5EF4-FFF2-40B4-BE49-F238E27FC236}">
                <a16:creationId xmlns:a16="http://schemas.microsoft.com/office/drawing/2014/main" id="{A637630D-7C5E-C3D4-7965-49180596BABC}"/>
              </a:ext>
            </a:extLst>
          </p:cNvPr>
          <p:cNvPicPr>
            <a:picLocks noChangeAspect="1"/>
          </p:cNvPicPr>
          <p:nvPr/>
        </p:nvPicPr>
        <p:blipFill>
          <a:blip r:embed="rId2" cstate="print">
            <a:extLst>
              <a:ext uri="{28A0092B-C50C-407E-A947-70E740481C1C}">
                <a14:useLocalDpi xmlns:a14="http://schemas.microsoft.com/office/drawing/2010/main" val="0"/>
              </a:ext>
            </a:extLst>
          </a:blip>
          <a:srcRect l="66598" b="66493"/>
          <a:stretch/>
        </p:blipFill>
        <p:spPr>
          <a:xfrm>
            <a:off x="1193195" y="2142024"/>
            <a:ext cx="3244990" cy="2025959"/>
          </a:xfrm>
          <a:prstGeom prst="rect">
            <a:avLst/>
          </a:prstGeom>
        </p:spPr>
      </p:pic>
      <p:sp>
        <p:nvSpPr>
          <p:cNvPr id="5" name="Google Shape;330;p36">
            <a:extLst>
              <a:ext uri="{FF2B5EF4-FFF2-40B4-BE49-F238E27FC236}">
                <a16:creationId xmlns:a16="http://schemas.microsoft.com/office/drawing/2014/main" id="{7BFEDC8F-A750-94FA-5C3E-5192CD56F298}"/>
              </a:ext>
            </a:extLst>
          </p:cNvPr>
          <p:cNvSpPr txBox="1">
            <a:spLocks/>
          </p:cNvSpPr>
          <p:nvPr/>
        </p:nvSpPr>
        <p:spPr>
          <a:xfrm>
            <a:off x="1519333" y="4269445"/>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4.7 Deep Learning Models Evaluation Results</a:t>
            </a:r>
          </a:p>
        </p:txBody>
      </p:sp>
      <p:sp>
        <p:nvSpPr>
          <p:cNvPr id="2" name="Google Shape;330;p36">
            <a:extLst>
              <a:ext uri="{FF2B5EF4-FFF2-40B4-BE49-F238E27FC236}">
                <a16:creationId xmlns:a16="http://schemas.microsoft.com/office/drawing/2014/main" id="{CDD48701-7E78-25D1-23BF-A21633650787}"/>
              </a:ext>
            </a:extLst>
          </p:cNvPr>
          <p:cNvSpPr txBox="1">
            <a:spLocks/>
          </p:cNvSpPr>
          <p:nvPr/>
        </p:nvSpPr>
        <p:spPr>
          <a:xfrm>
            <a:off x="241332" y="4617361"/>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16 - </a:t>
            </a:r>
            <a:fld id="{1612EBDF-BBCF-4455-9CA4-C9C775D5C22A}" type="datetime1">
              <a:rPr lang="en-US" sz="1000" smtClean="0"/>
              <a:t>12/18/2025</a:t>
            </a:fld>
            <a:endParaRPr lang="en-US" sz="1000" dirty="0"/>
          </a:p>
        </p:txBody>
      </p:sp>
      <p:pic>
        <p:nvPicPr>
          <p:cNvPr id="4" name="Picture 3">
            <a:extLst>
              <a:ext uri="{FF2B5EF4-FFF2-40B4-BE49-F238E27FC236}">
                <a16:creationId xmlns:a16="http://schemas.microsoft.com/office/drawing/2014/main" id="{C7546611-A217-7189-E702-BA888CC6BD3B}"/>
              </a:ext>
            </a:extLst>
          </p:cNvPr>
          <p:cNvPicPr>
            <a:picLocks noChangeAspect="1"/>
          </p:cNvPicPr>
          <p:nvPr/>
        </p:nvPicPr>
        <p:blipFill>
          <a:blip r:embed="rId2" cstate="print">
            <a:extLst>
              <a:ext uri="{28A0092B-C50C-407E-A947-70E740481C1C}">
                <a14:useLocalDpi xmlns:a14="http://schemas.microsoft.com/office/drawing/2010/main" val="0"/>
              </a:ext>
            </a:extLst>
          </a:blip>
          <a:srcRect t="33231" r="65393" b="33539"/>
          <a:stretch/>
        </p:blipFill>
        <p:spPr>
          <a:xfrm>
            <a:off x="4705818" y="2093237"/>
            <a:ext cx="3553302" cy="2123534"/>
          </a:xfrm>
          <a:prstGeom prst="rect">
            <a:avLst/>
          </a:prstGeom>
        </p:spPr>
      </p:pic>
      <p:sp>
        <p:nvSpPr>
          <p:cNvPr id="9" name="TextBox 8">
            <a:extLst>
              <a:ext uri="{FF2B5EF4-FFF2-40B4-BE49-F238E27FC236}">
                <a16:creationId xmlns:a16="http://schemas.microsoft.com/office/drawing/2014/main" id="{074CE416-641C-0304-5D8F-91EEA6985799}"/>
              </a:ext>
            </a:extLst>
          </p:cNvPr>
          <p:cNvSpPr txBox="1"/>
          <p:nvPr/>
        </p:nvSpPr>
        <p:spPr>
          <a:xfrm>
            <a:off x="1193195" y="1341408"/>
            <a:ext cx="7259430" cy="575927"/>
          </a:xfrm>
          <a:prstGeom prst="rect">
            <a:avLst/>
          </a:prstGeom>
          <a:noFill/>
        </p:spPr>
        <p:txBody>
          <a:bodyPr wrap="square">
            <a:spAutoFit/>
          </a:bodyPr>
          <a:lstStyle/>
          <a:p>
            <a:pPr algn="ctr" defTabSz="685800">
              <a:lnSpc>
                <a:spcPct val="115000"/>
              </a:lnSpc>
              <a:buSzPts val="1200"/>
            </a:pPr>
            <a:r>
              <a:rPr lang="en-US" sz="1400" dirty="0"/>
              <a:t>The R² graph shows that the LSTM model achieves the highest explanatory power. The MAPE results indicate that GRU yields the lowest prediction error.</a:t>
            </a:r>
            <a:endParaRPr lang="en-US" sz="1400" dirty="0">
              <a:latin typeface="Hanken Grotesk"/>
              <a:sym typeface="Hanken Grotesk"/>
            </a:endParaRPr>
          </a:p>
        </p:txBody>
      </p:sp>
    </p:spTree>
    <p:extLst>
      <p:ext uri="{BB962C8B-B14F-4D97-AF65-F5344CB8AC3E}">
        <p14:creationId xmlns:p14="http://schemas.microsoft.com/office/powerpoint/2010/main" val="1338532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329;p36">
            <a:extLst>
              <a:ext uri="{FF2B5EF4-FFF2-40B4-BE49-F238E27FC236}">
                <a16:creationId xmlns:a16="http://schemas.microsoft.com/office/drawing/2014/main" id="{BFE1BF81-4654-B512-0EDA-17498BF909C3}"/>
              </a:ext>
            </a:extLst>
          </p:cNvPr>
          <p:cNvSpPr txBox="1">
            <a:spLocks/>
          </p:cNvSpPr>
          <p:nvPr/>
        </p:nvSpPr>
        <p:spPr>
          <a:xfrm>
            <a:off x="1193195" y="107640"/>
            <a:ext cx="5067600" cy="5589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n-US" sz="2400" dirty="0"/>
              <a:t>Performance Evaluation</a:t>
            </a:r>
          </a:p>
        </p:txBody>
      </p:sp>
      <p:sp>
        <p:nvSpPr>
          <p:cNvPr id="8" name="Google Shape;331;p36">
            <a:extLst>
              <a:ext uri="{FF2B5EF4-FFF2-40B4-BE49-F238E27FC236}">
                <a16:creationId xmlns:a16="http://schemas.microsoft.com/office/drawing/2014/main" id="{82295662-F4E9-868D-B117-C87B48D2A093}"/>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5.4</a:t>
            </a:r>
            <a:endParaRPr lang="en" sz="3000" dirty="0"/>
          </a:p>
        </p:txBody>
      </p:sp>
      <p:sp>
        <p:nvSpPr>
          <p:cNvPr id="17" name="Subtitle 4">
            <a:extLst>
              <a:ext uri="{FF2B5EF4-FFF2-40B4-BE49-F238E27FC236}">
                <a16:creationId xmlns:a16="http://schemas.microsoft.com/office/drawing/2014/main" id="{5F787465-7631-8DA9-23CC-13A5225FDFD9}"/>
              </a:ext>
            </a:extLst>
          </p:cNvPr>
          <p:cNvSpPr txBox="1">
            <a:spLocks/>
          </p:cNvSpPr>
          <p:nvPr/>
        </p:nvSpPr>
        <p:spPr>
          <a:xfrm>
            <a:off x="1065732" y="664705"/>
            <a:ext cx="3772800" cy="361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900" b="0" i="0" u="none" strike="noStrike" cap="none">
                <a:solidFill>
                  <a:schemeClr val="dk1"/>
                </a:solidFill>
                <a:latin typeface="Figtree Black"/>
                <a:ea typeface="Figtree Black"/>
                <a:cs typeface="Figtree Black"/>
                <a:sym typeface="Figtree Black"/>
              </a:defRPr>
            </a:lvl1pPr>
            <a:lvl2pPr marL="914400" marR="0" lvl="1"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2pPr>
            <a:lvl3pPr marL="1371600" marR="0" lvl="2"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3pPr>
            <a:lvl4pPr marL="1828800" marR="0" lvl="3"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4pPr>
            <a:lvl5pPr marL="2286000" marR="0" lvl="4"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5pPr>
            <a:lvl6pPr marL="2743200" marR="0" lvl="5"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6pPr>
            <a:lvl7pPr marL="3200400" marR="0" lvl="6"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7pPr>
            <a:lvl8pPr marL="3657600" marR="0" lvl="7"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8pPr>
            <a:lvl9pPr marL="4114800" marR="0" lvl="8"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9pPr>
          </a:lstStyle>
          <a:p>
            <a:r>
              <a:rPr lang="en-US" sz="1600" dirty="0"/>
              <a:t>Deep Learning Models</a:t>
            </a:r>
          </a:p>
        </p:txBody>
      </p:sp>
      <p:sp>
        <p:nvSpPr>
          <p:cNvPr id="5" name="Google Shape;330;p36">
            <a:extLst>
              <a:ext uri="{FF2B5EF4-FFF2-40B4-BE49-F238E27FC236}">
                <a16:creationId xmlns:a16="http://schemas.microsoft.com/office/drawing/2014/main" id="{C654E70F-D788-4EA3-2C9B-6F9BD9CE4E08}"/>
              </a:ext>
            </a:extLst>
          </p:cNvPr>
          <p:cNvSpPr txBox="1">
            <a:spLocks/>
          </p:cNvSpPr>
          <p:nvPr/>
        </p:nvSpPr>
        <p:spPr>
          <a:xfrm>
            <a:off x="1621881" y="3881124"/>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4.7 LSTM Model Sample Forecast vs Actual</a:t>
            </a:r>
          </a:p>
        </p:txBody>
      </p:sp>
      <p:sp>
        <p:nvSpPr>
          <p:cNvPr id="2" name="Google Shape;330;p36">
            <a:extLst>
              <a:ext uri="{FF2B5EF4-FFF2-40B4-BE49-F238E27FC236}">
                <a16:creationId xmlns:a16="http://schemas.microsoft.com/office/drawing/2014/main" id="{8AFC546C-6D50-055F-02C9-AA21CDA9EACE}"/>
              </a:ext>
            </a:extLst>
          </p:cNvPr>
          <p:cNvSpPr txBox="1">
            <a:spLocks/>
          </p:cNvSpPr>
          <p:nvPr/>
        </p:nvSpPr>
        <p:spPr>
          <a:xfrm>
            <a:off x="122386" y="4722427"/>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17 - </a:t>
            </a:r>
            <a:fld id="{1612EBDF-BBCF-4455-9CA4-C9C775D5C22A}" type="datetime1">
              <a:rPr lang="en-US" sz="1000" smtClean="0"/>
              <a:t>12/18/2025</a:t>
            </a:fld>
            <a:endParaRPr lang="en-US" sz="1000" dirty="0"/>
          </a:p>
        </p:txBody>
      </p:sp>
      <p:grpSp>
        <p:nvGrpSpPr>
          <p:cNvPr id="6" name="Group 5">
            <a:extLst>
              <a:ext uri="{FF2B5EF4-FFF2-40B4-BE49-F238E27FC236}">
                <a16:creationId xmlns:a16="http://schemas.microsoft.com/office/drawing/2014/main" id="{D02DE9A2-381E-97AF-1B0E-10E0D07781EC}"/>
              </a:ext>
            </a:extLst>
          </p:cNvPr>
          <p:cNvGrpSpPr/>
          <p:nvPr/>
        </p:nvGrpSpPr>
        <p:grpSpPr>
          <a:xfrm>
            <a:off x="1511356" y="922847"/>
            <a:ext cx="6433765" cy="2937392"/>
            <a:chOff x="1511356" y="912687"/>
            <a:chExt cx="6433765" cy="2937392"/>
          </a:xfrm>
        </p:grpSpPr>
        <p:pic>
          <p:nvPicPr>
            <p:cNvPr id="4" name="Picture 3">
              <a:extLst>
                <a:ext uri="{FF2B5EF4-FFF2-40B4-BE49-F238E27FC236}">
                  <a16:creationId xmlns:a16="http://schemas.microsoft.com/office/drawing/2014/main" id="{735238FE-E36B-9162-A315-5A444342F3E1}"/>
                </a:ext>
              </a:extLst>
            </p:cNvPr>
            <p:cNvPicPr>
              <a:picLocks noChangeAspect="1"/>
            </p:cNvPicPr>
            <p:nvPr/>
          </p:nvPicPr>
          <p:blipFill>
            <a:blip r:embed="rId2"/>
            <a:stretch>
              <a:fillRect/>
            </a:stretch>
          </p:blipFill>
          <p:spPr>
            <a:xfrm>
              <a:off x="1621881" y="912687"/>
              <a:ext cx="6323240" cy="2937392"/>
            </a:xfrm>
            <a:prstGeom prst="rect">
              <a:avLst/>
            </a:prstGeom>
          </p:spPr>
        </p:pic>
        <p:sp>
          <p:nvSpPr>
            <p:cNvPr id="3" name="TextBox 2">
              <a:extLst>
                <a:ext uri="{FF2B5EF4-FFF2-40B4-BE49-F238E27FC236}">
                  <a16:creationId xmlns:a16="http://schemas.microsoft.com/office/drawing/2014/main" id="{D0B56183-B377-9080-5906-19477F7CB764}"/>
                </a:ext>
              </a:extLst>
            </p:cNvPr>
            <p:cNvSpPr txBox="1"/>
            <p:nvPr/>
          </p:nvSpPr>
          <p:spPr>
            <a:xfrm>
              <a:off x="1511356" y="1272282"/>
              <a:ext cx="323165" cy="1383792"/>
            </a:xfrm>
            <a:prstGeom prst="rect">
              <a:avLst/>
            </a:prstGeom>
            <a:solidFill>
              <a:schemeClr val="bg1"/>
            </a:solidFill>
          </p:spPr>
          <p:txBody>
            <a:bodyPr vert="vert270" wrap="square" rtlCol="0">
              <a:spAutoFit/>
            </a:bodyPr>
            <a:lstStyle/>
            <a:p>
              <a:r>
                <a:rPr lang="en-US" sz="900" dirty="0"/>
                <a:t>Load (MV)</a:t>
              </a:r>
            </a:p>
          </p:txBody>
        </p:sp>
      </p:grpSp>
      <p:sp>
        <p:nvSpPr>
          <p:cNvPr id="10" name="TextBox 9">
            <a:extLst>
              <a:ext uri="{FF2B5EF4-FFF2-40B4-BE49-F238E27FC236}">
                <a16:creationId xmlns:a16="http://schemas.microsoft.com/office/drawing/2014/main" id="{C07218E9-61A6-AF04-41EF-6E3A0C3ACBD2}"/>
              </a:ext>
            </a:extLst>
          </p:cNvPr>
          <p:cNvSpPr txBox="1"/>
          <p:nvPr/>
        </p:nvSpPr>
        <p:spPr>
          <a:xfrm>
            <a:off x="783205" y="4222688"/>
            <a:ext cx="8110654" cy="523220"/>
          </a:xfrm>
          <a:prstGeom prst="rect">
            <a:avLst/>
          </a:prstGeom>
          <a:noFill/>
        </p:spPr>
        <p:txBody>
          <a:bodyPr wrap="square">
            <a:spAutoFit/>
          </a:bodyPr>
          <a:lstStyle/>
          <a:p>
            <a:pPr algn="ctr"/>
            <a:r>
              <a:rPr lang="en-US" sz="1400" dirty="0"/>
              <a:t>This graph compares real-world electricity usage (</a:t>
            </a:r>
            <a:r>
              <a:rPr lang="en-US" sz="1400" b="1" dirty="0"/>
              <a:t>Actual</a:t>
            </a:r>
            <a:r>
              <a:rPr lang="en-US" sz="1400" dirty="0"/>
              <a:t>) against an </a:t>
            </a:r>
            <a:r>
              <a:rPr lang="en-US" sz="1400" b="1" dirty="0"/>
              <a:t>LSTM</a:t>
            </a:r>
            <a:r>
              <a:rPr lang="en-US" sz="1400" dirty="0"/>
              <a:t> model's predictions over a 24-hour period</a:t>
            </a:r>
          </a:p>
        </p:txBody>
      </p:sp>
    </p:spTree>
    <p:extLst>
      <p:ext uri="{BB962C8B-B14F-4D97-AF65-F5344CB8AC3E}">
        <p14:creationId xmlns:p14="http://schemas.microsoft.com/office/powerpoint/2010/main" val="36268691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329;p36">
            <a:extLst>
              <a:ext uri="{FF2B5EF4-FFF2-40B4-BE49-F238E27FC236}">
                <a16:creationId xmlns:a16="http://schemas.microsoft.com/office/drawing/2014/main" id="{BFE1BF81-4654-B512-0EDA-17498BF909C3}"/>
              </a:ext>
            </a:extLst>
          </p:cNvPr>
          <p:cNvSpPr txBox="1">
            <a:spLocks/>
          </p:cNvSpPr>
          <p:nvPr/>
        </p:nvSpPr>
        <p:spPr>
          <a:xfrm>
            <a:off x="1193195" y="144694"/>
            <a:ext cx="5067600" cy="5589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n-US" sz="2400" dirty="0"/>
              <a:t>Performance Evaluation</a:t>
            </a:r>
          </a:p>
        </p:txBody>
      </p:sp>
      <p:sp>
        <p:nvSpPr>
          <p:cNvPr id="8" name="Google Shape;331;p36">
            <a:extLst>
              <a:ext uri="{FF2B5EF4-FFF2-40B4-BE49-F238E27FC236}">
                <a16:creationId xmlns:a16="http://schemas.microsoft.com/office/drawing/2014/main" id="{82295662-F4E9-868D-B117-C87B48D2A093}"/>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5.4</a:t>
            </a:r>
            <a:endParaRPr lang="en" sz="3000" dirty="0"/>
          </a:p>
        </p:txBody>
      </p:sp>
      <p:graphicFrame>
        <p:nvGraphicFramePr>
          <p:cNvPr id="2" name="Table 1">
            <a:extLst>
              <a:ext uri="{FF2B5EF4-FFF2-40B4-BE49-F238E27FC236}">
                <a16:creationId xmlns:a16="http://schemas.microsoft.com/office/drawing/2014/main" id="{F03368BC-E293-4649-B606-B7DD07CA55F2}"/>
              </a:ext>
            </a:extLst>
          </p:cNvPr>
          <p:cNvGraphicFramePr>
            <a:graphicFrameLocks noGrp="1"/>
          </p:cNvGraphicFramePr>
          <p:nvPr>
            <p:extLst>
              <p:ext uri="{D42A27DB-BD31-4B8C-83A1-F6EECF244321}">
                <p14:modId xmlns:p14="http://schemas.microsoft.com/office/powerpoint/2010/main" val="1164398064"/>
              </p:ext>
            </p:extLst>
          </p:nvPr>
        </p:nvGraphicFramePr>
        <p:xfrm>
          <a:off x="1717287" y="1178550"/>
          <a:ext cx="6110868" cy="3152088"/>
        </p:xfrm>
        <a:graphic>
          <a:graphicData uri="http://schemas.openxmlformats.org/drawingml/2006/table">
            <a:tbl>
              <a:tblPr>
                <a:tableStyleId>{5940675A-B579-460E-94D1-54222C63F5DA}</a:tableStyleId>
              </a:tblPr>
              <a:tblGrid>
                <a:gridCol w="721111">
                  <a:extLst>
                    <a:ext uri="{9D8B030D-6E8A-4147-A177-3AD203B41FA5}">
                      <a16:colId xmlns:a16="http://schemas.microsoft.com/office/drawing/2014/main" val="3596299103"/>
                    </a:ext>
                  </a:extLst>
                </a:gridCol>
                <a:gridCol w="1628078">
                  <a:extLst>
                    <a:ext uri="{9D8B030D-6E8A-4147-A177-3AD203B41FA5}">
                      <a16:colId xmlns:a16="http://schemas.microsoft.com/office/drawing/2014/main" val="3837540607"/>
                    </a:ext>
                  </a:extLst>
                </a:gridCol>
                <a:gridCol w="706245">
                  <a:extLst>
                    <a:ext uri="{9D8B030D-6E8A-4147-A177-3AD203B41FA5}">
                      <a16:colId xmlns:a16="http://schemas.microsoft.com/office/drawing/2014/main" val="1558304887"/>
                    </a:ext>
                  </a:extLst>
                </a:gridCol>
                <a:gridCol w="1018478">
                  <a:extLst>
                    <a:ext uri="{9D8B030D-6E8A-4147-A177-3AD203B41FA5}">
                      <a16:colId xmlns:a16="http://schemas.microsoft.com/office/drawing/2014/main" val="3522377069"/>
                    </a:ext>
                  </a:extLst>
                </a:gridCol>
                <a:gridCol w="1018478">
                  <a:extLst>
                    <a:ext uri="{9D8B030D-6E8A-4147-A177-3AD203B41FA5}">
                      <a16:colId xmlns:a16="http://schemas.microsoft.com/office/drawing/2014/main" val="29645923"/>
                    </a:ext>
                  </a:extLst>
                </a:gridCol>
                <a:gridCol w="1018478">
                  <a:extLst>
                    <a:ext uri="{9D8B030D-6E8A-4147-A177-3AD203B41FA5}">
                      <a16:colId xmlns:a16="http://schemas.microsoft.com/office/drawing/2014/main" val="814706010"/>
                    </a:ext>
                  </a:extLst>
                </a:gridCol>
              </a:tblGrid>
              <a:tr h="262674">
                <a:tc>
                  <a:txBody>
                    <a:bodyPr/>
                    <a:lstStyle/>
                    <a:p>
                      <a:pPr algn="ctr"/>
                      <a:r>
                        <a:rPr lang="en-US" sz="900" b="1" dirty="0">
                          <a:latin typeface="Hanken Grotesk" panose="020B0604020202020204" charset="0"/>
                        </a:rPr>
                        <a:t>Rank</a:t>
                      </a:r>
                      <a:endParaRPr lang="en-US" sz="900" dirty="0">
                        <a:latin typeface="Hanken Grotesk" panose="020B0604020202020204" charset="0"/>
                      </a:endParaRPr>
                    </a:p>
                  </a:txBody>
                  <a:tcPr marL="56005" marR="56005" marT="28002" marB="28002" anchor="ctr"/>
                </a:tc>
                <a:tc>
                  <a:txBody>
                    <a:bodyPr/>
                    <a:lstStyle/>
                    <a:p>
                      <a:pPr algn="ctr"/>
                      <a:r>
                        <a:rPr lang="en-US" sz="900" b="1" dirty="0">
                          <a:latin typeface="Hanken Grotesk" panose="020B0604020202020204" charset="0"/>
                        </a:rPr>
                        <a:t>Model</a:t>
                      </a:r>
                      <a:endParaRPr lang="en-US" sz="900" dirty="0">
                        <a:latin typeface="Hanken Grotesk" panose="020B0604020202020204" charset="0"/>
                      </a:endParaRPr>
                    </a:p>
                  </a:txBody>
                  <a:tcPr marL="56005" marR="56005" marT="28002" marB="28002" anchor="ctr"/>
                </a:tc>
                <a:tc>
                  <a:txBody>
                    <a:bodyPr/>
                    <a:lstStyle/>
                    <a:p>
                      <a:pPr algn="ctr"/>
                      <a:r>
                        <a:rPr lang="en-US" sz="900" b="1">
                          <a:latin typeface="Hanken Grotesk" panose="020B0604020202020204" charset="0"/>
                        </a:rPr>
                        <a:t>MAE</a:t>
                      </a:r>
                      <a:endParaRPr lang="en-US" sz="900">
                        <a:latin typeface="Hanken Grotesk" panose="020B0604020202020204" charset="0"/>
                      </a:endParaRPr>
                    </a:p>
                  </a:txBody>
                  <a:tcPr marL="56005" marR="56005" marT="28002" marB="28002" anchor="ctr"/>
                </a:tc>
                <a:tc>
                  <a:txBody>
                    <a:bodyPr/>
                    <a:lstStyle/>
                    <a:p>
                      <a:pPr algn="ctr"/>
                      <a:r>
                        <a:rPr lang="en-US" sz="900" b="1">
                          <a:latin typeface="Hanken Grotesk" panose="020B0604020202020204" charset="0"/>
                        </a:rPr>
                        <a:t>RMSE</a:t>
                      </a:r>
                      <a:endParaRPr lang="en-US" sz="900">
                        <a:latin typeface="Hanken Grotesk" panose="020B0604020202020204" charset="0"/>
                      </a:endParaRPr>
                    </a:p>
                  </a:txBody>
                  <a:tcPr marL="56005" marR="56005" marT="28002" marB="28002" anchor="ctr"/>
                </a:tc>
                <a:tc>
                  <a:txBody>
                    <a:bodyPr/>
                    <a:lstStyle/>
                    <a:p>
                      <a:pPr algn="ctr"/>
                      <a:r>
                        <a:rPr lang="en-US" sz="900" b="1">
                          <a:latin typeface="Hanken Grotesk" panose="020B0604020202020204" charset="0"/>
                        </a:rPr>
                        <a:t>R²</a:t>
                      </a:r>
                      <a:endParaRPr lang="en-US" sz="900">
                        <a:latin typeface="Hanken Grotesk" panose="020B0604020202020204" charset="0"/>
                      </a:endParaRPr>
                    </a:p>
                  </a:txBody>
                  <a:tcPr marL="56005" marR="56005" marT="28002" marB="28002" anchor="ctr"/>
                </a:tc>
                <a:tc>
                  <a:txBody>
                    <a:bodyPr/>
                    <a:lstStyle/>
                    <a:p>
                      <a:pPr algn="ctr"/>
                      <a:r>
                        <a:rPr lang="en-US" sz="900" b="1">
                          <a:latin typeface="Hanken Grotesk" panose="020B0604020202020204" charset="0"/>
                        </a:rPr>
                        <a:t>Category</a:t>
                      </a:r>
                      <a:endParaRPr lang="en-US" sz="900">
                        <a:latin typeface="Hanken Grotesk" panose="020B0604020202020204" charset="0"/>
                      </a:endParaRPr>
                    </a:p>
                  </a:txBody>
                  <a:tcPr marL="56005" marR="56005" marT="28002" marB="28002" anchor="ctr"/>
                </a:tc>
                <a:extLst>
                  <a:ext uri="{0D108BD9-81ED-4DB2-BD59-A6C34878D82A}">
                    <a16:rowId xmlns:a16="http://schemas.microsoft.com/office/drawing/2014/main" val="1060464064"/>
                  </a:ext>
                </a:extLst>
              </a:tr>
              <a:tr h="262674">
                <a:tc>
                  <a:txBody>
                    <a:bodyPr/>
                    <a:lstStyle/>
                    <a:p>
                      <a:pPr algn="ctr"/>
                      <a:r>
                        <a:rPr lang="en-US" sz="900" b="1" dirty="0">
                          <a:latin typeface="Hanken Grotesk" panose="020B0604020202020204" charset="0"/>
                        </a:rPr>
                        <a:t>1</a:t>
                      </a:r>
                      <a:endParaRPr lang="en-US" sz="900" dirty="0">
                        <a:latin typeface="Hanken Grotesk" panose="020B0604020202020204" charset="0"/>
                      </a:endParaRPr>
                    </a:p>
                  </a:txBody>
                  <a:tcPr marL="56005" marR="56005" marT="28002" marB="28002" anchor="ctr"/>
                </a:tc>
                <a:tc>
                  <a:txBody>
                    <a:bodyPr/>
                    <a:lstStyle/>
                    <a:p>
                      <a:pPr algn="ctr"/>
                      <a:r>
                        <a:rPr lang="en-US" sz="900" b="1" dirty="0" err="1">
                          <a:latin typeface="Hanken Grotesk" panose="020B0604020202020204" charset="0"/>
                        </a:rPr>
                        <a:t>XGBoost</a:t>
                      </a:r>
                      <a:r>
                        <a:rPr lang="en-US" sz="900" b="1" dirty="0">
                          <a:latin typeface="Hanken Grotesk" panose="020B0604020202020204" charset="0"/>
                        </a:rPr>
                        <a:t> (Tuned)</a:t>
                      </a:r>
                      <a:endParaRPr lang="en-US" sz="900" dirty="0">
                        <a:latin typeface="Hanken Grotesk" panose="020B0604020202020204" charset="0"/>
                      </a:endParaRPr>
                    </a:p>
                  </a:txBody>
                  <a:tcPr marL="56005" marR="56005" marT="28002" marB="28002" anchor="ctr"/>
                </a:tc>
                <a:tc>
                  <a:txBody>
                    <a:bodyPr/>
                    <a:lstStyle/>
                    <a:p>
                      <a:pPr algn="ctr"/>
                      <a:r>
                        <a:rPr lang="en-US" sz="900" b="1">
                          <a:latin typeface="Hanken Grotesk" panose="020B0604020202020204" charset="0"/>
                        </a:rPr>
                        <a:t>0.257</a:t>
                      </a:r>
                      <a:endParaRPr lang="en-US" sz="900">
                        <a:latin typeface="Hanken Grotesk" panose="020B0604020202020204" charset="0"/>
                      </a:endParaRPr>
                    </a:p>
                  </a:txBody>
                  <a:tcPr marL="56005" marR="56005" marT="28002" marB="28002" anchor="ctr"/>
                </a:tc>
                <a:tc>
                  <a:txBody>
                    <a:bodyPr/>
                    <a:lstStyle/>
                    <a:p>
                      <a:pPr algn="ctr"/>
                      <a:r>
                        <a:rPr lang="en-US" sz="900" b="1">
                          <a:latin typeface="Hanken Grotesk" panose="020B0604020202020204" charset="0"/>
                        </a:rPr>
                        <a:t>0.384</a:t>
                      </a:r>
                      <a:endParaRPr lang="en-US" sz="900">
                        <a:latin typeface="Hanken Grotesk" panose="020B0604020202020204" charset="0"/>
                      </a:endParaRPr>
                    </a:p>
                  </a:txBody>
                  <a:tcPr marL="56005" marR="56005" marT="28002" marB="28002" anchor="ctr"/>
                </a:tc>
                <a:tc>
                  <a:txBody>
                    <a:bodyPr/>
                    <a:lstStyle/>
                    <a:p>
                      <a:pPr algn="ctr"/>
                      <a:r>
                        <a:rPr lang="en-US" sz="900" b="1">
                          <a:latin typeface="Hanken Grotesk" panose="020B0604020202020204" charset="0"/>
                        </a:rPr>
                        <a:t>0.8312</a:t>
                      </a:r>
                      <a:endParaRPr lang="en-US" sz="900">
                        <a:latin typeface="Hanken Grotesk" panose="020B0604020202020204" charset="0"/>
                      </a:endParaRPr>
                    </a:p>
                  </a:txBody>
                  <a:tcPr marL="56005" marR="56005" marT="28002" marB="28002" anchor="ctr"/>
                </a:tc>
                <a:tc>
                  <a:txBody>
                    <a:bodyPr/>
                    <a:lstStyle/>
                    <a:p>
                      <a:pPr algn="ctr"/>
                      <a:r>
                        <a:rPr lang="en-US" sz="900">
                          <a:latin typeface="Hanken Grotesk" panose="020B0604020202020204" charset="0"/>
                        </a:rPr>
                        <a:t>ML</a:t>
                      </a:r>
                    </a:p>
                  </a:txBody>
                  <a:tcPr marL="56005" marR="56005" marT="28002" marB="28002" anchor="ctr"/>
                </a:tc>
                <a:extLst>
                  <a:ext uri="{0D108BD9-81ED-4DB2-BD59-A6C34878D82A}">
                    <a16:rowId xmlns:a16="http://schemas.microsoft.com/office/drawing/2014/main" val="1620346720"/>
                  </a:ext>
                </a:extLst>
              </a:tr>
              <a:tr h="262674">
                <a:tc>
                  <a:txBody>
                    <a:bodyPr/>
                    <a:lstStyle/>
                    <a:p>
                      <a:pPr algn="ctr"/>
                      <a:r>
                        <a:rPr lang="en-US" sz="900" b="1">
                          <a:latin typeface="Hanken Grotesk" panose="020B0604020202020204" charset="0"/>
                        </a:rPr>
                        <a:t>2</a:t>
                      </a:r>
                      <a:endParaRPr lang="en-US" sz="900">
                        <a:latin typeface="Hanken Grotesk" panose="020B0604020202020204" charset="0"/>
                      </a:endParaRPr>
                    </a:p>
                  </a:txBody>
                  <a:tcPr marL="56005" marR="56005" marT="28002" marB="28002" anchor="ctr"/>
                </a:tc>
                <a:tc>
                  <a:txBody>
                    <a:bodyPr/>
                    <a:lstStyle/>
                    <a:p>
                      <a:pPr algn="ctr"/>
                      <a:r>
                        <a:rPr lang="en-US" sz="900" b="1">
                          <a:latin typeface="Hanken Grotesk" panose="020B0604020202020204" charset="0"/>
                        </a:rPr>
                        <a:t>Random Forest (Tuned)</a:t>
                      </a:r>
                      <a:endParaRPr lang="en-US" sz="900">
                        <a:latin typeface="Hanken Grotesk" panose="020B0604020202020204" charset="0"/>
                      </a:endParaRPr>
                    </a:p>
                  </a:txBody>
                  <a:tcPr marL="56005" marR="56005" marT="28002" marB="28002" anchor="ctr"/>
                </a:tc>
                <a:tc>
                  <a:txBody>
                    <a:bodyPr/>
                    <a:lstStyle/>
                    <a:p>
                      <a:pPr algn="ctr"/>
                      <a:r>
                        <a:rPr lang="en-US" sz="900" dirty="0">
                          <a:latin typeface="Hanken Grotesk" panose="020B0604020202020204" charset="0"/>
                        </a:rPr>
                        <a:t>0.293</a:t>
                      </a:r>
                    </a:p>
                  </a:txBody>
                  <a:tcPr marL="56005" marR="56005" marT="28002" marB="28002" anchor="ctr"/>
                </a:tc>
                <a:tc>
                  <a:txBody>
                    <a:bodyPr/>
                    <a:lstStyle/>
                    <a:p>
                      <a:pPr algn="ctr"/>
                      <a:r>
                        <a:rPr lang="en-US" sz="900">
                          <a:latin typeface="Hanken Grotesk" panose="020B0604020202020204" charset="0"/>
                        </a:rPr>
                        <a:t>0.435</a:t>
                      </a:r>
                    </a:p>
                  </a:txBody>
                  <a:tcPr marL="56005" marR="56005" marT="28002" marB="28002" anchor="ctr"/>
                </a:tc>
                <a:tc>
                  <a:txBody>
                    <a:bodyPr/>
                    <a:lstStyle/>
                    <a:p>
                      <a:pPr algn="ctr"/>
                      <a:r>
                        <a:rPr lang="en-US" sz="900">
                          <a:latin typeface="Hanken Grotesk" panose="020B0604020202020204" charset="0"/>
                        </a:rPr>
                        <a:t>0.7831</a:t>
                      </a:r>
                    </a:p>
                  </a:txBody>
                  <a:tcPr marL="56005" marR="56005" marT="28002" marB="28002" anchor="ctr"/>
                </a:tc>
                <a:tc>
                  <a:txBody>
                    <a:bodyPr/>
                    <a:lstStyle/>
                    <a:p>
                      <a:pPr algn="ctr"/>
                      <a:r>
                        <a:rPr lang="en-US" sz="900">
                          <a:latin typeface="Hanken Grotesk" panose="020B0604020202020204" charset="0"/>
                        </a:rPr>
                        <a:t>ML</a:t>
                      </a:r>
                    </a:p>
                  </a:txBody>
                  <a:tcPr marL="56005" marR="56005" marT="28002" marB="28002" anchor="ctr"/>
                </a:tc>
                <a:extLst>
                  <a:ext uri="{0D108BD9-81ED-4DB2-BD59-A6C34878D82A}">
                    <a16:rowId xmlns:a16="http://schemas.microsoft.com/office/drawing/2014/main" val="1563855895"/>
                  </a:ext>
                </a:extLst>
              </a:tr>
              <a:tr h="262674">
                <a:tc>
                  <a:txBody>
                    <a:bodyPr/>
                    <a:lstStyle/>
                    <a:p>
                      <a:pPr algn="ctr"/>
                      <a:r>
                        <a:rPr lang="en-US" sz="900" b="1">
                          <a:latin typeface="Hanken Grotesk" panose="020B0604020202020204" charset="0"/>
                        </a:rPr>
                        <a:t>3</a:t>
                      </a:r>
                      <a:endParaRPr lang="en-US" sz="900">
                        <a:latin typeface="Hanken Grotesk" panose="020B0604020202020204" charset="0"/>
                      </a:endParaRPr>
                    </a:p>
                  </a:txBody>
                  <a:tcPr marL="56005" marR="56005" marT="28002" marB="28002" anchor="ctr"/>
                </a:tc>
                <a:tc>
                  <a:txBody>
                    <a:bodyPr/>
                    <a:lstStyle/>
                    <a:p>
                      <a:pPr algn="ctr"/>
                      <a:r>
                        <a:rPr lang="en-US" sz="900">
                          <a:latin typeface="Hanken Grotesk" panose="020B0604020202020204" charset="0"/>
                        </a:rPr>
                        <a:t>Random Forest</a:t>
                      </a:r>
                    </a:p>
                  </a:txBody>
                  <a:tcPr marL="56005" marR="56005" marT="28002" marB="28002" anchor="ctr"/>
                </a:tc>
                <a:tc>
                  <a:txBody>
                    <a:bodyPr/>
                    <a:lstStyle/>
                    <a:p>
                      <a:pPr algn="ctr"/>
                      <a:r>
                        <a:rPr lang="en-US" sz="900">
                          <a:latin typeface="Hanken Grotesk" panose="020B0604020202020204" charset="0"/>
                        </a:rPr>
                        <a:t>0.305</a:t>
                      </a:r>
                    </a:p>
                  </a:txBody>
                  <a:tcPr marL="56005" marR="56005" marT="28002" marB="28002" anchor="ctr"/>
                </a:tc>
                <a:tc>
                  <a:txBody>
                    <a:bodyPr/>
                    <a:lstStyle/>
                    <a:p>
                      <a:pPr algn="ctr"/>
                      <a:r>
                        <a:rPr lang="en-US" sz="900">
                          <a:latin typeface="Hanken Grotesk" panose="020B0604020202020204" charset="0"/>
                        </a:rPr>
                        <a:t>0.444</a:t>
                      </a:r>
                    </a:p>
                  </a:txBody>
                  <a:tcPr marL="56005" marR="56005" marT="28002" marB="28002" anchor="ctr"/>
                </a:tc>
                <a:tc>
                  <a:txBody>
                    <a:bodyPr/>
                    <a:lstStyle/>
                    <a:p>
                      <a:pPr algn="ctr"/>
                      <a:r>
                        <a:rPr lang="en-US" sz="900">
                          <a:latin typeface="Hanken Grotesk" panose="020B0604020202020204" charset="0"/>
                        </a:rPr>
                        <a:t>0.7739</a:t>
                      </a:r>
                    </a:p>
                  </a:txBody>
                  <a:tcPr marL="56005" marR="56005" marT="28002" marB="28002" anchor="ctr"/>
                </a:tc>
                <a:tc>
                  <a:txBody>
                    <a:bodyPr/>
                    <a:lstStyle/>
                    <a:p>
                      <a:pPr algn="ctr"/>
                      <a:r>
                        <a:rPr lang="en-US" sz="900">
                          <a:latin typeface="Hanken Grotesk" panose="020B0604020202020204" charset="0"/>
                        </a:rPr>
                        <a:t>ML</a:t>
                      </a:r>
                    </a:p>
                  </a:txBody>
                  <a:tcPr marL="56005" marR="56005" marT="28002" marB="28002" anchor="ctr"/>
                </a:tc>
                <a:extLst>
                  <a:ext uri="{0D108BD9-81ED-4DB2-BD59-A6C34878D82A}">
                    <a16:rowId xmlns:a16="http://schemas.microsoft.com/office/drawing/2014/main" val="2381812955"/>
                  </a:ext>
                </a:extLst>
              </a:tr>
              <a:tr h="262674">
                <a:tc>
                  <a:txBody>
                    <a:bodyPr/>
                    <a:lstStyle/>
                    <a:p>
                      <a:pPr algn="ctr"/>
                      <a:r>
                        <a:rPr lang="en-US" sz="900" b="1">
                          <a:latin typeface="Hanken Grotesk" panose="020B0604020202020204" charset="0"/>
                        </a:rPr>
                        <a:t>4</a:t>
                      </a:r>
                      <a:endParaRPr lang="en-US" sz="900">
                        <a:latin typeface="Hanken Grotesk" panose="020B0604020202020204" charset="0"/>
                      </a:endParaRPr>
                    </a:p>
                  </a:txBody>
                  <a:tcPr marL="56005" marR="56005" marT="28002" marB="28002" anchor="ctr"/>
                </a:tc>
                <a:tc>
                  <a:txBody>
                    <a:bodyPr/>
                    <a:lstStyle/>
                    <a:p>
                      <a:pPr algn="ctr"/>
                      <a:r>
                        <a:rPr lang="en-US" sz="900">
                          <a:latin typeface="Hanken Grotesk" panose="020B0604020202020204" charset="0"/>
                        </a:rPr>
                        <a:t>XGBoost</a:t>
                      </a:r>
                    </a:p>
                  </a:txBody>
                  <a:tcPr marL="56005" marR="56005" marT="28002" marB="28002" anchor="ctr"/>
                </a:tc>
                <a:tc>
                  <a:txBody>
                    <a:bodyPr/>
                    <a:lstStyle/>
                    <a:p>
                      <a:pPr algn="ctr"/>
                      <a:r>
                        <a:rPr lang="en-US" sz="900">
                          <a:latin typeface="Hanken Grotesk" panose="020B0604020202020204" charset="0"/>
                        </a:rPr>
                        <a:t>0.313</a:t>
                      </a:r>
                    </a:p>
                  </a:txBody>
                  <a:tcPr marL="56005" marR="56005" marT="28002" marB="28002" anchor="ctr"/>
                </a:tc>
                <a:tc>
                  <a:txBody>
                    <a:bodyPr/>
                    <a:lstStyle/>
                    <a:p>
                      <a:pPr algn="ctr"/>
                      <a:r>
                        <a:rPr lang="en-US" sz="900">
                          <a:latin typeface="Hanken Grotesk" panose="020B0604020202020204" charset="0"/>
                        </a:rPr>
                        <a:t>0.448</a:t>
                      </a:r>
                    </a:p>
                  </a:txBody>
                  <a:tcPr marL="56005" marR="56005" marT="28002" marB="28002" anchor="ctr"/>
                </a:tc>
                <a:tc>
                  <a:txBody>
                    <a:bodyPr/>
                    <a:lstStyle/>
                    <a:p>
                      <a:pPr algn="ctr"/>
                      <a:r>
                        <a:rPr lang="en-US" sz="900">
                          <a:latin typeface="Hanken Grotesk" panose="020B0604020202020204" charset="0"/>
                        </a:rPr>
                        <a:t>0.7693</a:t>
                      </a:r>
                    </a:p>
                  </a:txBody>
                  <a:tcPr marL="56005" marR="56005" marT="28002" marB="28002" anchor="ctr"/>
                </a:tc>
                <a:tc>
                  <a:txBody>
                    <a:bodyPr/>
                    <a:lstStyle/>
                    <a:p>
                      <a:pPr algn="ctr"/>
                      <a:r>
                        <a:rPr lang="en-US" sz="900">
                          <a:latin typeface="Hanken Grotesk" panose="020B0604020202020204" charset="0"/>
                        </a:rPr>
                        <a:t>ML</a:t>
                      </a:r>
                    </a:p>
                  </a:txBody>
                  <a:tcPr marL="56005" marR="56005" marT="28002" marB="28002" anchor="ctr"/>
                </a:tc>
                <a:extLst>
                  <a:ext uri="{0D108BD9-81ED-4DB2-BD59-A6C34878D82A}">
                    <a16:rowId xmlns:a16="http://schemas.microsoft.com/office/drawing/2014/main" val="697586488"/>
                  </a:ext>
                </a:extLst>
              </a:tr>
              <a:tr h="262674">
                <a:tc>
                  <a:txBody>
                    <a:bodyPr/>
                    <a:lstStyle/>
                    <a:p>
                      <a:pPr algn="ctr"/>
                      <a:r>
                        <a:rPr lang="en-US" sz="900" b="1">
                          <a:latin typeface="Hanken Grotesk" panose="020B0604020202020204" charset="0"/>
                        </a:rPr>
                        <a:t>5</a:t>
                      </a:r>
                      <a:endParaRPr lang="en-US" sz="900">
                        <a:latin typeface="Hanken Grotesk" panose="020B0604020202020204" charset="0"/>
                      </a:endParaRPr>
                    </a:p>
                  </a:txBody>
                  <a:tcPr marL="56005" marR="56005" marT="28002" marB="28002" anchor="ctr"/>
                </a:tc>
                <a:tc>
                  <a:txBody>
                    <a:bodyPr/>
                    <a:lstStyle/>
                    <a:p>
                      <a:pPr algn="ctr"/>
                      <a:r>
                        <a:rPr lang="en-US" sz="900">
                          <a:latin typeface="Hanken Grotesk" panose="020B0604020202020204" charset="0"/>
                        </a:rPr>
                        <a:t>Gradient Boosting</a:t>
                      </a:r>
                    </a:p>
                  </a:txBody>
                  <a:tcPr marL="56005" marR="56005" marT="28002" marB="28002" anchor="ctr"/>
                </a:tc>
                <a:tc>
                  <a:txBody>
                    <a:bodyPr/>
                    <a:lstStyle/>
                    <a:p>
                      <a:pPr algn="ctr"/>
                      <a:r>
                        <a:rPr lang="en-US" sz="900">
                          <a:latin typeface="Hanken Grotesk" panose="020B0604020202020204" charset="0"/>
                        </a:rPr>
                        <a:t>0.330</a:t>
                      </a:r>
                    </a:p>
                  </a:txBody>
                  <a:tcPr marL="56005" marR="56005" marT="28002" marB="28002" anchor="ctr"/>
                </a:tc>
                <a:tc>
                  <a:txBody>
                    <a:bodyPr/>
                    <a:lstStyle/>
                    <a:p>
                      <a:pPr algn="ctr"/>
                      <a:r>
                        <a:rPr lang="en-US" sz="900">
                          <a:latin typeface="Hanken Grotesk" panose="020B0604020202020204" charset="0"/>
                        </a:rPr>
                        <a:t>0.468</a:t>
                      </a:r>
                    </a:p>
                  </a:txBody>
                  <a:tcPr marL="56005" marR="56005" marT="28002" marB="28002" anchor="ctr"/>
                </a:tc>
                <a:tc>
                  <a:txBody>
                    <a:bodyPr/>
                    <a:lstStyle/>
                    <a:p>
                      <a:pPr algn="ctr"/>
                      <a:r>
                        <a:rPr lang="en-US" sz="900">
                          <a:latin typeface="Hanken Grotesk" panose="020B0604020202020204" charset="0"/>
                        </a:rPr>
                        <a:t>0.7486</a:t>
                      </a:r>
                    </a:p>
                  </a:txBody>
                  <a:tcPr marL="56005" marR="56005" marT="28002" marB="28002" anchor="ctr"/>
                </a:tc>
                <a:tc>
                  <a:txBody>
                    <a:bodyPr/>
                    <a:lstStyle/>
                    <a:p>
                      <a:pPr algn="ctr"/>
                      <a:r>
                        <a:rPr lang="en-US" sz="900">
                          <a:latin typeface="Hanken Grotesk" panose="020B0604020202020204" charset="0"/>
                        </a:rPr>
                        <a:t>ML</a:t>
                      </a:r>
                    </a:p>
                  </a:txBody>
                  <a:tcPr marL="56005" marR="56005" marT="28002" marB="28002" anchor="ctr"/>
                </a:tc>
                <a:extLst>
                  <a:ext uri="{0D108BD9-81ED-4DB2-BD59-A6C34878D82A}">
                    <a16:rowId xmlns:a16="http://schemas.microsoft.com/office/drawing/2014/main" val="2740760141"/>
                  </a:ext>
                </a:extLst>
              </a:tr>
              <a:tr h="262674">
                <a:tc>
                  <a:txBody>
                    <a:bodyPr/>
                    <a:lstStyle/>
                    <a:p>
                      <a:pPr algn="ctr"/>
                      <a:r>
                        <a:rPr lang="en-US" sz="900" b="1">
                          <a:latin typeface="Hanken Grotesk" panose="020B0604020202020204" charset="0"/>
                        </a:rPr>
                        <a:t>6</a:t>
                      </a:r>
                      <a:endParaRPr lang="en-US" sz="900">
                        <a:latin typeface="Hanken Grotesk" panose="020B0604020202020204" charset="0"/>
                      </a:endParaRPr>
                    </a:p>
                  </a:txBody>
                  <a:tcPr marL="56005" marR="56005" marT="28002" marB="28002" anchor="ctr"/>
                </a:tc>
                <a:tc>
                  <a:txBody>
                    <a:bodyPr/>
                    <a:lstStyle/>
                    <a:p>
                      <a:pPr algn="ctr"/>
                      <a:r>
                        <a:rPr lang="en-US" sz="900">
                          <a:latin typeface="Hanken Grotesk" panose="020B0604020202020204" charset="0"/>
                        </a:rPr>
                        <a:t>SVR</a:t>
                      </a:r>
                    </a:p>
                  </a:txBody>
                  <a:tcPr marL="56005" marR="56005" marT="28002" marB="28002" anchor="ctr"/>
                </a:tc>
                <a:tc>
                  <a:txBody>
                    <a:bodyPr/>
                    <a:lstStyle/>
                    <a:p>
                      <a:pPr algn="ctr"/>
                      <a:r>
                        <a:rPr lang="en-US" sz="900">
                          <a:latin typeface="Hanken Grotesk" panose="020B0604020202020204" charset="0"/>
                        </a:rPr>
                        <a:t>0.318</a:t>
                      </a:r>
                    </a:p>
                  </a:txBody>
                  <a:tcPr marL="56005" marR="56005" marT="28002" marB="28002" anchor="ctr"/>
                </a:tc>
                <a:tc>
                  <a:txBody>
                    <a:bodyPr/>
                    <a:lstStyle/>
                    <a:p>
                      <a:pPr algn="ctr"/>
                      <a:r>
                        <a:rPr lang="en-US" sz="900">
                          <a:latin typeface="Hanken Grotesk" panose="020B0604020202020204" charset="0"/>
                        </a:rPr>
                        <a:t>0.483</a:t>
                      </a:r>
                    </a:p>
                  </a:txBody>
                  <a:tcPr marL="56005" marR="56005" marT="28002" marB="28002" anchor="ctr"/>
                </a:tc>
                <a:tc>
                  <a:txBody>
                    <a:bodyPr/>
                    <a:lstStyle/>
                    <a:p>
                      <a:pPr algn="ctr"/>
                      <a:r>
                        <a:rPr lang="en-US" sz="900">
                          <a:latin typeface="Hanken Grotesk" panose="020B0604020202020204" charset="0"/>
                        </a:rPr>
                        <a:t>0.7324</a:t>
                      </a:r>
                    </a:p>
                  </a:txBody>
                  <a:tcPr marL="56005" marR="56005" marT="28002" marB="28002" anchor="ctr"/>
                </a:tc>
                <a:tc>
                  <a:txBody>
                    <a:bodyPr/>
                    <a:lstStyle/>
                    <a:p>
                      <a:pPr algn="ctr"/>
                      <a:r>
                        <a:rPr lang="en-US" sz="900">
                          <a:latin typeface="Hanken Grotesk" panose="020B0604020202020204" charset="0"/>
                        </a:rPr>
                        <a:t>ML</a:t>
                      </a:r>
                    </a:p>
                  </a:txBody>
                  <a:tcPr marL="56005" marR="56005" marT="28002" marB="28002" anchor="ctr"/>
                </a:tc>
                <a:extLst>
                  <a:ext uri="{0D108BD9-81ED-4DB2-BD59-A6C34878D82A}">
                    <a16:rowId xmlns:a16="http://schemas.microsoft.com/office/drawing/2014/main" val="652047888"/>
                  </a:ext>
                </a:extLst>
              </a:tr>
              <a:tr h="262674">
                <a:tc>
                  <a:txBody>
                    <a:bodyPr/>
                    <a:lstStyle/>
                    <a:p>
                      <a:pPr algn="ctr"/>
                      <a:r>
                        <a:rPr lang="en-US" sz="900" b="1">
                          <a:latin typeface="Hanken Grotesk" panose="020B0604020202020204" charset="0"/>
                        </a:rPr>
                        <a:t>7</a:t>
                      </a:r>
                      <a:endParaRPr lang="en-US" sz="900">
                        <a:latin typeface="Hanken Grotesk" panose="020B0604020202020204" charset="0"/>
                      </a:endParaRPr>
                    </a:p>
                  </a:txBody>
                  <a:tcPr marL="56005" marR="56005" marT="28002" marB="28002" anchor="ctr"/>
                </a:tc>
                <a:tc>
                  <a:txBody>
                    <a:bodyPr/>
                    <a:lstStyle/>
                    <a:p>
                      <a:pPr algn="ctr"/>
                      <a:r>
                        <a:rPr lang="en-US" sz="900" dirty="0">
                          <a:latin typeface="Hanken Grotesk" panose="020B0604020202020204" charset="0"/>
                        </a:rPr>
                        <a:t>Ridge Regression</a:t>
                      </a:r>
                    </a:p>
                  </a:txBody>
                  <a:tcPr marL="56005" marR="56005" marT="28002" marB="28002" anchor="ctr"/>
                </a:tc>
                <a:tc>
                  <a:txBody>
                    <a:bodyPr/>
                    <a:lstStyle/>
                    <a:p>
                      <a:pPr algn="ctr"/>
                      <a:r>
                        <a:rPr lang="en-US" sz="900">
                          <a:latin typeface="Hanken Grotesk" panose="020B0604020202020204" charset="0"/>
                        </a:rPr>
                        <a:t>0.502</a:t>
                      </a:r>
                    </a:p>
                  </a:txBody>
                  <a:tcPr marL="56005" marR="56005" marT="28002" marB="28002" anchor="ctr"/>
                </a:tc>
                <a:tc>
                  <a:txBody>
                    <a:bodyPr/>
                    <a:lstStyle/>
                    <a:p>
                      <a:pPr algn="ctr"/>
                      <a:r>
                        <a:rPr lang="en-US" sz="900">
                          <a:latin typeface="Hanken Grotesk" panose="020B0604020202020204" charset="0"/>
                        </a:rPr>
                        <a:t>0.648</a:t>
                      </a:r>
                    </a:p>
                  </a:txBody>
                  <a:tcPr marL="56005" marR="56005" marT="28002" marB="28002" anchor="ctr"/>
                </a:tc>
                <a:tc>
                  <a:txBody>
                    <a:bodyPr/>
                    <a:lstStyle/>
                    <a:p>
                      <a:pPr algn="ctr"/>
                      <a:r>
                        <a:rPr lang="en-US" sz="900" dirty="0">
                          <a:latin typeface="Hanken Grotesk" panose="020B0604020202020204" charset="0"/>
                        </a:rPr>
                        <a:t>0.5182</a:t>
                      </a:r>
                    </a:p>
                  </a:txBody>
                  <a:tcPr marL="56005" marR="56005" marT="28002" marB="28002" anchor="ctr"/>
                </a:tc>
                <a:tc>
                  <a:txBody>
                    <a:bodyPr/>
                    <a:lstStyle/>
                    <a:p>
                      <a:pPr algn="ctr"/>
                      <a:r>
                        <a:rPr lang="en-US" sz="900">
                          <a:latin typeface="Hanken Grotesk" panose="020B0604020202020204" charset="0"/>
                        </a:rPr>
                        <a:t>ML</a:t>
                      </a:r>
                    </a:p>
                  </a:txBody>
                  <a:tcPr marL="56005" marR="56005" marT="28002" marB="28002" anchor="ctr"/>
                </a:tc>
                <a:extLst>
                  <a:ext uri="{0D108BD9-81ED-4DB2-BD59-A6C34878D82A}">
                    <a16:rowId xmlns:a16="http://schemas.microsoft.com/office/drawing/2014/main" val="3200204086"/>
                  </a:ext>
                </a:extLst>
              </a:tr>
              <a:tr h="262674">
                <a:tc>
                  <a:txBody>
                    <a:bodyPr/>
                    <a:lstStyle/>
                    <a:p>
                      <a:pPr algn="ctr"/>
                      <a:r>
                        <a:rPr lang="en-US" sz="900" b="1">
                          <a:latin typeface="Hanken Grotesk" panose="020B0604020202020204" charset="0"/>
                        </a:rPr>
                        <a:t>8</a:t>
                      </a:r>
                      <a:endParaRPr lang="en-US" sz="900">
                        <a:latin typeface="Hanken Grotesk" panose="020B0604020202020204" charset="0"/>
                      </a:endParaRPr>
                    </a:p>
                  </a:txBody>
                  <a:tcPr marL="56005" marR="56005" marT="28002" marB="28002" anchor="ctr"/>
                </a:tc>
                <a:tc>
                  <a:txBody>
                    <a:bodyPr/>
                    <a:lstStyle/>
                    <a:p>
                      <a:pPr algn="ctr"/>
                      <a:r>
                        <a:rPr lang="en-US" sz="900">
                          <a:latin typeface="Hanken Grotesk" panose="020B0604020202020204" charset="0"/>
                        </a:rPr>
                        <a:t>Linear Regression</a:t>
                      </a:r>
                    </a:p>
                  </a:txBody>
                  <a:tcPr marL="56005" marR="56005" marT="28002" marB="28002" anchor="ctr"/>
                </a:tc>
                <a:tc>
                  <a:txBody>
                    <a:bodyPr/>
                    <a:lstStyle/>
                    <a:p>
                      <a:pPr algn="ctr"/>
                      <a:r>
                        <a:rPr lang="en-US" sz="900">
                          <a:latin typeface="Hanken Grotesk" panose="020B0604020202020204" charset="0"/>
                        </a:rPr>
                        <a:t>0.502</a:t>
                      </a:r>
                    </a:p>
                  </a:txBody>
                  <a:tcPr marL="56005" marR="56005" marT="28002" marB="28002" anchor="ctr"/>
                </a:tc>
                <a:tc>
                  <a:txBody>
                    <a:bodyPr/>
                    <a:lstStyle/>
                    <a:p>
                      <a:pPr algn="ctr"/>
                      <a:r>
                        <a:rPr lang="en-US" sz="900">
                          <a:latin typeface="Hanken Grotesk" panose="020B0604020202020204" charset="0"/>
                        </a:rPr>
                        <a:t>0.648</a:t>
                      </a:r>
                    </a:p>
                  </a:txBody>
                  <a:tcPr marL="56005" marR="56005" marT="28002" marB="28002" anchor="ctr"/>
                </a:tc>
                <a:tc>
                  <a:txBody>
                    <a:bodyPr/>
                    <a:lstStyle/>
                    <a:p>
                      <a:pPr algn="ctr"/>
                      <a:r>
                        <a:rPr lang="en-US" sz="900">
                          <a:latin typeface="Hanken Grotesk" panose="020B0604020202020204" charset="0"/>
                        </a:rPr>
                        <a:t>0.5182</a:t>
                      </a:r>
                    </a:p>
                  </a:txBody>
                  <a:tcPr marL="56005" marR="56005" marT="28002" marB="28002" anchor="ctr"/>
                </a:tc>
                <a:tc>
                  <a:txBody>
                    <a:bodyPr/>
                    <a:lstStyle/>
                    <a:p>
                      <a:pPr algn="ctr"/>
                      <a:r>
                        <a:rPr lang="en-US" sz="900">
                          <a:latin typeface="Hanken Grotesk" panose="020B0604020202020204" charset="0"/>
                        </a:rPr>
                        <a:t>ML</a:t>
                      </a:r>
                    </a:p>
                  </a:txBody>
                  <a:tcPr marL="56005" marR="56005" marT="28002" marB="28002" anchor="ctr"/>
                </a:tc>
                <a:extLst>
                  <a:ext uri="{0D108BD9-81ED-4DB2-BD59-A6C34878D82A}">
                    <a16:rowId xmlns:a16="http://schemas.microsoft.com/office/drawing/2014/main" val="431179551"/>
                  </a:ext>
                </a:extLst>
              </a:tr>
              <a:tr h="262674">
                <a:tc>
                  <a:txBody>
                    <a:bodyPr/>
                    <a:lstStyle/>
                    <a:p>
                      <a:pPr algn="ctr"/>
                      <a:r>
                        <a:rPr lang="en-US" sz="900" b="1">
                          <a:latin typeface="Hanken Grotesk" panose="020B0604020202020204" charset="0"/>
                        </a:rPr>
                        <a:t>9</a:t>
                      </a:r>
                      <a:endParaRPr lang="en-US" sz="900">
                        <a:latin typeface="Hanken Grotesk" panose="020B0604020202020204" charset="0"/>
                      </a:endParaRPr>
                    </a:p>
                  </a:txBody>
                  <a:tcPr marL="56005" marR="56005" marT="28002" marB="28002" anchor="ctr"/>
                </a:tc>
                <a:tc>
                  <a:txBody>
                    <a:bodyPr/>
                    <a:lstStyle/>
                    <a:p>
                      <a:pPr algn="ctr"/>
                      <a:r>
                        <a:rPr lang="en-US" sz="900">
                          <a:latin typeface="Hanken Grotesk" panose="020B0604020202020204" charset="0"/>
                        </a:rPr>
                        <a:t>LSTM</a:t>
                      </a:r>
                    </a:p>
                  </a:txBody>
                  <a:tcPr marL="56005" marR="56005" marT="28002" marB="28002" anchor="ctr"/>
                </a:tc>
                <a:tc>
                  <a:txBody>
                    <a:bodyPr/>
                    <a:lstStyle/>
                    <a:p>
                      <a:pPr algn="ctr"/>
                      <a:r>
                        <a:rPr lang="en-US" sz="900">
                          <a:latin typeface="Hanken Grotesk" panose="020B0604020202020204" charset="0"/>
                        </a:rPr>
                        <a:t>0.467</a:t>
                      </a:r>
                    </a:p>
                  </a:txBody>
                  <a:tcPr marL="56005" marR="56005" marT="28002" marB="28002" anchor="ctr"/>
                </a:tc>
                <a:tc>
                  <a:txBody>
                    <a:bodyPr/>
                    <a:lstStyle/>
                    <a:p>
                      <a:pPr algn="ctr"/>
                      <a:r>
                        <a:rPr lang="en-US" sz="900">
                          <a:latin typeface="Hanken Grotesk" panose="020B0604020202020204" charset="0"/>
                        </a:rPr>
                        <a:t>0.498</a:t>
                      </a:r>
                    </a:p>
                  </a:txBody>
                  <a:tcPr marL="56005" marR="56005" marT="28002" marB="28002" anchor="ctr"/>
                </a:tc>
                <a:tc>
                  <a:txBody>
                    <a:bodyPr/>
                    <a:lstStyle/>
                    <a:p>
                      <a:pPr algn="ctr"/>
                      <a:r>
                        <a:rPr lang="en-US" sz="900" b="0" dirty="0">
                          <a:latin typeface="Hanken Grotesk" panose="020B0604020202020204" charset="0"/>
                        </a:rPr>
                        <a:t>0.014</a:t>
                      </a:r>
                    </a:p>
                  </a:txBody>
                  <a:tcPr marL="56005" marR="56005" marT="28002" marB="28002" anchor="ctr"/>
                </a:tc>
                <a:tc>
                  <a:txBody>
                    <a:bodyPr/>
                    <a:lstStyle/>
                    <a:p>
                      <a:pPr algn="ctr"/>
                      <a:r>
                        <a:rPr lang="en-US" sz="900">
                          <a:latin typeface="Hanken Grotesk" panose="020B0604020202020204" charset="0"/>
                        </a:rPr>
                        <a:t>DL</a:t>
                      </a:r>
                    </a:p>
                  </a:txBody>
                  <a:tcPr marL="56005" marR="56005" marT="28002" marB="28002" anchor="ctr"/>
                </a:tc>
                <a:extLst>
                  <a:ext uri="{0D108BD9-81ED-4DB2-BD59-A6C34878D82A}">
                    <a16:rowId xmlns:a16="http://schemas.microsoft.com/office/drawing/2014/main" val="1628073455"/>
                  </a:ext>
                </a:extLst>
              </a:tr>
              <a:tr h="262674">
                <a:tc>
                  <a:txBody>
                    <a:bodyPr/>
                    <a:lstStyle/>
                    <a:p>
                      <a:pPr algn="ctr"/>
                      <a:r>
                        <a:rPr lang="en-US" sz="900" b="1">
                          <a:latin typeface="Hanken Grotesk" panose="020B0604020202020204" charset="0"/>
                        </a:rPr>
                        <a:t>10</a:t>
                      </a:r>
                      <a:endParaRPr lang="en-US" sz="900">
                        <a:latin typeface="Hanken Grotesk" panose="020B0604020202020204" charset="0"/>
                      </a:endParaRPr>
                    </a:p>
                  </a:txBody>
                  <a:tcPr marL="56005" marR="56005" marT="28002" marB="28002" anchor="ctr"/>
                </a:tc>
                <a:tc>
                  <a:txBody>
                    <a:bodyPr/>
                    <a:lstStyle/>
                    <a:p>
                      <a:pPr algn="ctr"/>
                      <a:r>
                        <a:rPr lang="en-US" sz="900">
                          <a:latin typeface="Hanken Grotesk" panose="020B0604020202020204" charset="0"/>
                        </a:rPr>
                        <a:t>GRU</a:t>
                      </a:r>
                    </a:p>
                  </a:txBody>
                  <a:tcPr marL="56005" marR="56005" marT="28002" marB="28002" anchor="ctr"/>
                </a:tc>
                <a:tc>
                  <a:txBody>
                    <a:bodyPr/>
                    <a:lstStyle/>
                    <a:p>
                      <a:pPr algn="ctr"/>
                      <a:r>
                        <a:rPr lang="en-US" sz="900">
                          <a:latin typeface="Hanken Grotesk" panose="020B0604020202020204" charset="0"/>
                        </a:rPr>
                        <a:t>0.482</a:t>
                      </a:r>
                    </a:p>
                  </a:txBody>
                  <a:tcPr marL="56005" marR="56005" marT="28002" marB="28002" anchor="ctr"/>
                </a:tc>
                <a:tc>
                  <a:txBody>
                    <a:bodyPr/>
                    <a:lstStyle/>
                    <a:p>
                      <a:pPr algn="ctr"/>
                      <a:r>
                        <a:rPr lang="en-US" sz="900">
                          <a:latin typeface="Hanken Grotesk" panose="020B0604020202020204" charset="0"/>
                        </a:rPr>
                        <a:t>0.499</a:t>
                      </a:r>
                    </a:p>
                  </a:txBody>
                  <a:tcPr marL="56005" marR="56005" marT="28002" marB="28002" anchor="ctr"/>
                </a:tc>
                <a:tc>
                  <a:txBody>
                    <a:bodyPr/>
                    <a:lstStyle/>
                    <a:p>
                      <a:pPr algn="ctr"/>
                      <a:r>
                        <a:rPr lang="en-US" sz="900" b="0" dirty="0">
                          <a:latin typeface="Hanken Grotesk" panose="020B0604020202020204" charset="0"/>
                        </a:rPr>
                        <a:t>0.012</a:t>
                      </a:r>
                    </a:p>
                  </a:txBody>
                  <a:tcPr marL="56005" marR="56005" marT="28002" marB="28002" anchor="ctr"/>
                </a:tc>
                <a:tc>
                  <a:txBody>
                    <a:bodyPr/>
                    <a:lstStyle/>
                    <a:p>
                      <a:pPr algn="ctr"/>
                      <a:r>
                        <a:rPr lang="en-US" sz="900">
                          <a:latin typeface="Hanken Grotesk" panose="020B0604020202020204" charset="0"/>
                        </a:rPr>
                        <a:t>DL</a:t>
                      </a:r>
                    </a:p>
                  </a:txBody>
                  <a:tcPr marL="56005" marR="56005" marT="28002" marB="28002" anchor="ctr"/>
                </a:tc>
                <a:extLst>
                  <a:ext uri="{0D108BD9-81ED-4DB2-BD59-A6C34878D82A}">
                    <a16:rowId xmlns:a16="http://schemas.microsoft.com/office/drawing/2014/main" val="858432243"/>
                  </a:ext>
                </a:extLst>
              </a:tr>
              <a:tr h="262674">
                <a:tc>
                  <a:txBody>
                    <a:bodyPr/>
                    <a:lstStyle/>
                    <a:p>
                      <a:pPr algn="ctr"/>
                      <a:r>
                        <a:rPr lang="en-US" sz="900" b="1">
                          <a:latin typeface="Hanken Grotesk" panose="020B0604020202020204" charset="0"/>
                        </a:rPr>
                        <a:t>11</a:t>
                      </a:r>
                      <a:endParaRPr lang="en-US" sz="900">
                        <a:latin typeface="Hanken Grotesk" panose="020B0604020202020204" charset="0"/>
                      </a:endParaRPr>
                    </a:p>
                  </a:txBody>
                  <a:tcPr marL="56005" marR="56005" marT="28002" marB="28002" anchor="ctr"/>
                </a:tc>
                <a:tc>
                  <a:txBody>
                    <a:bodyPr/>
                    <a:lstStyle/>
                    <a:p>
                      <a:pPr algn="ctr"/>
                      <a:r>
                        <a:rPr lang="en-US" sz="900">
                          <a:latin typeface="Hanken Grotesk" panose="020B0604020202020204" charset="0"/>
                        </a:rPr>
                        <a:t>MLP</a:t>
                      </a:r>
                    </a:p>
                  </a:txBody>
                  <a:tcPr marL="56005" marR="56005" marT="28002" marB="28002" anchor="ctr"/>
                </a:tc>
                <a:tc>
                  <a:txBody>
                    <a:bodyPr/>
                    <a:lstStyle/>
                    <a:p>
                      <a:pPr algn="ctr"/>
                      <a:r>
                        <a:rPr lang="en-US" sz="900">
                          <a:latin typeface="Hanken Grotesk" panose="020B0604020202020204" charset="0"/>
                        </a:rPr>
                        <a:t>0.618</a:t>
                      </a:r>
                    </a:p>
                  </a:txBody>
                  <a:tcPr marL="56005" marR="56005" marT="28002" marB="28002" anchor="ctr"/>
                </a:tc>
                <a:tc>
                  <a:txBody>
                    <a:bodyPr/>
                    <a:lstStyle/>
                    <a:p>
                      <a:pPr algn="ctr"/>
                      <a:r>
                        <a:rPr lang="en-US" sz="900">
                          <a:latin typeface="Hanken Grotesk" panose="020B0604020202020204" charset="0"/>
                        </a:rPr>
                        <a:t>0.499</a:t>
                      </a:r>
                    </a:p>
                  </a:txBody>
                  <a:tcPr marL="56005" marR="56005" marT="28002" marB="28002" anchor="ctr"/>
                </a:tc>
                <a:tc>
                  <a:txBody>
                    <a:bodyPr/>
                    <a:lstStyle/>
                    <a:p>
                      <a:pPr algn="ctr"/>
                      <a:r>
                        <a:rPr lang="en-US" sz="900" b="0" dirty="0">
                          <a:latin typeface="Hanken Grotesk" panose="020B0604020202020204" charset="0"/>
                        </a:rPr>
                        <a:t>0.011</a:t>
                      </a:r>
                    </a:p>
                  </a:txBody>
                  <a:tcPr marL="56005" marR="56005" marT="28002" marB="28002" anchor="ctr"/>
                </a:tc>
                <a:tc>
                  <a:txBody>
                    <a:bodyPr/>
                    <a:lstStyle/>
                    <a:p>
                      <a:pPr algn="ctr"/>
                      <a:r>
                        <a:rPr lang="en-US" sz="900" dirty="0">
                          <a:latin typeface="Hanken Grotesk" panose="020B0604020202020204" charset="0"/>
                        </a:rPr>
                        <a:t>DL</a:t>
                      </a:r>
                    </a:p>
                  </a:txBody>
                  <a:tcPr marL="56005" marR="56005" marT="28002" marB="28002" anchor="ctr"/>
                </a:tc>
                <a:extLst>
                  <a:ext uri="{0D108BD9-81ED-4DB2-BD59-A6C34878D82A}">
                    <a16:rowId xmlns:a16="http://schemas.microsoft.com/office/drawing/2014/main" val="2400273485"/>
                  </a:ext>
                </a:extLst>
              </a:tr>
            </a:tbl>
          </a:graphicData>
        </a:graphic>
      </p:graphicFrame>
      <p:sp>
        <p:nvSpPr>
          <p:cNvPr id="4" name="Subtitle 4">
            <a:extLst>
              <a:ext uri="{FF2B5EF4-FFF2-40B4-BE49-F238E27FC236}">
                <a16:creationId xmlns:a16="http://schemas.microsoft.com/office/drawing/2014/main" id="{62ED4FAB-D91A-A86D-298F-FCB6F8F0EE5E}"/>
              </a:ext>
            </a:extLst>
          </p:cNvPr>
          <p:cNvSpPr txBox="1">
            <a:spLocks/>
          </p:cNvSpPr>
          <p:nvPr/>
        </p:nvSpPr>
        <p:spPr>
          <a:xfrm>
            <a:off x="1065732" y="762719"/>
            <a:ext cx="3772800" cy="361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900" b="0" i="0" u="none" strike="noStrike" cap="none">
                <a:solidFill>
                  <a:schemeClr val="dk1"/>
                </a:solidFill>
                <a:latin typeface="Figtree Black"/>
                <a:ea typeface="Figtree Black"/>
                <a:cs typeface="Figtree Black"/>
                <a:sym typeface="Figtree Black"/>
              </a:defRPr>
            </a:lvl1pPr>
            <a:lvl2pPr marL="914400" marR="0" lvl="1"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2pPr>
            <a:lvl3pPr marL="1371600" marR="0" lvl="2"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3pPr>
            <a:lvl4pPr marL="1828800" marR="0" lvl="3"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4pPr>
            <a:lvl5pPr marL="2286000" marR="0" lvl="4"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5pPr>
            <a:lvl6pPr marL="2743200" marR="0" lvl="5"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6pPr>
            <a:lvl7pPr marL="3200400" marR="0" lvl="6"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7pPr>
            <a:lvl8pPr marL="3657600" marR="0" lvl="7"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8pPr>
            <a:lvl9pPr marL="4114800" marR="0" lvl="8"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9pPr>
          </a:lstStyle>
          <a:p>
            <a:r>
              <a:rPr lang="en-US" sz="1600" dirty="0"/>
              <a:t>Over All Model Ranking</a:t>
            </a:r>
          </a:p>
        </p:txBody>
      </p:sp>
      <p:sp>
        <p:nvSpPr>
          <p:cNvPr id="5" name="Google Shape;330;p36">
            <a:extLst>
              <a:ext uri="{FF2B5EF4-FFF2-40B4-BE49-F238E27FC236}">
                <a16:creationId xmlns:a16="http://schemas.microsoft.com/office/drawing/2014/main" id="{E28ECA2D-F1C1-1A59-2132-B374977CECA1}"/>
              </a:ext>
            </a:extLst>
          </p:cNvPr>
          <p:cNvSpPr txBox="1">
            <a:spLocks/>
          </p:cNvSpPr>
          <p:nvPr/>
        </p:nvSpPr>
        <p:spPr>
          <a:xfrm>
            <a:off x="1847185" y="4440454"/>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Table 4.2 ML and DL over all Models Ranking</a:t>
            </a:r>
          </a:p>
        </p:txBody>
      </p:sp>
      <p:sp>
        <p:nvSpPr>
          <p:cNvPr id="3" name="Google Shape;330;p36">
            <a:extLst>
              <a:ext uri="{FF2B5EF4-FFF2-40B4-BE49-F238E27FC236}">
                <a16:creationId xmlns:a16="http://schemas.microsoft.com/office/drawing/2014/main" id="{195597F6-A4D9-2F0C-2388-F0B96EB33566}"/>
              </a:ext>
            </a:extLst>
          </p:cNvPr>
          <p:cNvSpPr txBox="1">
            <a:spLocks/>
          </p:cNvSpPr>
          <p:nvPr/>
        </p:nvSpPr>
        <p:spPr>
          <a:xfrm>
            <a:off x="241332" y="461441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20 - </a:t>
            </a:r>
            <a:fld id="{1612EBDF-BBCF-4455-9CA4-C9C775D5C22A}" type="datetime1">
              <a:rPr lang="en-US" sz="1000" smtClean="0"/>
              <a:t>12/18/2025</a:t>
            </a:fld>
            <a:endParaRPr lang="en-US" sz="1000" dirty="0"/>
          </a:p>
        </p:txBody>
      </p:sp>
    </p:spTree>
    <p:extLst>
      <p:ext uri="{BB962C8B-B14F-4D97-AF65-F5344CB8AC3E}">
        <p14:creationId xmlns:p14="http://schemas.microsoft.com/office/powerpoint/2010/main" val="3433934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7AD32-73BE-C78F-039B-F3F22842ED6D}"/>
              </a:ext>
            </a:extLst>
          </p:cNvPr>
          <p:cNvSpPr>
            <a:spLocks noGrp="1"/>
          </p:cNvSpPr>
          <p:nvPr>
            <p:ph type="title"/>
          </p:nvPr>
        </p:nvSpPr>
        <p:spPr>
          <a:xfrm>
            <a:off x="1191768" y="374385"/>
            <a:ext cx="7710900" cy="572700"/>
          </a:xfrm>
        </p:spPr>
        <p:txBody>
          <a:bodyPr/>
          <a:lstStyle/>
          <a:p>
            <a:r>
              <a:rPr lang="en-US" dirty="0"/>
              <a:t>Conclusion</a:t>
            </a:r>
          </a:p>
        </p:txBody>
      </p:sp>
      <p:sp>
        <p:nvSpPr>
          <p:cNvPr id="3" name="Subtitle 2">
            <a:extLst>
              <a:ext uri="{FF2B5EF4-FFF2-40B4-BE49-F238E27FC236}">
                <a16:creationId xmlns:a16="http://schemas.microsoft.com/office/drawing/2014/main" id="{1B83889E-40E6-E7AB-1E23-E4DFD619EBC1}"/>
              </a:ext>
            </a:extLst>
          </p:cNvPr>
          <p:cNvSpPr>
            <a:spLocks noGrp="1"/>
          </p:cNvSpPr>
          <p:nvPr>
            <p:ph type="subTitle" idx="1"/>
          </p:nvPr>
        </p:nvSpPr>
        <p:spPr>
          <a:xfrm>
            <a:off x="1191768" y="1049251"/>
            <a:ext cx="6580200" cy="3441726"/>
          </a:xfrm>
        </p:spPr>
        <p:txBody>
          <a:bodyPr/>
          <a:lstStyle/>
          <a:p>
            <a:pPr>
              <a:buFont typeface="Arial" panose="020B0604020202020204" pitchFamily="34" charset="0"/>
              <a:buChar char="•"/>
            </a:pPr>
            <a:r>
              <a:rPr lang="en-US" dirty="0"/>
              <a:t>The study successfully developed and evaluated ML and DL models for short-term load forecasting of the </a:t>
            </a:r>
            <a:r>
              <a:rPr lang="en-US" dirty="0" err="1"/>
              <a:t>Baneshwor</a:t>
            </a:r>
            <a:r>
              <a:rPr lang="en-US" dirty="0"/>
              <a:t> Feeder.</a:t>
            </a:r>
          </a:p>
          <a:p>
            <a:pPr>
              <a:buFont typeface="Arial" panose="020B0604020202020204" pitchFamily="34" charset="0"/>
              <a:buChar char="•"/>
            </a:pPr>
            <a:endParaRPr lang="en-US" dirty="0"/>
          </a:p>
          <a:p>
            <a:pPr>
              <a:buFont typeface="Arial" panose="020B0604020202020204" pitchFamily="34" charset="0"/>
              <a:buChar char="•"/>
            </a:pPr>
            <a:r>
              <a:rPr lang="en-US" dirty="0"/>
              <a:t>Ensemble ML models particularly </a:t>
            </a:r>
            <a:r>
              <a:rPr lang="en-US" b="1" dirty="0" err="1"/>
              <a:t>XGBoost</a:t>
            </a:r>
            <a:r>
              <a:rPr lang="en-US" b="1" dirty="0"/>
              <a:t> (Tuned) </a:t>
            </a:r>
            <a:r>
              <a:rPr lang="en-US" dirty="0"/>
              <a:t>achieved the highest forecasting accuracy across all evaluation metrics.</a:t>
            </a:r>
          </a:p>
          <a:p>
            <a:pPr>
              <a:buFont typeface="Arial" panose="020B0604020202020204" pitchFamily="34" charset="0"/>
              <a:buChar char="•"/>
            </a:pPr>
            <a:endParaRPr lang="en-US" dirty="0"/>
          </a:p>
          <a:p>
            <a:pPr>
              <a:buFont typeface="Arial" panose="020B0604020202020204" pitchFamily="34" charset="0"/>
              <a:buChar char="•"/>
            </a:pPr>
            <a:r>
              <a:rPr lang="en-US" dirty="0"/>
              <a:t>Deep learning models (LSTM, GRU, MLP) underperformed due to limited dataset size and weaker temporal patterns.</a:t>
            </a:r>
          </a:p>
          <a:p>
            <a:pPr>
              <a:buFont typeface="Arial" panose="020B0604020202020204" pitchFamily="34" charset="0"/>
              <a:buChar char="•"/>
            </a:pPr>
            <a:endParaRPr lang="en-US" dirty="0"/>
          </a:p>
          <a:p>
            <a:pPr>
              <a:buFont typeface="Arial" panose="020B0604020202020204" pitchFamily="34" charset="0"/>
              <a:buChar char="•"/>
            </a:pPr>
            <a:r>
              <a:rPr lang="en-US" dirty="0"/>
              <a:t>Feature engineering, especially time-based and cyclical features, significantly improved ML performance.</a:t>
            </a:r>
          </a:p>
          <a:p>
            <a:pPr>
              <a:buFont typeface="Arial" panose="020B0604020202020204" pitchFamily="34" charset="0"/>
              <a:buChar char="•"/>
            </a:pPr>
            <a:endParaRPr lang="en-US" dirty="0"/>
          </a:p>
          <a:p>
            <a:pPr>
              <a:buFont typeface="Arial" panose="020B0604020202020204" pitchFamily="34" charset="0"/>
              <a:buChar char="•"/>
            </a:pPr>
            <a:r>
              <a:rPr lang="en-US" dirty="0"/>
              <a:t>The final recommended model for practical deployment is </a:t>
            </a:r>
            <a:r>
              <a:rPr lang="en-US" b="1" dirty="0" err="1"/>
              <a:t>XGBoost</a:t>
            </a:r>
            <a:r>
              <a:rPr lang="en-US" b="1" dirty="0"/>
              <a:t> (Tuned)</a:t>
            </a:r>
            <a:r>
              <a:rPr lang="en-US" dirty="0"/>
              <a:t> due to its high accuracy, robustness, and operational efficiency.</a:t>
            </a:r>
          </a:p>
          <a:p>
            <a:endParaRPr lang="en-US" dirty="0"/>
          </a:p>
        </p:txBody>
      </p:sp>
      <p:sp>
        <p:nvSpPr>
          <p:cNvPr id="4" name="Google Shape;331;p36">
            <a:extLst>
              <a:ext uri="{FF2B5EF4-FFF2-40B4-BE49-F238E27FC236}">
                <a16:creationId xmlns:a16="http://schemas.microsoft.com/office/drawing/2014/main" id="{08944212-BACF-3D64-80E9-A065D9DF078C}"/>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6</a:t>
            </a:r>
            <a:endParaRPr lang="en" sz="3000" dirty="0"/>
          </a:p>
        </p:txBody>
      </p:sp>
      <p:sp>
        <p:nvSpPr>
          <p:cNvPr id="5" name="Google Shape;330;p36">
            <a:extLst>
              <a:ext uri="{FF2B5EF4-FFF2-40B4-BE49-F238E27FC236}">
                <a16:creationId xmlns:a16="http://schemas.microsoft.com/office/drawing/2014/main" id="{C07ECD99-2A9A-D776-BED1-5C7FEF6B395C}"/>
              </a:ext>
            </a:extLst>
          </p:cNvPr>
          <p:cNvSpPr txBox="1">
            <a:spLocks/>
          </p:cNvSpPr>
          <p:nvPr/>
        </p:nvSpPr>
        <p:spPr>
          <a:xfrm>
            <a:off x="241332" y="4609040"/>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21 - </a:t>
            </a:r>
            <a:fld id="{1612EBDF-BBCF-4455-9CA4-C9C775D5C22A}" type="datetime1">
              <a:rPr lang="en-US" sz="1000" smtClean="0"/>
              <a:t>12/18/2025</a:t>
            </a:fld>
            <a:endParaRPr lang="en-US" sz="1000" dirty="0"/>
          </a:p>
        </p:txBody>
      </p:sp>
    </p:spTree>
    <p:extLst>
      <p:ext uri="{BB962C8B-B14F-4D97-AF65-F5344CB8AC3E}">
        <p14:creationId xmlns:p14="http://schemas.microsoft.com/office/powerpoint/2010/main" val="475279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7AD32-73BE-C78F-039B-F3F22842ED6D}"/>
              </a:ext>
            </a:extLst>
          </p:cNvPr>
          <p:cNvSpPr>
            <a:spLocks noGrp="1"/>
          </p:cNvSpPr>
          <p:nvPr>
            <p:ph type="title"/>
          </p:nvPr>
        </p:nvSpPr>
        <p:spPr>
          <a:xfrm>
            <a:off x="1191768" y="374385"/>
            <a:ext cx="7710900" cy="572700"/>
          </a:xfrm>
        </p:spPr>
        <p:txBody>
          <a:bodyPr/>
          <a:lstStyle/>
          <a:p>
            <a:r>
              <a:rPr lang="en-US" dirty="0"/>
              <a:t>Future Work</a:t>
            </a:r>
          </a:p>
        </p:txBody>
      </p:sp>
      <p:sp>
        <p:nvSpPr>
          <p:cNvPr id="4" name="Google Shape;331;p36">
            <a:extLst>
              <a:ext uri="{FF2B5EF4-FFF2-40B4-BE49-F238E27FC236}">
                <a16:creationId xmlns:a16="http://schemas.microsoft.com/office/drawing/2014/main" id="{08944212-BACF-3D64-80E9-A065D9DF078C}"/>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7</a:t>
            </a:r>
            <a:endParaRPr lang="en" sz="3000" dirty="0"/>
          </a:p>
        </p:txBody>
      </p:sp>
      <p:sp>
        <p:nvSpPr>
          <p:cNvPr id="5" name="Google Shape;330;p36">
            <a:extLst>
              <a:ext uri="{FF2B5EF4-FFF2-40B4-BE49-F238E27FC236}">
                <a16:creationId xmlns:a16="http://schemas.microsoft.com/office/drawing/2014/main" id="{C07ECD99-2A9A-D776-BED1-5C7FEF6B395C}"/>
              </a:ext>
            </a:extLst>
          </p:cNvPr>
          <p:cNvSpPr txBox="1">
            <a:spLocks/>
          </p:cNvSpPr>
          <p:nvPr/>
        </p:nvSpPr>
        <p:spPr>
          <a:xfrm>
            <a:off x="241332" y="4609040"/>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21 - </a:t>
            </a:r>
            <a:fld id="{1612EBDF-BBCF-4455-9CA4-C9C775D5C22A}" type="datetime1">
              <a:rPr lang="en-US" sz="1000" smtClean="0"/>
              <a:t>12/18/2025</a:t>
            </a:fld>
            <a:endParaRPr lang="en-US" sz="1000" dirty="0"/>
          </a:p>
        </p:txBody>
      </p:sp>
      <p:sp>
        <p:nvSpPr>
          <p:cNvPr id="6" name="Rectangle 1">
            <a:extLst>
              <a:ext uri="{FF2B5EF4-FFF2-40B4-BE49-F238E27FC236}">
                <a16:creationId xmlns:a16="http://schemas.microsoft.com/office/drawing/2014/main" id="{2C174B16-6BD4-C28A-201C-F9733A996667}"/>
              </a:ext>
            </a:extLst>
          </p:cNvPr>
          <p:cNvSpPr>
            <a:spLocks noGrp="1" noChangeArrowheads="1"/>
          </p:cNvSpPr>
          <p:nvPr>
            <p:ph type="subTitle" idx="1"/>
          </p:nvPr>
        </p:nvSpPr>
        <p:spPr bwMode="auto">
          <a:xfrm>
            <a:off x="1192213" y="1339028"/>
            <a:ext cx="717454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00000"/>
              </a:lnSpc>
              <a:spcBef>
                <a:spcPct val="0"/>
              </a:spcBef>
              <a:spcAft>
                <a:spcPct val="0"/>
              </a:spcAft>
              <a:buSzTx/>
            </a:pPr>
            <a:r>
              <a:rPr kumimoji="0" lang="en-US" altLang="en-US" sz="1800" b="0" i="0" u="none" strike="noStrike" cap="none" normalizeH="0" baseline="0" dirty="0">
                <a:ln>
                  <a:noFill/>
                </a:ln>
                <a:solidFill>
                  <a:schemeClr val="tx1"/>
                </a:solidFill>
                <a:effectLst/>
                <a:latin typeface="Arial" panose="020B0604020202020204" pitchFamily="34" charset="0"/>
              </a:rPr>
              <a:t>The proposed forecasting framework can be extended to multiple feeders beyond the </a:t>
            </a:r>
            <a:r>
              <a:rPr kumimoji="0" lang="en-US" altLang="en-US" sz="1800" b="0" i="0" u="none" strike="noStrike" cap="none" normalizeH="0" baseline="0" dirty="0" err="1">
                <a:ln>
                  <a:noFill/>
                </a:ln>
                <a:solidFill>
                  <a:schemeClr val="tx1"/>
                </a:solidFill>
                <a:effectLst/>
                <a:latin typeface="Arial" panose="020B0604020202020204" pitchFamily="34" charset="0"/>
              </a:rPr>
              <a:t>Baneshwor</a:t>
            </a:r>
            <a:r>
              <a:rPr kumimoji="0" lang="en-US" altLang="en-US" sz="1800" b="0" i="0" u="none" strike="noStrike" cap="none" normalizeH="0" baseline="0" dirty="0">
                <a:ln>
                  <a:noFill/>
                </a:ln>
                <a:solidFill>
                  <a:schemeClr val="tx1"/>
                </a:solidFill>
                <a:effectLst/>
                <a:latin typeface="Arial" panose="020B0604020202020204" pitchFamily="34" charset="0"/>
              </a:rPr>
              <a:t> feeder to evaluate its scalability and wider applicability.</a:t>
            </a:r>
          </a:p>
          <a:p>
            <a:pPr defTabSz="914400" eaLnBrk="0" fontAlgn="base" hangingPunct="0">
              <a:lnSpc>
                <a:spcPct val="100000"/>
              </a:lnSpc>
              <a:spcBef>
                <a:spcPct val="0"/>
              </a:spcBef>
              <a:spcAft>
                <a:spcPct val="0"/>
              </a:spcAft>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lnSpc>
                <a:spcPct val="100000"/>
              </a:lnSpc>
              <a:spcBef>
                <a:spcPct val="0"/>
              </a:spcBef>
              <a:spcAft>
                <a:spcPct val="0"/>
              </a:spcAft>
              <a:buSzTx/>
            </a:pPr>
            <a:r>
              <a:rPr kumimoji="0" lang="en-US" altLang="en-US" sz="1800" b="0" i="0" u="none" strike="noStrike" cap="none" normalizeH="0" baseline="0" dirty="0">
                <a:ln>
                  <a:noFill/>
                </a:ln>
                <a:solidFill>
                  <a:schemeClr val="tx1"/>
                </a:solidFill>
                <a:effectLst/>
                <a:latin typeface="Arial" panose="020B0604020202020204" pitchFamily="34" charset="0"/>
              </a:rPr>
              <a:t>While this study focuses on short-term load forecasting, future work can explore medium- and long-term load prediction for better planning and decision-making.</a:t>
            </a:r>
          </a:p>
          <a:p>
            <a:pPr defTabSz="914400" eaLnBrk="0" fontAlgn="base" hangingPunct="0">
              <a:lnSpc>
                <a:spcPct val="100000"/>
              </a:lnSpc>
              <a:spcBef>
                <a:spcPct val="0"/>
              </a:spcBef>
              <a:spcAft>
                <a:spcPct val="0"/>
              </a:spcAft>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lnSpc>
                <a:spcPct val="100000"/>
              </a:lnSpc>
              <a:spcBef>
                <a:spcPct val="0"/>
              </a:spcBef>
              <a:spcAft>
                <a:spcPct val="0"/>
              </a:spcAft>
              <a:buSzTx/>
            </a:pPr>
            <a:r>
              <a:rPr kumimoji="0" lang="en-US" altLang="en-US" sz="1800" b="0" i="0" u="none" strike="noStrike" cap="none" normalizeH="0" baseline="0" dirty="0">
                <a:ln>
                  <a:noFill/>
                </a:ln>
                <a:solidFill>
                  <a:schemeClr val="tx1"/>
                </a:solidFill>
                <a:effectLst/>
                <a:latin typeface="Arial" panose="020B0604020202020204" pitchFamily="34" charset="0"/>
              </a:rPr>
              <a:t>The model performance can be further improved by using a longer historical dataset covering more years of load and weather data.</a:t>
            </a:r>
          </a:p>
        </p:txBody>
      </p:sp>
    </p:spTree>
    <p:extLst>
      <p:ext uri="{BB962C8B-B14F-4D97-AF65-F5344CB8AC3E}">
        <p14:creationId xmlns:p14="http://schemas.microsoft.com/office/powerpoint/2010/main" val="8155538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856;p60">
            <a:extLst>
              <a:ext uri="{FF2B5EF4-FFF2-40B4-BE49-F238E27FC236}">
                <a16:creationId xmlns:a16="http://schemas.microsoft.com/office/drawing/2014/main" id="{F8A6C340-75AE-EE35-2E40-C1E36612A167}"/>
              </a:ext>
            </a:extLst>
          </p:cNvPr>
          <p:cNvSpPr txBox="1">
            <a:spLocks/>
          </p:cNvSpPr>
          <p:nvPr/>
        </p:nvSpPr>
        <p:spPr>
          <a:xfrm>
            <a:off x="1082688" y="523682"/>
            <a:ext cx="4448100" cy="105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Figtree Black"/>
              <a:buNone/>
              <a:defRPr sz="3800" b="0" i="0" u="none" strike="noStrike" cap="none">
                <a:solidFill>
                  <a:schemeClr val="dk1"/>
                </a:solidFill>
                <a:latin typeface="Figtree Black"/>
                <a:ea typeface="Figtree Black"/>
                <a:cs typeface="Figtree Black"/>
                <a:sym typeface="Figtree Black"/>
              </a:defRPr>
            </a:lvl1pPr>
            <a:lvl2pPr marR="0" lvl="1" algn="ctr" rtl="0">
              <a:lnSpc>
                <a:spcPct val="100000"/>
              </a:lnSpc>
              <a:spcBef>
                <a:spcPts val="0"/>
              </a:spcBef>
              <a:spcAft>
                <a:spcPts val="0"/>
              </a:spcAft>
              <a:buClr>
                <a:schemeClr val="dk1"/>
              </a:buClr>
              <a:buSzPts val="5200"/>
              <a:buFont typeface="Figtree Black"/>
              <a:buNone/>
              <a:defRPr sz="5200" b="0" i="0" u="none" strike="noStrike" cap="none">
                <a:solidFill>
                  <a:schemeClr val="dk1"/>
                </a:solidFill>
                <a:latin typeface="Figtree Black"/>
                <a:ea typeface="Figtree Black"/>
                <a:cs typeface="Figtree Black"/>
                <a:sym typeface="Figtree Black"/>
              </a:defRPr>
            </a:lvl2pPr>
            <a:lvl3pPr marR="0" lvl="2" algn="ctr" rtl="0">
              <a:lnSpc>
                <a:spcPct val="100000"/>
              </a:lnSpc>
              <a:spcBef>
                <a:spcPts val="0"/>
              </a:spcBef>
              <a:spcAft>
                <a:spcPts val="0"/>
              </a:spcAft>
              <a:buClr>
                <a:schemeClr val="dk1"/>
              </a:buClr>
              <a:buSzPts val="5200"/>
              <a:buFont typeface="Figtree Black"/>
              <a:buNone/>
              <a:defRPr sz="5200" b="0" i="0" u="none" strike="noStrike" cap="none">
                <a:solidFill>
                  <a:schemeClr val="dk1"/>
                </a:solidFill>
                <a:latin typeface="Figtree Black"/>
                <a:ea typeface="Figtree Black"/>
                <a:cs typeface="Figtree Black"/>
                <a:sym typeface="Figtree Black"/>
              </a:defRPr>
            </a:lvl3pPr>
            <a:lvl4pPr marR="0" lvl="3" algn="ctr" rtl="0">
              <a:lnSpc>
                <a:spcPct val="100000"/>
              </a:lnSpc>
              <a:spcBef>
                <a:spcPts val="0"/>
              </a:spcBef>
              <a:spcAft>
                <a:spcPts val="0"/>
              </a:spcAft>
              <a:buClr>
                <a:schemeClr val="dk1"/>
              </a:buClr>
              <a:buSzPts val="5200"/>
              <a:buFont typeface="Figtree Black"/>
              <a:buNone/>
              <a:defRPr sz="5200" b="0" i="0" u="none" strike="noStrike" cap="none">
                <a:solidFill>
                  <a:schemeClr val="dk1"/>
                </a:solidFill>
                <a:latin typeface="Figtree Black"/>
                <a:ea typeface="Figtree Black"/>
                <a:cs typeface="Figtree Black"/>
                <a:sym typeface="Figtree Black"/>
              </a:defRPr>
            </a:lvl4pPr>
            <a:lvl5pPr marR="0" lvl="4" algn="ctr" rtl="0">
              <a:lnSpc>
                <a:spcPct val="100000"/>
              </a:lnSpc>
              <a:spcBef>
                <a:spcPts val="0"/>
              </a:spcBef>
              <a:spcAft>
                <a:spcPts val="0"/>
              </a:spcAft>
              <a:buClr>
                <a:schemeClr val="dk1"/>
              </a:buClr>
              <a:buSzPts val="5200"/>
              <a:buFont typeface="Figtree Black"/>
              <a:buNone/>
              <a:defRPr sz="5200" b="0" i="0" u="none" strike="noStrike" cap="none">
                <a:solidFill>
                  <a:schemeClr val="dk1"/>
                </a:solidFill>
                <a:latin typeface="Figtree Black"/>
                <a:ea typeface="Figtree Black"/>
                <a:cs typeface="Figtree Black"/>
                <a:sym typeface="Figtree Black"/>
              </a:defRPr>
            </a:lvl5pPr>
            <a:lvl6pPr marR="0" lvl="5" algn="ctr" rtl="0">
              <a:lnSpc>
                <a:spcPct val="100000"/>
              </a:lnSpc>
              <a:spcBef>
                <a:spcPts val="0"/>
              </a:spcBef>
              <a:spcAft>
                <a:spcPts val="0"/>
              </a:spcAft>
              <a:buClr>
                <a:schemeClr val="dk1"/>
              </a:buClr>
              <a:buSzPts val="5200"/>
              <a:buFont typeface="Figtree Black"/>
              <a:buNone/>
              <a:defRPr sz="5200" b="0" i="0" u="none" strike="noStrike" cap="none">
                <a:solidFill>
                  <a:schemeClr val="dk1"/>
                </a:solidFill>
                <a:latin typeface="Figtree Black"/>
                <a:ea typeface="Figtree Black"/>
                <a:cs typeface="Figtree Black"/>
                <a:sym typeface="Figtree Black"/>
              </a:defRPr>
            </a:lvl6pPr>
            <a:lvl7pPr marR="0" lvl="6" algn="ctr" rtl="0">
              <a:lnSpc>
                <a:spcPct val="100000"/>
              </a:lnSpc>
              <a:spcBef>
                <a:spcPts val="0"/>
              </a:spcBef>
              <a:spcAft>
                <a:spcPts val="0"/>
              </a:spcAft>
              <a:buClr>
                <a:schemeClr val="dk1"/>
              </a:buClr>
              <a:buSzPts val="5200"/>
              <a:buFont typeface="Figtree Black"/>
              <a:buNone/>
              <a:defRPr sz="5200" b="0" i="0" u="none" strike="noStrike" cap="none">
                <a:solidFill>
                  <a:schemeClr val="dk1"/>
                </a:solidFill>
                <a:latin typeface="Figtree Black"/>
                <a:ea typeface="Figtree Black"/>
                <a:cs typeface="Figtree Black"/>
                <a:sym typeface="Figtree Black"/>
              </a:defRPr>
            </a:lvl7pPr>
            <a:lvl8pPr marR="0" lvl="7" algn="ctr" rtl="0">
              <a:lnSpc>
                <a:spcPct val="100000"/>
              </a:lnSpc>
              <a:spcBef>
                <a:spcPts val="0"/>
              </a:spcBef>
              <a:spcAft>
                <a:spcPts val="0"/>
              </a:spcAft>
              <a:buClr>
                <a:schemeClr val="dk1"/>
              </a:buClr>
              <a:buSzPts val="5200"/>
              <a:buFont typeface="Figtree Black"/>
              <a:buNone/>
              <a:defRPr sz="5200" b="0" i="0" u="none" strike="noStrike" cap="none">
                <a:solidFill>
                  <a:schemeClr val="dk1"/>
                </a:solidFill>
                <a:latin typeface="Figtree Black"/>
                <a:ea typeface="Figtree Black"/>
                <a:cs typeface="Figtree Black"/>
                <a:sym typeface="Figtree Black"/>
              </a:defRPr>
            </a:lvl8pPr>
            <a:lvl9pPr marR="0" lvl="8" algn="ctr" rtl="0">
              <a:lnSpc>
                <a:spcPct val="100000"/>
              </a:lnSpc>
              <a:spcBef>
                <a:spcPts val="0"/>
              </a:spcBef>
              <a:spcAft>
                <a:spcPts val="0"/>
              </a:spcAft>
              <a:buClr>
                <a:schemeClr val="dk1"/>
              </a:buClr>
              <a:buSzPts val="5200"/>
              <a:buFont typeface="Figtree Black"/>
              <a:buNone/>
              <a:defRPr sz="5200" b="0" i="0" u="none" strike="noStrike" cap="none">
                <a:solidFill>
                  <a:schemeClr val="dk1"/>
                </a:solidFill>
                <a:latin typeface="Figtree Black"/>
                <a:ea typeface="Figtree Black"/>
                <a:cs typeface="Figtree Black"/>
                <a:sym typeface="Figtree Black"/>
              </a:defRPr>
            </a:lvl9pPr>
          </a:lstStyle>
          <a:p>
            <a:r>
              <a:rPr lang="en-US" sz="4800" dirty="0"/>
              <a:t>Thanks</a:t>
            </a:r>
            <a:r>
              <a:rPr lang="en-US" sz="3200" dirty="0"/>
              <a:t>!</a:t>
            </a:r>
          </a:p>
        </p:txBody>
      </p:sp>
      <p:sp>
        <p:nvSpPr>
          <p:cNvPr id="5" name="Google Shape;857;p60">
            <a:extLst>
              <a:ext uri="{FF2B5EF4-FFF2-40B4-BE49-F238E27FC236}">
                <a16:creationId xmlns:a16="http://schemas.microsoft.com/office/drawing/2014/main" id="{7DB76A5F-F4A8-3A6C-EF76-F5C6457BB41C}"/>
              </a:ext>
            </a:extLst>
          </p:cNvPr>
          <p:cNvSpPr txBox="1">
            <a:spLocks noGrp="1"/>
          </p:cNvSpPr>
          <p:nvPr>
            <p:ph type="subTitle" idx="1"/>
          </p:nvPr>
        </p:nvSpPr>
        <p:spPr>
          <a:xfrm>
            <a:off x="1082688" y="1381629"/>
            <a:ext cx="4448100" cy="256234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Do you have any questions?</a:t>
            </a:r>
          </a:p>
          <a:p>
            <a:pPr marL="0" lvl="0" indent="0" algn="l" rtl="0">
              <a:spcBef>
                <a:spcPts val="0"/>
              </a:spcBef>
              <a:spcAft>
                <a:spcPts val="0"/>
              </a:spcAft>
              <a:buNone/>
            </a:pPr>
            <a:endParaRPr lang="en" b="1" dirty="0"/>
          </a:p>
          <a:p>
            <a:pPr marL="0" lvl="0" indent="0" algn="l" rtl="0">
              <a:spcBef>
                <a:spcPts val="0"/>
              </a:spcBef>
              <a:spcAft>
                <a:spcPts val="0"/>
              </a:spcAft>
              <a:buNone/>
            </a:pPr>
            <a:r>
              <a:rPr lang="en-US" b="1" dirty="0"/>
              <a:t>Presenter,</a:t>
            </a:r>
          </a:p>
          <a:p>
            <a:pPr marL="0" lvl="0" indent="0" algn="l" rtl="0">
              <a:spcBef>
                <a:spcPts val="0"/>
              </a:spcBef>
              <a:spcAft>
                <a:spcPts val="0"/>
              </a:spcAft>
              <a:buNone/>
            </a:pPr>
            <a:r>
              <a:rPr lang="en-US" b="1" dirty="0"/>
              <a:t>Sujit Koirala </a:t>
            </a:r>
          </a:p>
          <a:p>
            <a:pPr marL="0" lvl="0" indent="0" algn="l" rtl="0">
              <a:spcBef>
                <a:spcPts val="0"/>
              </a:spcBef>
              <a:spcAft>
                <a:spcPts val="0"/>
              </a:spcAft>
              <a:buNone/>
            </a:pPr>
            <a:endParaRPr lang="en-US" b="1" dirty="0"/>
          </a:p>
          <a:p>
            <a:pPr marL="0" lvl="0" indent="0" algn="l" rtl="0">
              <a:spcBef>
                <a:spcPts val="0"/>
              </a:spcBef>
              <a:spcAft>
                <a:spcPts val="0"/>
              </a:spcAft>
              <a:buNone/>
            </a:pPr>
            <a:r>
              <a:rPr lang="en-US" dirty="0"/>
              <a:t>The Department Of Electrical Engineering </a:t>
            </a:r>
          </a:p>
          <a:p>
            <a:pPr marL="0" lvl="0" indent="0" algn="l" rtl="0">
              <a:spcBef>
                <a:spcPts val="0"/>
              </a:spcBef>
              <a:spcAft>
                <a:spcPts val="0"/>
              </a:spcAft>
              <a:buNone/>
            </a:pPr>
            <a:r>
              <a:rPr lang="en-US" dirty="0"/>
              <a:t>Masters Of Science In Power System Engineering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Tribhuvan University</a:t>
            </a:r>
          </a:p>
          <a:p>
            <a:pPr marL="0" lvl="0" indent="0" algn="l" rtl="0">
              <a:spcBef>
                <a:spcPts val="0"/>
              </a:spcBef>
              <a:spcAft>
                <a:spcPts val="0"/>
              </a:spcAft>
              <a:buNone/>
            </a:pPr>
            <a:r>
              <a:rPr lang="en-US" dirty="0"/>
              <a:t>Institute of Engineering</a:t>
            </a:r>
          </a:p>
          <a:p>
            <a:pPr marL="0" lvl="0" indent="0" algn="l" rtl="0">
              <a:spcBef>
                <a:spcPts val="0"/>
              </a:spcBef>
              <a:spcAft>
                <a:spcPts val="0"/>
              </a:spcAft>
              <a:buNone/>
            </a:pPr>
            <a:r>
              <a:rPr lang="en-US" dirty="0" err="1"/>
              <a:t>Pulchowk</a:t>
            </a:r>
            <a:r>
              <a:rPr lang="en-US" dirty="0"/>
              <a:t> Campus</a:t>
            </a:r>
          </a:p>
          <a:p>
            <a:pPr marL="0" lvl="0" indent="0" algn="l" rtl="0">
              <a:spcBef>
                <a:spcPts val="0"/>
              </a:spcBef>
              <a:spcAft>
                <a:spcPts val="0"/>
              </a:spcAft>
              <a:buNone/>
            </a:pPr>
            <a:endParaRPr b="1" dirty="0"/>
          </a:p>
        </p:txBody>
      </p:sp>
    </p:spTree>
    <p:extLst>
      <p:ext uri="{BB962C8B-B14F-4D97-AF65-F5344CB8AC3E}">
        <p14:creationId xmlns:p14="http://schemas.microsoft.com/office/powerpoint/2010/main" val="2799230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48"/>
          <p:cNvSpPr txBox="1">
            <a:spLocks noGrp="1"/>
          </p:cNvSpPr>
          <p:nvPr>
            <p:ph type="title"/>
          </p:nvPr>
        </p:nvSpPr>
        <p:spPr>
          <a:xfrm>
            <a:off x="546380" y="364002"/>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References</a:t>
            </a:r>
            <a:endParaRPr dirty="0"/>
          </a:p>
        </p:txBody>
      </p:sp>
      <p:sp>
        <p:nvSpPr>
          <p:cNvPr id="596" name="Google Shape;596;p48"/>
          <p:cNvSpPr txBox="1">
            <a:spLocks noGrp="1"/>
          </p:cNvSpPr>
          <p:nvPr>
            <p:ph type="body" idx="1"/>
          </p:nvPr>
        </p:nvSpPr>
        <p:spPr>
          <a:xfrm>
            <a:off x="546380" y="874176"/>
            <a:ext cx="7704000" cy="3876995"/>
          </a:xfrm>
          <a:prstGeom prst="rect">
            <a:avLst/>
          </a:prstGeom>
        </p:spPr>
        <p:txBody>
          <a:bodyPr spcFirstLastPara="1" wrap="square" lIns="91425" tIns="91425" rIns="91425" bIns="91425" anchor="t" anchorCtr="0">
            <a:noAutofit/>
          </a:bodyPr>
          <a:lstStyle/>
          <a:p>
            <a:pPr marL="457200" lvl="0" indent="-317500" algn="l" rtl="0">
              <a:spcBef>
                <a:spcPts val="1000"/>
              </a:spcBef>
              <a:spcAft>
                <a:spcPts val="0"/>
              </a:spcAft>
              <a:buSzPts val="1400"/>
              <a:buFont typeface="Hanken Grotesk"/>
              <a:buChar char="●"/>
            </a:pPr>
            <a:r>
              <a:rPr lang="en-US" sz="1050" dirty="0"/>
              <a:t>Acharya, S., </a:t>
            </a:r>
            <a:r>
              <a:rPr lang="en-US" sz="1050" dirty="0" err="1"/>
              <a:t>Luintel</a:t>
            </a:r>
            <a:r>
              <a:rPr lang="en-US" sz="1050" dirty="0"/>
              <a:t>, M. C., &amp; </a:t>
            </a:r>
            <a:r>
              <a:rPr lang="en-US" sz="1050" dirty="0" err="1"/>
              <a:t>Badrudoza</a:t>
            </a:r>
            <a:r>
              <a:rPr lang="en-US" sz="1050" dirty="0"/>
              <a:t>, M. (n.d.). Short-term load forecasting of </a:t>
            </a:r>
            <a:r>
              <a:rPr lang="en-US" sz="1050" dirty="0" err="1"/>
              <a:t>Gothatar</a:t>
            </a:r>
            <a:r>
              <a:rPr lang="en-US" sz="1050" dirty="0"/>
              <a:t> feeder of Nepal Electricity Authority using Recurrent Neural Network. Publisher not specified.</a:t>
            </a:r>
          </a:p>
          <a:p>
            <a:pPr marL="457200" lvl="0" indent="-317500" algn="l" rtl="0">
              <a:spcBef>
                <a:spcPts val="1000"/>
              </a:spcBef>
              <a:spcAft>
                <a:spcPts val="0"/>
              </a:spcAft>
              <a:buSzPts val="1400"/>
              <a:buFont typeface="Hanken Grotesk"/>
              <a:buChar char="●"/>
            </a:pPr>
            <a:r>
              <a:rPr lang="en-US" sz="1050" dirty="0"/>
              <a:t>Desai, S., Dalal, T., Kadam, S., &amp; Mishra, S. (2021). Electrical load forecasting using machine learning. IEEE (ICSCAN 2021).</a:t>
            </a:r>
          </a:p>
          <a:p>
            <a:pPr marL="457200" lvl="0" indent="-317500" algn="l" rtl="0">
              <a:spcBef>
                <a:spcPts val="1000"/>
              </a:spcBef>
              <a:spcAft>
                <a:spcPts val="0"/>
              </a:spcAft>
              <a:buSzPts val="1400"/>
              <a:buFont typeface="Hanken Grotesk"/>
              <a:buChar char="●"/>
            </a:pPr>
            <a:r>
              <a:rPr lang="en-US" sz="1050" dirty="0"/>
              <a:t>Singla, M. K., Gupta, J., Nijhawan, P., &amp; Oberoi, A. S. (2019). Electrical load forecasting using machine learning. International Journal.</a:t>
            </a:r>
          </a:p>
          <a:p>
            <a:pPr marL="457200" lvl="0" indent="-317500" algn="l" rtl="0">
              <a:spcBef>
                <a:spcPts val="1000"/>
              </a:spcBef>
              <a:spcAft>
                <a:spcPts val="0"/>
              </a:spcAft>
              <a:buSzPts val="1400"/>
              <a:buFont typeface="Hanken Grotesk"/>
              <a:buChar char="●"/>
            </a:pPr>
            <a:r>
              <a:rPr lang="en-US" sz="1050" dirty="0"/>
              <a:t>Saglam, M., </a:t>
            </a:r>
            <a:r>
              <a:rPr lang="en-US" sz="1050" dirty="0" err="1"/>
              <a:t>Lv</a:t>
            </a:r>
            <a:r>
              <a:rPr lang="en-US" sz="1050" dirty="0"/>
              <a:t>, X., </a:t>
            </a:r>
            <a:r>
              <a:rPr lang="en-US" sz="1050" dirty="0" err="1"/>
              <a:t>Spataru</a:t>
            </a:r>
            <a:r>
              <a:rPr lang="en-US" sz="1050" dirty="0"/>
              <a:t>, C., &amp; </a:t>
            </a:r>
            <a:r>
              <a:rPr lang="en-US" sz="1050" dirty="0" err="1"/>
              <a:t>Karaman</a:t>
            </a:r>
            <a:r>
              <a:rPr lang="en-US" sz="1050" dirty="0"/>
              <a:t>, O. A. (2024). Instantaneous electricity peak load forecasting using optimization and machine learning. Energies.</a:t>
            </a:r>
          </a:p>
          <a:p>
            <a:pPr marL="457200" lvl="0" indent="-317500" algn="l" rtl="0">
              <a:spcBef>
                <a:spcPts val="1000"/>
              </a:spcBef>
              <a:spcAft>
                <a:spcPts val="0"/>
              </a:spcAft>
              <a:buSzPts val="1400"/>
              <a:buFont typeface="Hanken Grotesk"/>
              <a:buChar char="●"/>
            </a:pPr>
            <a:r>
              <a:rPr lang="en-US" sz="1050" dirty="0" err="1"/>
              <a:t>Matrenin</a:t>
            </a:r>
            <a:r>
              <a:rPr lang="en-US" sz="1050" dirty="0"/>
              <a:t>, P., </a:t>
            </a:r>
            <a:r>
              <a:rPr lang="en-US" sz="1050" dirty="0" err="1"/>
              <a:t>Safaraliev</a:t>
            </a:r>
            <a:r>
              <a:rPr lang="en-US" sz="1050" dirty="0"/>
              <a:t>, M., Dmitriev, S., Kokin, S., </a:t>
            </a:r>
            <a:r>
              <a:rPr lang="en-US" sz="1050" dirty="0" err="1"/>
              <a:t>Ghulomzoda</a:t>
            </a:r>
            <a:r>
              <a:rPr lang="en-US" sz="1050" dirty="0"/>
              <a:t>, A., &amp; </a:t>
            </a:r>
            <a:r>
              <a:rPr lang="en-US" sz="1050" dirty="0" err="1"/>
              <a:t>Mitrofanov</a:t>
            </a:r>
            <a:r>
              <a:rPr lang="en-US" sz="1050" dirty="0"/>
              <a:t>, S. (2022). Medium-term load forecasting in isolated power systems based on ensemble machine learning models. Energy Reports.</a:t>
            </a:r>
          </a:p>
          <a:p>
            <a:pPr marL="457200" lvl="0" indent="-317500" algn="l" rtl="0">
              <a:spcBef>
                <a:spcPts val="1000"/>
              </a:spcBef>
              <a:spcAft>
                <a:spcPts val="0"/>
              </a:spcAft>
              <a:buSzPts val="1400"/>
              <a:buFont typeface="Hanken Grotesk"/>
              <a:buChar char="●"/>
            </a:pPr>
            <a:r>
              <a:rPr lang="en-US" sz="1050" dirty="0"/>
              <a:t>Aguilar Madrid, E., &amp; Antonio, N. (2021). Short-term electricity load forecasting with machine learning. Information.</a:t>
            </a:r>
          </a:p>
          <a:p>
            <a:pPr marL="457200" lvl="0" indent="-317500" algn="l" rtl="0">
              <a:spcBef>
                <a:spcPts val="1000"/>
              </a:spcBef>
              <a:spcAft>
                <a:spcPts val="0"/>
              </a:spcAft>
              <a:buSzPts val="1400"/>
              <a:buFont typeface="Hanken Grotesk"/>
              <a:buChar char="●"/>
            </a:pPr>
            <a:r>
              <a:rPr lang="en-US" sz="1050" dirty="0"/>
              <a:t>Cordeiro-Costas, M., Villanueva, D., </a:t>
            </a:r>
            <a:r>
              <a:rPr lang="en-US" sz="1050" dirty="0" err="1"/>
              <a:t>Eguía-Oller</a:t>
            </a:r>
            <a:r>
              <a:rPr lang="en-US" sz="1050" dirty="0"/>
              <a:t>, P., Martínez-</a:t>
            </a:r>
            <a:r>
              <a:rPr lang="en-US" sz="1050" dirty="0" err="1"/>
              <a:t>Comesaña</a:t>
            </a:r>
            <a:r>
              <a:rPr lang="en-US" sz="1050" dirty="0"/>
              <a:t>, M., &amp; Ramos, S. (2023). Load forecasting with machine learning and deep learning methods. Applied Sciences.</a:t>
            </a:r>
          </a:p>
          <a:p>
            <a:pPr marL="457200" lvl="0" indent="-317500" algn="l" rtl="0">
              <a:spcBef>
                <a:spcPts val="1000"/>
              </a:spcBef>
              <a:spcAft>
                <a:spcPts val="0"/>
              </a:spcAft>
              <a:buSzPts val="1400"/>
              <a:buFont typeface="Hanken Grotesk"/>
              <a:buChar char="●"/>
            </a:pPr>
            <a:r>
              <a:rPr lang="en-US" sz="1050" dirty="0"/>
              <a:t>Guo, W., Che, L., </a:t>
            </a:r>
            <a:r>
              <a:rPr lang="en-US" sz="1050" dirty="0" err="1"/>
              <a:t>Shahidehpour</a:t>
            </a:r>
            <a:r>
              <a:rPr lang="en-US" sz="1050" dirty="0"/>
              <a:t>, M., &amp; Wan, X. (2021). Machine-learning-based methods in short-term load forecasting. The Electricity Journal.</a:t>
            </a:r>
          </a:p>
          <a:p>
            <a:pPr marL="457200" lvl="0" indent="-317500" algn="l" rtl="0">
              <a:spcBef>
                <a:spcPts val="1000"/>
              </a:spcBef>
              <a:spcAft>
                <a:spcPts val="0"/>
              </a:spcAft>
              <a:buSzPts val="1400"/>
              <a:buFont typeface="Hanken Grotesk"/>
              <a:buChar char="●"/>
            </a:pPr>
            <a:r>
              <a:rPr lang="en-US" sz="1050" dirty="0" err="1"/>
              <a:t>Chapagain</a:t>
            </a:r>
            <a:r>
              <a:rPr lang="en-US" sz="1050" dirty="0"/>
              <a:t>, K., Acharya, S., </a:t>
            </a:r>
            <a:r>
              <a:rPr lang="en-US" sz="1050" dirty="0" err="1"/>
              <a:t>Bhusal</a:t>
            </a:r>
            <a:r>
              <a:rPr lang="en-US" sz="1050" dirty="0"/>
              <a:t>, H., </a:t>
            </a:r>
            <a:r>
              <a:rPr lang="en-US" sz="1050" dirty="0" err="1"/>
              <a:t>Katuwal</a:t>
            </a:r>
            <a:r>
              <a:rPr lang="en-US" sz="1050" dirty="0"/>
              <a:t>, S., </a:t>
            </a:r>
            <a:r>
              <a:rPr lang="en-US" sz="1050" dirty="0" err="1"/>
              <a:t>Lakhey</a:t>
            </a:r>
            <a:r>
              <a:rPr lang="en-US" sz="1050" dirty="0"/>
              <a:t>, O., Neupane, P., Sah, R. K., Tamang, B., &amp; </a:t>
            </a:r>
            <a:r>
              <a:rPr lang="en-US" sz="1050" dirty="0" err="1"/>
              <a:t>Rajbhandari</a:t>
            </a:r>
            <a:r>
              <a:rPr lang="en-US" sz="1050" dirty="0"/>
              <a:t>, Y. (2021). Short-term electricity demand forecasting for Kathmandu Valley, Nepal. Kathmandu University Journal of Science, Engineering and Technology.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428</TotalTime>
  <Words>2205</Words>
  <Application>Microsoft Office PowerPoint</Application>
  <PresentationFormat>On-screen Show (16:9)</PresentationFormat>
  <Paragraphs>433</Paragraphs>
  <Slides>27</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vt:lpstr>
      <vt:lpstr>Google Sans Text</vt:lpstr>
      <vt:lpstr>Aptos Display</vt:lpstr>
      <vt:lpstr>Lato</vt:lpstr>
      <vt:lpstr>Cambria Math</vt:lpstr>
      <vt:lpstr>Figtree Black</vt:lpstr>
      <vt:lpstr>Hanken Grotesk</vt:lpstr>
      <vt:lpstr>Nunito Light</vt:lpstr>
      <vt:lpstr>Aptos</vt:lpstr>
      <vt:lpstr>Office Theme</vt:lpstr>
      <vt:lpstr>SHORT-TERM ELECTRICAL LOAD FORECASTING FOR BANESHWOR FEEDER USING MACHINE AND DEEP LEARNING MODELS</vt:lpstr>
      <vt:lpstr>Table of contents</vt:lpstr>
      <vt:lpstr>Introduction</vt:lpstr>
      <vt:lpstr>PowerPoint Presentation</vt:lpstr>
      <vt:lpstr>Problem Statement</vt:lpstr>
      <vt:lpstr>Objectives</vt:lpstr>
      <vt:lpstr>Literature Review</vt:lpstr>
      <vt:lpstr>Literature Review</vt:lpstr>
      <vt:lpstr>Methodology</vt:lpstr>
      <vt:lpstr>Data Acquisition &amp; Preprocessing</vt:lpstr>
      <vt:lpstr>Data Acquisition &amp; Preprocessing</vt:lpstr>
      <vt:lpstr>Exploratory Data Analysis</vt:lpstr>
      <vt:lpstr>Exploratory Data Analysis</vt:lpstr>
      <vt:lpstr>Exploratory Data Analysis</vt:lpstr>
      <vt:lpstr>Exploratory Data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Future Work</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Ashish Gupta</cp:lastModifiedBy>
  <cp:revision>38</cp:revision>
  <dcterms:modified xsi:type="dcterms:W3CDTF">2025-12-18T18:07:59Z</dcterms:modified>
</cp:coreProperties>
</file>